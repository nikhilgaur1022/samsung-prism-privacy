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-1097280"/>
            <a:ext cx="5486400" cy="5486400"/>
          </a:xfrm>
          <a:prstGeom prst="ellipse">
            <a:avLst/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71600"/>
            <a:ext cx="9601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7EA6F0"/>
                </a:solidFill>
                <a:latin typeface="Segoe UI"/>
              </a:rPr>
              <a:t>SAMSUNG PRISM  - 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96012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Segoe UI"/>
              </a:rPr>
              <a:t>PRISM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100584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Privacy-First AI Consent and Redaction Platform for Multimodal AI Data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Built for India's Digital Personal Data Protection Act, 2023  ·  Worklet 26TS12VITV  ·  SRIB-PRISM 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160520"/>
            <a:ext cx="2011680" cy="4114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389120"/>
            <a:ext cx="100584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Review date:  3 September 2026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End-to-end video demo  |  Architecture: capture-to-storage and DSAR  |  AI models and services  |  Role flows  |  Tech stack  |  Glossary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D5BD6"/>
                </a:solidFill>
                <a:latin typeface="Segoe U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41B2B"/>
                </a:solidFill>
                <a:latin typeface="Segoe UI"/>
              </a:rPr>
              <a:t>What this review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5B6475"/>
                </a:solidFill>
                <a:latin typeface="Segoe UI"/>
              </a:rPr>
              <a:t>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4475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1B2B"/>
                </a:solidFill>
                <a:latin typeface="Segoe UI"/>
              </a:rPr>
              <a:t>End-to-end video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09928"/>
            <a:ext cx="9875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5B6475"/>
                </a:solidFill>
                <a:latin typeface="Segoe UI"/>
              </a:rPr>
              <a:t>A live walk through one project: approval, consent, video upload, tracking, tagging, redaction, erasure.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0711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71116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52828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1B2B"/>
                </a:solidFill>
                <a:latin typeface="Segoe UI"/>
              </a:rPr>
              <a:t>Architecture - capture to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18004"/>
            <a:ext cx="9875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5B6475"/>
                </a:solidFill>
                <a:latin typeface="Segoe UI"/>
              </a:rPr>
              <a:t>One diagram: a frame or clip from the shutter to its encrypted resting place, and every component it touches.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6791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679192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660904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1B2B"/>
                </a:solidFill>
                <a:latin typeface="Segoe UI"/>
              </a:rPr>
              <a:t>Architecture - DSAR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926080"/>
            <a:ext cx="9875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5B6475"/>
                </a:solidFill>
                <a:latin typeface="Segoe UI"/>
              </a:rPr>
              <a:t>Kept separate on purpose: how a rights request is discovered, executed, signed and delivered.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2872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87268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26898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1B2B"/>
                </a:solidFill>
                <a:latin typeface="Segoe UI"/>
              </a:rPr>
              <a:t>AI models and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534156"/>
            <a:ext cx="9875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5B6475"/>
                </a:solidFill>
                <a:latin typeface="Segoe UI"/>
              </a:rPr>
              <a:t>The nine model families, the five stateless workers and the seven queue workers, and why each was chosen.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8953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895344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77056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1B2B"/>
                </a:solidFill>
                <a:latin typeface="Segoe UI"/>
              </a:rPr>
              <a:t>Role 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142232"/>
            <a:ext cx="9875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5B6475"/>
                </a:solidFill>
                <a:latin typeface="Segoe UI"/>
              </a:rPr>
              <a:t>Data principal, data owner, collection agent, DPO, data admin - the flowcharts from the repository.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5034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503420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48513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1B2B"/>
                </a:solidFill>
                <a:latin typeface="Segoe UI"/>
              </a:rPr>
              <a:t>Tech stack in one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750308"/>
            <a:ext cx="9875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5B6475"/>
                </a:solidFill>
                <a:latin typeface="Segoe UI"/>
              </a:rPr>
              <a:t>Frontends, backend, AI core, infrastructure, verification tooling.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1114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111496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093208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1B2B"/>
                </a:solidFill>
                <a:latin typeface="Segoe UI"/>
              </a:rPr>
              <a:t>Patentability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358384"/>
            <a:ext cx="9875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5B6475"/>
                </a:solidFill>
                <a:latin typeface="Segoe UI"/>
              </a:rPr>
              <a:t>What in PRISM is candidate inventive matter, the closest prior art, and how a filing would proceed.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195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719572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701284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41B2B"/>
                </a:solidFill>
                <a:latin typeface="Segoe UI"/>
              </a:rPr>
              <a:t>Glossary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966460"/>
            <a:ext cx="9875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5B6475"/>
                </a:solidFill>
                <a:latin typeface="Segoe UI"/>
              </a:rPr>
              <a:t>Platform acronyms, DPDP Act vocabulary we use correctly, and the terms we use that are not DPDP terms.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D5BD6"/>
                </a:solidFill>
                <a:latin typeface="Segoe UI"/>
              </a:rPr>
              <a:t>1 - END-TO-END VIDEO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41B2B"/>
                </a:solidFill>
                <a:latin typeface="Segoe UI"/>
              </a:rPr>
              <a:t>The demo script: one project, five roles, one clip, one erasure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5"/>
                </a:solidFill>
                <a:latin typeface="Segoe UI"/>
              </a:rPr>
              <a:t>Each step is a real screen in the running platform. The right column is what the reviewer should notice.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5B6475"/>
                </a:solidFill>
                <a:latin typeface="Segoe UI"/>
              </a:rPr>
              <a:t>3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0200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3657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5BD6"/>
                </a:solidFill>
                <a:latin typeface="Segoe U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1773936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773936"/>
            <a:ext cx="132588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Data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636776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41B2B"/>
                </a:solidFill>
                <a:latin typeface="Segoe UI"/>
              </a:rPr>
              <a:t>Create the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87452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B6475"/>
                </a:solidFill>
                <a:latin typeface="Segoe UI"/>
              </a:rPr>
              <a:t>Purpose, retention, required data types (video + audio), consent template. Status stays DRAFT.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691640"/>
            <a:ext cx="10972" cy="384048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600200"/>
            <a:ext cx="3657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41B2B"/>
                </a:solidFill>
                <a:latin typeface="Segoe UI"/>
              </a:rPr>
              <a:t>Nothing can be collected before governance.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167128"/>
            <a:ext cx="11064240" cy="566928"/>
          </a:xfrm>
          <a:prstGeom prst="rect">
            <a:avLst/>
          </a:prstGeom>
          <a:solidFill>
            <a:srgbClr val="F4F6FA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67128"/>
            <a:ext cx="3657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5BD6"/>
                </a:solidFill>
                <a:latin typeface="Segoe UI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2340864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340864"/>
            <a:ext cx="132588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203704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41B2B"/>
                </a:solidFill>
                <a:latin typeface="Segoe UI"/>
              </a:rPr>
              <a:t>Approve the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244144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B6475"/>
                </a:solidFill>
                <a:latin typeface="Segoe UI"/>
              </a:rPr>
              <a:t>Project Approvals: review purpose limitation and the bound notice, approve. Policy version is frozen.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258568"/>
            <a:ext cx="10972" cy="384048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2167128"/>
            <a:ext cx="3657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41B2B"/>
                </a:solidFill>
                <a:latin typeface="Segoe UI"/>
              </a:rPr>
              <a:t>The DPO gate is a hard gate, not a checkbox.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734056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34056"/>
            <a:ext cx="3657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5BD6"/>
                </a:solidFill>
                <a:latin typeface="Segoe U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2907792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2907792"/>
            <a:ext cx="132588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Data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2770632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41B2B"/>
                </a:solidFill>
                <a:latin typeface="Segoe UI"/>
              </a:rPr>
              <a:t>Assign the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3008376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B6475"/>
                </a:solidFill>
                <a:latin typeface="Segoe UI"/>
              </a:rPr>
              <a:t>My Projects &gt; Assignments: the collection agent is scoped to this one project.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825496"/>
            <a:ext cx="10972" cy="384048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2734056"/>
            <a:ext cx="3657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41B2B"/>
                </a:solidFill>
                <a:latin typeface="Segoe UI"/>
              </a:rPr>
              <a:t>Agents only see projects they are assigned 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300984"/>
            <a:ext cx="11064240" cy="566928"/>
          </a:xfrm>
          <a:prstGeom prst="rect">
            <a:avLst/>
          </a:prstGeom>
          <a:solidFill>
            <a:srgbClr val="F4F6FA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300984"/>
            <a:ext cx="3657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5BD6"/>
                </a:solidFill>
                <a:latin typeface="Segoe UI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" y="3474720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3474720"/>
            <a:ext cx="132588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Collection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3337560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41B2B"/>
                </a:solidFill>
                <a:latin typeface="Segoe UI"/>
              </a:rPr>
              <a:t>Open a session and share the invite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3575304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B6475"/>
                </a:solidFill>
                <a:latin typeface="Segoe UI"/>
              </a:rPr>
              <a:t>New Session &gt; QR / invite link for the data principal.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392424"/>
            <a:ext cx="10972" cy="384048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3300984"/>
            <a:ext cx="3657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41B2B"/>
                </a:solidFill>
                <a:latin typeface="Segoe UI"/>
              </a:rPr>
              <a:t>Every capture is tied to a session, an agent and a project.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867912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867912"/>
            <a:ext cx="3657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5BD6"/>
                </a:solidFill>
                <a:latin typeface="Segoe UI"/>
              </a:rP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1560" y="4041648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4041648"/>
            <a:ext cx="132588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Data Principal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3904488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41B2B"/>
                </a:solidFill>
                <a:latin typeface="Segoe UI"/>
              </a:rPr>
              <a:t>Consent and enrol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4142232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B6475"/>
                </a:solidFill>
                <a:latin typeface="Segoe UI"/>
              </a:rPr>
              <a:t>Read the notice, accept consent, enrol face (5 poses, 512-d ArcFace) and voice (192-d ECAPA).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959352"/>
            <a:ext cx="10972" cy="384048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3867912"/>
            <a:ext cx="3657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41B2B"/>
                </a:solidFill>
                <a:latin typeface="Segoe UI"/>
              </a:rPr>
              <a:t>Consent is per project and separately for biometrics.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434840"/>
            <a:ext cx="11064240" cy="566928"/>
          </a:xfrm>
          <a:prstGeom prst="rect">
            <a:avLst/>
          </a:prstGeom>
          <a:solidFill>
            <a:srgbClr val="F4F6FA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434840"/>
            <a:ext cx="3657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5BD6"/>
                </a:solidFill>
                <a:latin typeface="Segoe UI"/>
              </a:rPr>
              <a:t>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1560" y="4608576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" y="4608576"/>
            <a:ext cx="132588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Collection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14600" y="4471416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41B2B"/>
                </a:solidFill>
                <a:latin typeface="Segoe UI"/>
              </a:rPr>
              <a:t>Upload the video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470916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B6475"/>
                </a:solidFill>
                <a:latin typeface="Segoe UI"/>
              </a:rPr>
              <a:t>Sessions &gt; Upload: a short .mp4. The clip is sealed with AES-256-GCM before it touches disk.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0" y="4526280"/>
            <a:ext cx="10972" cy="384048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09560" y="4434840"/>
            <a:ext cx="3657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41B2B"/>
                </a:solidFill>
                <a:latin typeface="Segoe UI"/>
              </a:rPr>
              <a:t>The video worker detects and tracks faces; the PII worker scans frames.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001768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5001768"/>
            <a:ext cx="3657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5BD6"/>
                </a:solidFill>
                <a:latin typeface="Segoe UI"/>
              </a:rPr>
              <a:t>7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51560" y="5175504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5175504"/>
            <a:ext cx="132588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Agent / Owner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14600" y="5038344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41B2B"/>
                </a:solidFill>
                <a:latin typeface="Segoe UI"/>
              </a:rPr>
              <a:t>Tag tracks and redact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14600" y="5276088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B6475"/>
                </a:solidFill>
                <a:latin typeface="Segoe UI"/>
              </a:rPr>
              <a:t>Session Video Panel: tracks matched to the enrolled person are confirmed; press Redact.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5093208"/>
            <a:ext cx="10972" cy="384048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09560" y="5001768"/>
            <a:ext cx="3657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41B2B"/>
                </a:solidFill>
                <a:latin typeface="Segoe UI"/>
              </a:rPr>
              <a:t>Every untagged track is blurred for the whole clip. Fail-closed: DEFERRED if a worker is down.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5568696"/>
            <a:ext cx="11064240" cy="566928"/>
          </a:xfrm>
          <a:prstGeom prst="rect">
            <a:avLst/>
          </a:prstGeom>
          <a:solidFill>
            <a:srgbClr val="F4F6FA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5568696"/>
            <a:ext cx="3657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5BD6"/>
                </a:solidFill>
                <a:latin typeface="Segoe UI"/>
              </a:rPr>
              <a:t>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51560" y="5742432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1560" y="5742432"/>
            <a:ext cx="132588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Data Principal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14600" y="5605272"/>
            <a:ext cx="5120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41B2B"/>
                </a:solidFill>
                <a:latin typeface="Segoe UI"/>
              </a:rPr>
              <a:t>Raise erasure, confirm, download certificate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14600" y="5843016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B6475"/>
                </a:solidFill>
                <a:latin typeface="Segoe UI"/>
              </a:rPr>
              <a:t>Data Rights &gt; Erasure. The principal sees what will be destroyed and presses Erase. Data Admin executes; DPO closes.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5660136"/>
            <a:ext cx="10972" cy="384048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09560" y="5568696"/>
            <a:ext cx="3657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41B2B"/>
                </a:solidFill>
                <a:latin typeface="Segoe UI"/>
              </a:rPr>
              <a:t>Ed25519-signed certificate lists every location purged, including the video derivatives.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D5BD6"/>
                </a:solidFill>
                <a:latin typeface="Segoe UI"/>
              </a:rPr>
              <a:t>1 - END-TO-END VIDEO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41B2B"/>
                </a:solidFill>
                <a:latin typeface="Segoe UI"/>
              </a:rPr>
              <a:t>What happens inside while the demo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5"/>
                </a:solidFill>
                <a:latin typeface="Segoe UI"/>
              </a:rPr>
              <a:t>Video is not 'many photos': a 2-minute 30 fps clip is 3,600 frames. Detection is strided, embedding is sparse, and the decision is never made by the worker.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5B6475"/>
                </a:solidFill>
                <a:latin typeface="Segoe UI"/>
              </a:rPr>
              <a:t>4 / 19</a:t>
            </a:r>
          </a:p>
        </p:txBody>
      </p:sp>
      <p:sp>
        <p:nvSpPr>
          <p:cNvPr id="10" name="Pentagon 9"/>
          <p:cNvSpPr/>
          <p:nvPr/>
        </p:nvSpPr>
        <p:spPr>
          <a:xfrm>
            <a:off x="566928" y="1691640"/>
            <a:ext cx="1170432" cy="384048"/>
          </a:xfrm>
          <a:prstGeom prst="homePlate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9164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Upload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48840"/>
            <a:ext cx="11704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194560"/>
            <a:ext cx="1097280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Agent uploads .mp4. API hashes it (SHA-256), seals it under the subject-scoped key, writes a Video row: PENDING_ANALYSIS.</a:t>
            </a:r>
          </a:p>
        </p:txBody>
      </p:sp>
      <p:sp>
        <p:nvSpPr>
          <p:cNvPr id="14" name="Chevron 13"/>
          <p:cNvSpPr/>
          <p:nvPr/>
        </p:nvSpPr>
        <p:spPr>
          <a:xfrm>
            <a:off x="1801368" y="1691640"/>
            <a:ext cx="1170432" cy="384048"/>
          </a:xfrm>
          <a:prstGeom prst="chevron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1368" y="169164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Detect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01368" y="2148840"/>
            <a:ext cx="11704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37944" y="2194560"/>
            <a:ext cx="1097280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video-worker /analyze: every N-th frame through SCRFD (InsightFace buffalo_l). No decisions, no database, no memory.</a:t>
            </a:r>
          </a:p>
        </p:txBody>
      </p:sp>
      <p:sp>
        <p:nvSpPr>
          <p:cNvPr id="18" name="Chevron 17"/>
          <p:cNvSpPr/>
          <p:nvPr/>
        </p:nvSpPr>
        <p:spPr>
          <a:xfrm>
            <a:off x="3035808" y="1691640"/>
            <a:ext cx="1170432" cy="384048"/>
          </a:xfrm>
          <a:prstGeom prst="chevron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5808" y="169164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Track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35808" y="2148840"/>
            <a:ext cx="11704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2384" y="2194560"/>
            <a:ext cx="1097280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IoU tracker with constant-velocity prediction links detections into tracks. Boxes coast for HOLD_SEC when a face is lost.</a:t>
            </a:r>
          </a:p>
        </p:txBody>
      </p:sp>
      <p:sp>
        <p:nvSpPr>
          <p:cNvPr id="22" name="Chevron 21"/>
          <p:cNvSpPr/>
          <p:nvPr/>
        </p:nvSpPr>
        <p:spPr>
          <a:xfrm>
            <a:off x="4270248" y="1691640"/>
            <a:ext cx="1170432" cy="384048"/>
          </a:xfrm>
          <a:prstGeom prst="chevron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169164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Embed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2148840"/>
            <a:ext cx="11704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2194560"/>
            <a:ext cx="1097280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5 best frames per track through ArcFace, averaged into one 512-d vector. Same model as face-worker, so vectors are comparable.</a:t>
            </a:r>
          </a:p>
        </p:txBody>
      </p:sp>
      <p:sp>
        <p:nvSpPr>
          <p:cNvPr id="26" name="Chevron 25"/>
          <p:cNvSpPr/>
          <p:nvPr/>
        </p:nvSpPr>
        <p:spPr>
          <a:xfrm>
            <a:off x="5504688" y="1691640"/>
            <a:ext cx="1170432" cy="384048"/>
          </a:xfrm>
          <a:prstGeom prst="chevron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4688" y="169164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Match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04688" y="2148840"/>
            <a:ext cx="11704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41264" y="2194560"/>
            <a:ext cx="1097280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Backend clusters tracks and searches the session's Qdrant gallery of enrolled faces. Only the backend reads consent.</a:t>
            </a:r>
          </a:p>
        </p:txBody>
      </p:sp>
      <p:sp>
        <p:nvSpPr>
          <p:cNvPr id="30" name="Chevron 29"/>
          <p:cNvSpPr/>
          <p:nvPr/>
        </p:nvSpPr>
        <p:spPr>
          <a:xfrm>
            <a:off x="6739128" y="1691640"/>
            <a:ext cx="1170432" cy="384048"/>
          </a:xfrm>
          <a:prstGeom prst="chevron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39128" y="169164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Tag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2148840"/>
            <a:ext cx="11704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75704" y="2194560"/>
            <a:ext cx="1097280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Agent confirms auto-matches and tags unknown clusters. Status: ANALYZED. Unclaimed tracks stay unclaimed.</a:t>
            </a:r>
          </a:p>
        </p:txBody>
      </p:sp>
      <p:sp>
        <p:nvSpPr>
          <p:cNvPr id="34" name="Chevron 33"/>
          <p:cNvSpPr/>
          <p:nvPr/>
        </p:nvSpPr>
        <p:spPr>
          <a:xfrm>
            <a:off x="7973568" y="1691640"/>
            <a:ext cx="1170432" cy="384048"/>
          </a:xfrm>
          <a:prstGeom prst="chevron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69164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Decide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73568" y="2148840"/>
            <a:ext cx="11704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0144" y="2194560"/>
            <a:ext cx="1097280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Backend builds the box schedule: every track not tied to an active ProjectConsent is a blur interval. PII frames go to image-pii-worker.</a:t>
            </a:r>
          </a:p>
        </p:txBody>
      </p:sp>
      <p:sp>
        <p:nvSpPr>
          <p:cNvPr id="38" name="Chevron 37"/>
          <p:cNvSpPr/>
          <p:nvPr/>
        </p:nvSpPr>
        <p:spPr>
          <a:xfrm>
            <a:off x="9208008" y="1691640"/>
            <a:ext cx="1170432" cy="384048"/>
          </a:xfrm>
          <a:prstGeom prst="chevr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08008" y="169164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Redact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08008" y="2148840"/>
            <a:ext cx="11704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44584" y="2194560"/>
            <a:ext cx="1097280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video-worker /redact re-encodes with dilated, held boxes. Partial encodes are deleted, never returned. Status: REDACTED.</a:t>
            </a:r>
          </a:p>
        </p:txBody>
      </p:sp>
      <p:sp>
        <p:nvSpPr>
          <p:cNvPr id="42" name="Chevron 41"/>
          <p:cNvSpPr/>
          <p:nvPr/>
        </p:nvSpPr>
        <p:spPr>
          <a:xfrm>
            <a:off x="10442448" y="1691640"/>
            <a:ext cx="1170432" cy="384048"/>
          </a:xfrm>
          <a:prstGeom prst="chevr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42448" y="1691640"/>
            <a:ext cx="1170432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Store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42448" y="2148840"/>
            <a:ext cx="117043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79024" y="2194560"/>
            <a:ext cx="1097280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Original stays sealed and untouched; redacted derivative and 'detected' derivative are written under the subject path. Vectors destroyed.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43484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4434840"/>
            <a:ext cx="54864" cy="187451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" y="4489704"/>
            <a:ext cx="3392424" cy="178307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41B2B"/>
                </a:solidFill>
                <a:latin typeface="Segoe UI"/>
              </a:rPr>
              <a:t>Fail closed, in space and in time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5B6475"/>
                </a:solidFill>
                <a:latin typeface="Segoe UI"/>
              </a:rPr>
              <a:t>Anything not affirmatively tagged is blurred. Tracks coast past their last detection and boxes are dilated, so a head turn never un-blurs a face for a quarter second inside a file stamped 'redacted'. A worker outage sets DEFERRED and blocks ingest instead of publishing a clean-looking clip.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88536" y="443484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88536" y="4434840"/>
            <a:ext cx="54864" cy="1874519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98264" y="4489704"/>
            <a:ext cx="3392424" cy="178307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41B2B"/>
                </a:solidFill>
                <a:latin typeface="Segoe UI"/>
              </a:rPr>
              <a:t>Detect / Decide / Redact separation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5B6475"/>
                </a:solidFill>
                <a:latin typeface="Segoe UI"/>
              </a:rPr>
              <a:t>The worker reports what is in the frame and executes a rectangle list. Between those two calls a human tags, and the backend, the only component that reads the consent matrix, decides who may remain visible. A bug in an ML worker cannot expose an unconsented person.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10144" y="443484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10144" y="4434840"/>
            <a:ext cx="54864" cy="1874519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19872" y="4489704"/>
            <a:ext cx="3392424" cy="178307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41B2B"/>
                </a:solidFill>
                <a:latin typeface="Segoe UI"/>
              </a:rPr>
              <a:t>One embedding space, enforced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5B6475"/>
                </a:solidFill>
                <a:latin typeface="Segoe UI"/>
              </a:rPr>
              <a:t>video-worker loads the same buffalo_l pack as face-worker because the session gallery holds ArcFace vectors. A different model would compare by cosine similarity and produce confident nonsense. Averaging five views per track matches the gallery better than a single still does.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D5BD6"/>
                </a:solidFill>
                <a:latin typeface="Segoe UI"/>
              </a:rPr>
              <a:t>2 -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41B2B"/>
                </a:solidFill>
                <a:latin typeface="Segoe UI"/>
              </a:rPr>
              <a:t>Capture to storage: one path for every modality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5"/>
                </a:solidFill>
                <a:latin typeface="Segoe UI"/>
              </a:rPr>
              <a:t>Every filesystem write goes through one module (storage.js), which is where envelope encryption lives. Workers hold no database access and no consent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5B6475"/>
                </a:solidFill>
                <a:latin typeface="Segoe UI"/>
              </a:rPr>
              <a:t>5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1234440" cy="64008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572768"/>
            <a:ext cx="12344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CLIENTS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572768"/>
            <a:ext cx="28346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20240" y="1572768"/>
            <a:ext cx="54864" cy="640080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29968" y="1627632"/>
            <a:ext cx="261518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41B2B"/>
                </a:solidFill>
                <a:latin typeface="Segoe UI"/>
              </a:rPr>
              <a:t>Data principal portal  :5173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B6475"/>
                </a:solidFill>
                <a:latin typeface="Segoe UI"/>
              </a:rPr>
              <a:t>React 19 - registration, OTP, notice, consent, 5-pose face and voice enrolment (MediaPipe guidance), My Data, rights requests.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572768"/>
            <a:ext cx="28346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1572768"/>
            <a:ext cx="54864" cy="640080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1627632"/>
            <a:ext cx="261518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41B2B"/>
                </a:solidFill>
                <a:latin typeface="Segoe UI"/>
              </a:rPr>
              <a:t>Admin portal  :5180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B6475"/>
                </a:solidFill>
                <a:latin typeface="Segoe UI"/>
              </a:rPr>
              <a:t>Five roles: DPO, data owner, collection agent, data admin, platform admin. Sessions, upload, tagging, handoffs, DSAR queue.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572768"/>
            <a:ext cx="3767328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572768"/>
            <a:ext cx="54864" cy="640080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1627632"/>
            <a:ext cx="3547872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41B2B"/>
                </a:solidFill>
                <a:latin typeface="Segoe UI"/>
              </a:rPr>
              <a:t>Capture surfaces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B6475"/>
                </a:solidFill>
                <a:latin typeface="Segoe UI"/>
              </a:rPr>
              <a:t>Camera shutter or file input in a field session; admin batch import for a named person (tagged IMPORT_UNVERIFIED). TLS 1.3 in transit.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414016"/>
            <a:ext cx="1234440" cy="77724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414016"/>
            <a:ext cx="123444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2414016"/>
            <a:ext cx="971092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0240" y="2414016"/>
            <a:ext cx="54864" cy="77724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29968" y="2468880"/>
            <a:ext cx="9491472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41B2B"/>
                </a:solidFill>
                <a:latin typeface="Segoe UI"/>
              </a:rPr>
              <a:t>Node.js / Express API  -  the only place consent is evaluated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B6475"/>
                </a:solidFill>
                <a:latin typeface="Segoe UI"/>
              </a:rPr>
              <a:t>JWT + RBAC (five admin roles) · zod validation · helmet, rate limiting · pino audit and access logs with HMAC hash chain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B6475"/>
                </a:solidFill>
                <a:latin typeface="Segoe UI"/>
              </a:rPr>
              <a:t>Ingest: raw payload received in RAM  &gt;  SHA-256  &gt;  AES-256-GCM envelope (MEDIA_KEK &gt; HKDF per-subject DEK)  &gt;  staged blob + metadata row  &gt;  job queued. Consent matrix, tagging, box schedules, redaction decisions, handoff, retention clocks.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392424"/>
            <a:ext cx="1234440" cy="64008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392424"/>
            <a:ext cx="12344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STATE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3392424"/>
            <a:ext cx="28346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20240" y="3392424"/>
            <a:ext cx="54864" cy="640080"/>
          </a:xfrm>
          <a:prstGeom prst="rect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9968" y="3447288"/>
            <a:ext cx="261518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41B2B"/>
                </a:solidFill>
                <a:latin typeface="Segoe UI"/>
              </a:rPr>
              <a:t>PostgreSQL 16  (Prisma 5)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B6475"/>
                </a:solidFill>
                <a:latin typeface="Segoe UI"/>
              </a:rPr>
              <a:t>~60 models: subjects, consents, sessions, photos / videos / recordings / text, item index, DSAR, audit, breach, retention.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3392424"/>
            <a:ext cx="28346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92040" y="3392424"/>
            <a:ext cx="54864" cy="640080"/>
          </a:xfrm>
          <a:prstGeom prst="rect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1768" y="3447288"/>
            <a:ext cx="261518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41B2B"/>
                </a:solidFill>
                <a:latin typeface="Segoe UI"/>
              </a:rPr>
              <a:t>Redis 7 + BullMQ 5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B6475"/>
                </a:solidFill>
                <a:latin typeface="Segoe UI"/>
              </a:rPr>
              <a:t>Queues: face-recognition, redaction-retry, dsar-purge, dsar-item-action, project-export. Plus retention and reaper sweeps.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3392424"/>
            <a:ext cx="3767328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3840" y="3392424"/>
            <a:ext cx="54864" cy="640080"/>
          </a:xfrm>
          <a:prstGeom prst="rect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3447288"/>
            <a:ext cx="3547872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41B2B"/>
                </a:solidFill>
                <a:latin typeface="Segoe UI"/>
              </a:rPr>
              <a:t>Qdrant v1.12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B6475"/>
                </a:solidFill>
                <a:latin typeface="Segoe UI"/>
              </a:rPr>
              <a:t>Per-session, ephemeral face (512-d) and voice (192-d) galleries. Created at session start, destroyed at finalize - no biometric vector outlives its scope.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233672"/>
            <a:ext cx="1234440" cy="64008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233672"/>
            <a:ext cx="12344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AI WORKERS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20240" y="4233672"/>
            <a:ext cx="1865376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20240" y="4233672"/>
            <a:ext cx="54864" cy="6400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9968" y="4288536"/>
            <a:ext cx="1645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41B2B"/>
                </a:solidFill>
                <a:latin typeface="Segoe UI"/>
              </a:rPr>
              <a:t>face-worker :8001</a:t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5B6475"/>
                </a:solidFill>
                <a:latin typeface="Segoe UI"/>
              </a:rPr>
              <a:t>SCRFD + ArcFace; bystander blur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81628" y="4233672"/>
            <a:ext cx="1865376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81628" y="4233672"/>
            <a:ext cx="54864" cy="6400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91356" y="4288536"/>
            <a:ext cx="1645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41B2B"/>
                </a:solidFill>
                <a:latin typeface="Segoe UI"/>
              </a:rPr>
              <a:t>image-pii-worker :8002</a:t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5B6475"/>
                </a:solidFill>
                <a:latin typeface="Segoe UI"/>
              </a:rPr>
              <a:t>RapidOCR + Presidio (Indian IDs); mask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43016" y="4233672"/>
            <a:ext cx="1865376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43016" y="4233672"/>
            <a:ext cx="54864" cy="6400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52744" y="4288536"/>
            <a:ext cx="1645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41B2B"/>
                </a:solidFill>
                <a:latin typeface="Segoe UI"/>
              </a:rPr>
              <a:t>audio-worker :8003</a:t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5B6475"/>
                </a:solidFill>
                <a:latin typeface="Segoe UI"/>
              </a:rPr>
              <a:t>pyannote, faster-whisper, ECAPA; mute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04404" y="4233672"/>
            <a:ext cx="1865376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04404" y="4233672"/>
            <a:ext cx="54864" cy="6400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14132" y="4288536"/>
            <a:ext cx="1645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41B2B"/>
                </a:solidFill>
                <a:latin typeface="Segoe UI"/>
              </a:rPr>
              <a:t>text-worker :8004</a:t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5B6475"/>
                </a:solidFill>
                <a:latin typeface="Segoe UI"/>
              </a:rPr>
              <a:t>Presidio + 15 Indian recognizers; span redact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65792" y="4233672"/>
            <a:ext cx="1865376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65792" y="4233672"/>
            <a:ext cx="54864" cy="6400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4288536"/>
            <a:ext cx="1645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41B2B"/>
                </a:solidFill>
                <a:latin typeface="Segoe UI"/>
              </a:rPr>
              <a:t>video-worker :8005</a:t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5B6475"/>
                </a:solidFill>
                <a:latin typeface="Segoe UI"/>
              </a:rPr>
              <a:t>strided detect, track, sparse embed; blur schedule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074920"/>
            <a:ext cx="1234440" cy="64008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5074920"/>
            <a:ext cx="12344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STORAGE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20240" y="5074920"/>
            <a:ext cx="28346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20240" y="5074920"/>
            <a:ext cx="54864" cy="640080"/>
          </a:xfrm>
          <a:prstGeom prst="rect">
            <a:avLst/>
          </a:prstGeom>
          <a:solidFill>
            <a:srgbClr val="5B6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29968" y="5129784"/>
            <a:ext cx="261518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41B2B"/>
                </a:solidFill>
                <a:latin typeface="Segoe UI"/>
              </a:rPr>
              <a:t>Staged blob (session scope)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B6475"/>
                </a:solidFill>
                <a:latin typeface="Segoe UI"/>
              </a:rPr>
              <a:t>Encrypted at write. Face crops and session vectors are destroyed at finalize. Raw originals swept after retention TTL.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92040" y="5074920"/>
            <a:ext cx="28346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892040" y="5074920"/>
            <a:ext cx="54864" cy="640080"/>
          </a:xfrm>
          <a:prstGeom prst="rect">
            <a:avLst/>
          </a:prstGeom>
          <a:solidFill>
            <a:srgbClr val="5B6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01768" y="5129784"/>
            <a:ext cx="261518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41B2B"/>
                </a:solidFill>
                <a:latin typeface="Segoe UI"/>
              </a:rPr>
              <a:t>Vault  storage/media/subjects/&lt;id&gt;/...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B6475"/>
                </a:solidFill>
                <a:latin typeface="Segoe UI"/>
              </a:rPr>
              <a:t>Golden copy under the per-subject DEK after data-admin ingest. Destroying that key is the crypto-shred a certificate attests to.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63840" y="5074920"/>
            <a:ext cx="3767328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863840" y="5074920"/>
            <a:ext cx="54864" cy="640080"/>
          </a:xfrm>
          <a:prstGeom prst="rect">
            <a:avLst/>
          </a:prstGeom>
          <a:solidFill>
            <a:srgbClr val="5B6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73568" y="5129784"/>
            <a:ext cx="3547872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141B2B"/>
                </a:solidFill>
                <a:latin typeface="Segoe UI"/>
              </a:rPr>
              <a:t>Two files, always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B6475"/>
                </a:solidFill>
                <a:latin typeface="Segoe UI"/>
              </a:rPr>
              <a:t>Original master: sealed, never overwritten, break-glass only. Redacted derivative: the only thing exports, analytics, search and the principal's own portal ever see.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188720" y="2212848"/>
            <a:ext cx="0" cy="201168"/>
          </a:xfrm>
          <a:prstGeom prst="line">
            <a:avLst/>
          </a:prstGeom>
          <a:ln w="22225">
            <a:solidFill>
              <a:srgbClr val="1D5B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88720" y="3191256"/>
            <a:ext cx="0" cy="201168"/>
          </a:xfrm>
          <a:prstGeom prst="line">
            <a:avLst/>
          </a:prstGeom>
          <a:ln w="22225">
            <a:solidFill>
              <a:srgbClr val="1D5B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188720" y="4032504"/>
            <a:ext cx="0" cy="201168"/>
          </a:xfrm>
          <a:prstGeom prst="line">
            <a:avLst/>
          </a:prstGeom>
          <a:ln w="22225">
            <a:solidFill>
              <a:srgbClr val="1D5B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88720" y="4873752"/>
            <a:ext cx="0" cy="201168"/>
          </a:xfrm>
          <a:prstGeom prst="line">
            <a:avLst/>
          </a:prstGeom>
          <a:ln w="22225">
            <a:solidFill>
              <a:srgbClr val="1D5B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D5BD6"/>
                </a:solidFill>
                <a:latin typeface="Segoe UI"/>
              </a:rPr>
              <a:t>3 -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41B2B"/>
                </a:solidFill>
                <a:latin typeface="Segoe UI"/>
              </a:rPr>
              <a:t>DSAR: a rights request from receipt to signed certificate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5"/>
                </a:solidFill>
                <a:latin typeface="Segoe UI"/>
              </a:rPr>
              <a:t>Separate from capture on purpose. Six phases, two execution branches, one clock that the law sets (30 days) and one we set ourselves (7 days).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5B6475"/>
                </a:solidFill>
                <a:latin typeface="Segoe UI"/>
              </a:rPr>
              <a:t>6 / 19</a:t>
            </a:r>
          </a:p>
        </p:txBody>
      </p:sp>
      <p:sp>
        <p:nvSpPr>
          <p:cNvPr id="10" name="Pentagon 9"/>
          <p:cNvSpPr/>
          <p:nvPr/>
        </p:nvSpPr>
        <p:spPr>
          <a:xfrm>
            <a:off x="566928" y="1691640"/>
            <a:ext cx="1773936" cy="420624"/>
          </a:xfrm>
          <a:prstGeom prst="homePlate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91640"/>
            <a:ext cx="177393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1  Initiation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85416"/>
            <a:ext cx="1773936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240280"/>
            <a:ext cx="1664208" cy="2788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Raised by the data principal in the portal, or by a data admin on their behalf (email, phone, internal).</a:t>
            </a:r>
          </a:p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Types: ACCESS §11 · CORRECT §12(1) · ERASE §12(3) · WITHDRAWAL_ERASURE §6(4), auto-raised · GRIEVANCE §13 · NOMINATION §14.</a:t>
            </a:r>
          </a:p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Tracking id, timestamps, audit event.</a:t>
            </a:r>
          </a:p>
        </p:txBody>
      </p:sp>
      <p:sp>
        <p:nvSpPr>
          <p:cNvPr id="14" name="Chevron 13"/>
          <p:cNvSpPr/>
          <p:nvPr/>
        </p:nvSpPr>
        <p:spPr>
          <a:xfrm>
            <a:off x="2425903" y="1691640"/>
            <a:ext cx="1773936" cy="420624"/>
          </a:xfrm>
          <a:prstGeom prst="chevron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5903" y="1691640"/>
            <a:ext cx="177393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2  Triage &amp; SLA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5903" y="2185416"/>
            <a:ext cx="1773936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0767" y="2240280"/>
            <a:ext cx="1664208" cy="2788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Appears in the request queue (RECEIVED &gt; TRIAGE).</a:t>
            </a:r>
          </a:p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Statutory clock: 30 days. Internal target: 7 days. Both visible on the SLA board and in DPO reports.</a:t>
            </a:r>
          </a:p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Identity proof attached to the evidence bundle.</a:t>
            </a:r>
          </a:p>
        </p:txBody>
      </p:sp>
      <p:sp>
        <p:nvSpPr>
          <p:cNvPr id="18" name="Chevron 17"/>
          <p:cNvSpPr/>
          <p:nvPr/>
        </p:nvSpPr>
        <p:spPr>
          <a:xfrm>
            <a:off x="4284878" y="1691640"/>
            <a:ext cx="1773936" cy="420624"/>
          </a:xfrm>
          <a:prstGeom prst="chevron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4878" y="1691640"/>
            <a:ext cx="177393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3  Discovery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4878" y="2185416"/>
            <a:ext cx="1773936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9742" y="2240280"/>
            <a:ext cx="1664208" cy="2788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Walk the item index and its relationships: collection sessions, vault stores, admin imports, derived caches.</a:t>
            </a:r>
          </a:p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Nullable session ids are walked too - a session-less import is a completeness hole, not a display bug.</a:t>
            </a:r>
          </a:p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Output: discovery evidence manifest.</a:t>
            </a:r>
          </a:p>
        </p:txBody>
      </p:sp>
      <p:sp>
        <p:nvSpPr>
          <p:cNvPr id="22" name="Chevron 21"/>
          <p:cNvSpPr/>
          <p:nvPr/>
        </p:nvSpPr>
        <p:spPr>
          <a:xfrm>
            <a:off x="6143853" y="1691640"/>
            <a:ext cx="1773936" cy="420624"/>
          </a:xfrm>
          <a:prstGeom prst="chevron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3853" y="1691640"/>
            <a:ext cx="177393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4  Execution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3853" y="2185416"/>
            <a:ext cx="1773936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8717" y="2240280"/>
            <a:ext cx="1664208" cy="2788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ACCESS: build the §11 summary and a redacted-derivative package; principal mints a single-use download link.</a:t>
            </a:r>
          </a:p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ERASE: principal is shown the material and must press Erase (the gate). Then: shred subject DEK, purge Qdrant points, tombstone item rows, status ERASED.</a:t>
            </a:r>
          </a:p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CORRECT and GRIEVANCE are resolved by a human.</a:t>
            </a:r>
          </a:p>
        </p:txBody>
      </p:sp>
      <p:sp>
        <p:nvSpPr>
          <p:cNvPr id="26" name="Chevron 25"/>
          <p:cNvSpPr/>
          <p:nvPr/>
        </p:nvSpPr>
        <p:spPr>
          <a:xfrm>
            <a:off x="8002828" y="1691640"/>
            <a:ext cx="1773936" cy="420624"/>
          </a:xfrm>
          <a:prstGeom prst="chevr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2828" y="1691640"/>
            <a:ext cx="177393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5  Audit &amp; verify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2828" y="2185416"/>
            <a:ext cx="1773936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57692" y="2240280"/>
            <a:ext cx="1664208" cy="2788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Purge report per location, including the video 'detected' derivative and per-person caches.</a:t>
            </a:r>
          </a:p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Audit hash-chain segment signed with the HMAC secret.</a:t>
            </a:r>
          </a:p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Ed25519 deletion certificate enumerating every location purged.</a:t>
            </a:r>
          </a:p>
        </p:txBody>
      </p:sp>
      <p:sp>
        <p:nvSpPr>
          <p:cNvPr id="30" name="Chevron 29"/>
          <p:cNvSpPr/>
          <p:nvPr/>
        </p:nvSpPr>
        <p:spPr>
          <a:xfrm>
            <a:off x="9861803" y="1691640"/>
            <a:ext cx="1773936" cy="420624"/>
          </a:xfrm>
          <a:prstGeom prst="chevr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1803" y="1691640"/>
            <a:ext cx="1773936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6  Delivery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61803" y="2185416"/>
            <a:ext cx="1773936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16667" y="2240280"/>
            <a:ext cx="1664208" cy="2788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DPO review, request CLOSED.</a:t>
            </a:r>
          </a:p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Certificate and any package delivered through the principal's secure inbox - nothing is emailed from the admin side.</a:t>
            </a:r>
          </a:p>
          <a:p>
            <a:pPr>
              <a:spcAft>
                <a:spcPts val="500"/>
              </a:spcAft>
            </a:pPr>
            <a:r>
              <a:rPr sz="860" b="0">
                <a:solidFill>
                  <a:srgbClr val="5B6475"/>
                </a:solidFill>
                <a:latin typeface="Segoe UI"/>
              </a:rPr>
              <a:t>• The principal's own portal is the check: what it says is held must match what is held.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21208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212080"/>
            <a:ext cx="54864" cy="1097280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5266944"/>
            <a:ext cx="5266944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41B2B"/>
                </a:solidFill>
                <a:latin typeface="Segoe UI"/>
              </a:rPr>
              <a:t>Request lifecycle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RECEIVED  &gt;  TRIAGE  &gt;  DISCOVERY  &gt;  EXECUTING  &gt;  REVIEW  &gt;  CLOSED   (or REJECTED with a recorded reason)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Erasure cannot execute until the data principal has confirmed. Purge is a BullMQ job so a crash mid-way is retried, never half-done and silent.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5212080"/>
            <a:ext cx="545896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5212080"/>
            <a:ext cx="54864" cy="109728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1928" y="5266944"/>
            <a:ext cx="5239512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41B2B"/>
                </a:solidFill>
                <a:latin typeface="Segoe UI"/>
              </a:rPr>
              <a:t>Who does what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Data principal raises and confirms · DPO triages, sets SLA, approves closure · Data owner supplies project-scoped discovery evidence · Data admin executes export or purge · Platform admin holds break-glass only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Every read of an original along the way lands in the access log the principal can see.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D5BD6"/>
                </a:solidFill>
                <a:latin typeface="Segoe UI"/>
              </a:rPr>
              <a:t>4 - AI MODELS AND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41B2B"/>
                </a:solidFill>
                <a:latin typeface="Segoe UI"/>
              </a:rPr>
              <a:t>Model summary: nine model families, all running locally on 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5"/>
                </a:solidFill>
                <a:latin typeface="Segoe UI"/>
              </a:rPr>
              <a:t>No third-party inference in the production redaction path. Every model executes inside the project's own containers.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5B6475"/>
                </a:solidFill>
                <a:latin typeface="Segoe UI"/>
              </a:rPr>
              <a:t>7 / 19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600200"/>
          <a:ext cx="11064239" cy="43251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65960"/>
                <a:gridCol w="2743200"/>
                <a:gridCol w="2606040"/>
                <a:gridCol w="3749039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Modality / worker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Task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Why this one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Image  ·  face-worker :8001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InsightFace buffalo_l (SCRFD detector + ArcFace, 512-d)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Face detection, embeddings for clustering, bystander blur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Best open accuracy/speed balance on CPU; batch pass after the session, so no GPU latency needed. Embeddings never persisted by the worker.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Image  ·  image-pii-worker :8002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RapidOCR (ONNX)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Text extraction from photos and video frames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Weights ship inside the wheel: no download at build or run time, fully offline and reproducible.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Presidio + spaCy en_core_web_sm + ~15 custom Indian recognizers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PII on OCR text: Aadhaar, PAN, GSTIN, Voter ID, passport, UPI, IFSC, plates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Stock Presidio has no Indian ID coverage. Fail-closed: any error returns 503, never 'no PII found'.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Video  ·  video-worker :8005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InsightFace buffalo_l + IoU / constant-velocity tracker (non-ML)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Strided detection, cross-frame tracking, sparse per-track embedding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Forced compatibility: the gallery holds ArcFace vectors, so the same model is a correctness requirement. On-screen text is delegated to :8002.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Audio  ·  audio-worker :8003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pyannote/speaker-diarization-3.1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Who spoke when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State-of-the-art open diarization; gated licence handled via HF token; lazy-loaded so /ready never blocks.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faster-whisper (small, configurable)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Transcription with word timestamps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Size is a speed/accuracy dial. VAD filtering off so quiet bystander speech is never dropped before PII scan.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SpeechBrain ECAPA-TDNN (spkrec-ecapa-voxceleb, 192-d)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Voice enrolment and speaker identity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~80 MB, open, accurate enough for consent matching; small cold start.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Presidio (stock recognizers)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PII in transcripts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Spoken text does not need the document-ID recognizers; stock entity set suffices.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Text  ·  text-worker :8004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Presidio + ~15 checksum-aware regex recognizers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PII spans with character offsets, consent-aware span redaction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Deliberately rule-based: deterministic and auditable. No model non-determinism in a compliance decision.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Browser  ·  user portal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MediaPipe tasks-vision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Live guidance during 5-pose face capture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Runs in the browser; nothing leaves the device until the principal confirms the capture.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1">
                <a:solidFill>
                  <a:srgbClr val="5B6475"/>
                </a:solidFill>
                <a:latin typeface="Segoe UI"/>
              </a:rPr>
              <a:t>Demo-only, excluded from production: spaCy NER inside the Streamlit tool, and an OpenAI model for name disambiguation gated behind an API key. Reference-only code: ai-core/prism-visual-pipeline and ai-core/audio-services.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D5BD6"/>
                </a:solidFill>
                <a:latin typeface="Segoe UI"/>
              </a:rPr>
              <a:t>4 - AI MODELS AND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41B2B"/>
                </a:solidFill>
                <a:latin typeface="Segoe UI"/>
              </a:rPr>
              <a:t>Services summary: how the AI side was built and how it is wired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5"/>
                </a:solidFill>
                <a:latin typeface="Segoe UI"/>
              </a:rPr>
              <a:t>Twelve workers in total: five Python FastAPI microservices and seven Node.js queue or timer workers, all behind one Express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5B6475"/>
                </a:solidFill>
                <a:latin typeface="Segoe UI"/>
              </a:rPr>
              <a:t>8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0020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00200"/>
            <a:ext cx="54864" cy="2148840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655064"/>
            <a:ext cx="3438144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41B2B"/>
                </a:solidFill>
                <a:latin typeface="Segoe UI"/>
              </a:rPr>
              <a:t>One contract for every modality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CAPTURE  &gt;  DETECT (AI worker: finds faces, PII, speech spans; makes no decision)  &gt;  DECIDE (backend: consent + policy)  &gt;  REDACT (AI worker executes an irreversible blur, mute or mask).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Every worker is stateless: no database, no consent logic, no memory between calls. Pydantic v2 + pydantic-settings, uvicorn, Python 3.10-3.12, uv for the audio services.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Image pipeline is queue-mediated (BullMQ). Audio, video and text redaction are synchronous HTTP calls from the backend.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58768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858768"/>
            <a:ext cx="54864" cy="23774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913632"/>
            <a:ext cx="3438144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41B2B"/>
                </a:solidFill>
                <a:latin typeface="Segoe UI"/>
              </a:rPr>
              <a:t>Design principles observed across the code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No third-party inference in production. Detect / Decide / Redact separation. Fail closed: an outage is an explicit 503 or DEFERRED, never a clean scan.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Irreversible redaction: wide-kernel Gaussian and mosaic-then-blur, mute intervals, character masking, tuned to destroy signal rather than obscure it.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Shared embedding spaces enforced where two workers compare vectors. Data minimisation: session galleries and face crops are destroyed at finalize.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389120" y="1600200"/>
          <a:ext cx="7242048" cy="18653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548640"/>
                <a:gridCol w="1188720"/>
                <a:gridCol w="408736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AI microservice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Port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face-worker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8001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core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Face detection, ArcFace embeddings, bystander blur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image-pii-worker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8002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core, not optional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OCR + Presidio masking; the image pipeline fails closed without it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audio-worker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8003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opt-in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Diarization, transcription, speaker ID, PII flags, mute redaction, voice embeddings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text-worker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8004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core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PII spans with offsets, consent-aware span redaction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video-worker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8005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opt-in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Detect, track, sparse embed; executes the blur box schedule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389120" y="3703320"/>
          <a:ext cx="7242048" cy="25237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91640"/>
                <a:gridCol w="1554480"/>
                <a:gridCol w="3995928"/>
              </a:tblGrid>
              <a:tr h="3154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Backend worker (Node.js)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Trigger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recognition.worker.js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queue: face-recognition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Face matching for a session against the Qdrant gallery once it ends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redaction.worker.js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queue: redaction-retry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Retries photos whose synchronous PII/face redaction failed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purge.worker.js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queue: dsar-purge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Executes erasure jobs and issues deletion certificates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itemAction.worker.js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queue: dsar-item-action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Per-item DSAR redact, delete or export-mark actions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export.worker.js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queue: project-export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Builds signed project export and DSAR access-package archives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retention.worker.js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interval sweep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Sweeps raw originals past TTL; expires download packages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60" b="1">
                          <a:solidFill>
                            <a:srgbClr val="141B2B"/>
                          </a:solidFill>
                          <a:latin typeface="Segoe UI"/>
                        </a:rPr>
                        <a:t>reaper.worker.js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interval sweep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5B6475"/>
                          </a:solidFill>
                          <a:latin typeface="Segoe UI"/>
                        </a:rPr>
                        <a:t>Requeues stalled photo/video jobs; times out stuck recognition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7EA6F0"/>
                </a:solidFill>
                <a:latin typeface="Segoe UI"/>
              </a:rPr>
              <a:t>5 - ROLE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Data principal: register, consent, enrol, inspect, exercise rights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EA6F0"/>
                </a:solidFill>
                <a:latin typeface="Segoe UI"/>
              </a:rPr>
              <a:t>The person's own portal, built for a phone. Flow from the repository's flow folder.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EA6F0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EA6F0"/>
                </a:solidFill>
                <a:latin typeface="Segoe UI"/>
              </a:rPr>
              <a:t>9 / 19</a:t>
            </a:r>
          </a:p>
        </p:txBody>
      </p:sp>
      <p:pic>
        <p:nvPicPr>
          <p:cNvPr id="10" name="Picture 9" descr="principal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79" y="1572768"/>
            <a:ext cx="6600057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76488" y="1627632"/>
            <a:ext cx="315468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6488" y="162763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8" y="1700784"/>
            <a:ext cx="292608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Consent before anything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OTP sign-in, notice in the chosen language, digital signature. A ProjectConsent row is the key every later decision, and every erasure, hangs 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76488" y="2816352"/>
            <a:ext cx="315468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76488" y="281635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889504"/>
            <a:ext cx="292608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Biometric enrolment is separate consent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Five poses and a voice sample, encrypted AES-256-GCM at rest, vectors in Qdrant. Withdrawal auto-raises an erasure request.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6488" y="4005072"/>
            <a:ext cx="315468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76488" y="400507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4078224"/>
            <a:ext cx="292608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My Data is the §11 surface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Redacted photos and audio where the face or voice appears, active consents, and every access to an original.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76488" y="5193792"/>
            <a:ext cx="315468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76488" y="519379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5266944"/>
            <a:ext cx="292608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Rights requests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Access, correction, erasure, grievance, nomination. SLA status is visible, and the deletion certificate lands in the secure inbox.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7EA6F0"/>
                </a:solidFill>
                <a:latin typeface="Segoe UI"/>
              </a:rPr>
              <a:t>5 - ROLE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Data owner: propose a purpose, get it approved, run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EA6F0"/>
                </a:solidFill>
                <a:latin typeface="Segoe UI"/>
              </a:rPr>
              <a:t>The business owner of a purpose. Cannot collect, only define, assign and inspect.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EA6F0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EA6F0"/>
                </a:solidFill>
                <a:latin typeface="Segoe UI"/>
              </a:rPr>
              <a:t>10 / 19</a:t>
            </a:r>
          </a:p>
        </p:txBody>
      </p:sp>
      <p:pic>
        <p:nvPicPr>
          <p:cNvPr id="10" name="Picture 9" descr="dataowner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46" y="1572768"/>
            <a:ext cx="3563643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64808" y="1627632"/>
            <a:ext cx="516636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64808" y="162763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700784"/>
            <a:ext cx="493776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Purpose limitation is written down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Target groups, purpose, retention schedule and SLA are part of the proposal the DPO reviews. Rejection returns it with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4808" y="2816352"/>
            <a:ext cx="516636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64808" y="281635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889504"/>
            <a:ext cx="493776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Approval freezes policy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On APPROVED the policy version is frozen, so consent captured later is provably against the text that was approved.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4808" y="4005072"/>
            <a:ext cx="516636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4808" y="400507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078224"/>
            <a:ext cx="493776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Assign, then watch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Collection agents are assigned per project. Progress, processed datasets and redacted output are inspected here; originals are not.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64808" y="5193792"/>
            <a:ext cx="516636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64808" y="519379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5266944"/>
            <a:ext cx="493776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Export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Approved datasets export as redacted derivatives with a signed manifest and EXIF/XMP provenance stamps on every image.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7EA6F0"/>
                </a:solidFill>
                <a:latin typeface="Segoe UI"/>
              </a:rPr>
              <a:t>5 - ROLE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Collection agent: sessions, tagging, sealed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EA6F0"/>
                </a:solidFill>
                <a:latin typeface="Segoe UI"/>
              </a:rPr>
              <a:t>The only human who sees raw frames, and only before archive. Everything is tied to a project, a session and consent.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EA6F0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EA6F0"/>
                </a:solidFill>
                <a:latin typeface="Segoe UI"/>
              </a:rPr>
              <a:t>11 / 19</a:t>
            </a:r>
          </a:p>
        </p:txBody>
      </p:sp>
      <p:pic>
        <p:nvPicPr>
          <p:cNvPr id="10" name="Picture 9" descr="agent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65" y="1572768"/>
            <a:ext cx="2442966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16168" y="1627632"/>
            <a:ext cx="571500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16168" y="162763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8" y="1700784"/>
            <a:ext cx="548640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Session QR joins consented people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The roster search shows everyone but offers Add on nobody who has not consented to this project.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16168" y="2816352"/>
            <a:ext cx="571500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6168" y="281635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889504"/>
            <a:ext cx="548640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Recognition is automatic, tagging is human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InsightFace vectors, Qdrant matching, people cards. The agent confirms matches and tags unidentified clusters.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16168" y="4005072"/>
            <a:ext cx="571500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16168" y="400507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4078224"/>
            <a:ext cx="548640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Finalize re-checks consent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Revoked consents are dropped, bystander faces are blurred, document PII is masked, session vectors are destroyed.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6168" y="5193792"/>
            <a:ext cx="571500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6168" y="519379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5266944"/>
            <a:ext cx="548640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Sealed handoff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The session is archived and sent for vault ingestion; the agent loses access to originals from here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7EA6F0"/>
                </a:solidFill>
                <a:latin typeface="Segoe UI"/>
              </a:rPr>
              <a:t>5 - ROLE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DPO: govern, approve, monitor the clocks,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EA6F0"/>
                </a:solidFill>
                <a:latin typeface="Segoe UI"/>
              </a:rPr>
              <a:t>Data Protection Officer under §10(2)(a). Owns the notice text, the approval gate and the compliance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EA6F0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EA6F0"/>
                </a:solidFill>
                <a:latin typeface="Segoe UI"/>
              </a:rPr>
              <a:t>12 / 19</a:t>
            </a:r>
          </a:p>
        </p:txBody>
      </p:sp>
      <p:pic>
        <p:nvPicPr>
          <p:cNvPr id="10" name="Picture 9" descr="dpo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08" y="1572768"/>
            <a:ext cx="6796600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76488" y="1627632"/>
            <a:ext cx="315468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6488" y="162763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8" y="1700784"/>
            <a:ext cx="292608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Notice templates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Multi-language consent templates. A template cannot be published without a grievance contact (§5(1)(c), §13).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76488" y="2816352"/>
            <a:ext cx="315468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76488" y="281635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889504"/>
            <a:ext cx="292608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Approval gate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Audit purpose limitation and attach the binding template. Approve freezes policy; reject returns to the data owner with feedback.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6488" y="4005072"/>
            <a:ext cx="315468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76488" y="400507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4078224"/>
            <a:ext cx="292608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Two clocks on one board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The 30-day statutory ceiling and the 7-day internal target for every open request.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76488" y="5193792"/>
            <a:ext cx="315468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76488" y="519379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5266944"/>
            <a:ext cx="292608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Evidence a regulator would ask for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Immutable HMAC-chained audit log, breach records, and a compliance export for any period.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7EA6F0"/>
                </a:solidFill>
                <a:latin typeface="Segoe UI"/>
              </a:rPr>
              <a:t>5 - ROLE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Data admin and platform admin: vault, imports,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EA6F0"/>
                </a:solidFill>
                <a:latin typeface="Segoe UI"/>
              </a:rPr>
              <a:t>The DSAR executor and the operator. Break-glass access is logged, never silent.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EA6F0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EA6F0"/>
                </a:solidFill>
                <a:latin typeface="Segoe UI"/>
              </a:rPr>
              <a:t>13 / 19</a:t>
            </a:r>
          </a:p>
        </p:txBody>
      </p:sp>
      <p:pic>
        <p:nvPicPr>
          <p:cNvPr id="10" name="Picture 9" descr="dataadmin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33" y="1572768"/>
            <a:ext cx="7377749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76488" y="1627632"/>
            <a:ext cx="315468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6488" y="162763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8" y="1700784"/>
            <a:ext cx="292608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Golden vault ingestion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Finalized handoffs are reviewed and sealed into the vault under the subject's DEK; the retention clock starts.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76488" y="2816352"/>
            <a:ext cx="315468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76488" y="281635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889504"/>
            <a:ext cx="292608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Direct import is its own inbound edge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Files for a named person are PII-masked but not face-blurred (detection never ran) and tagged IMPORT_UNVERIFIED so a DSAR answer never presents them as consented collection.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6488" y="4005072"/>
            <a:ext cx="315468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76488" y="400507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4078224"/>
            <a:ext cx="292608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Operations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Queue health for the BullMQ workers, the data-lineage graph per person, storage-integrity and orphan-reaper sweeps.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76488" y="5193792"/>
            <a:ext cx="315468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76488" y="519379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5266944"/>
            <a:ext cx="292608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DSAR execution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Discovery workspace, purge or export, evidence vault. Covered on the DSAR architecture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7EA6F0"/>
                </a:solidFill>
                <a:latin typeface="Segoe UI"/>
              </a:rPr>
              <a:t>5 - ROLE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DSAR lifecycle as a flowchart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EA6F0"/>
                </a:solidFill>
                <a:latin typeface="Segoe UI"/>
              </a:rPr>
              <a:t>The same six phases as the architecture slide, drawn end to end with the access and erase branches.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EA6F0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EA6F0"/>
                </a:solidFill>
                <a:latin typeface="Segoe UI"/>
              </a:rPr>
              <a:t>14 / 19</a:t>
            </a:r>
          </a:p>
        </p:txBody>
      </p:sp>
      <p:pic>
        <p:nvPicPr>
          <p:cNvPr id="10" name="Picture 9" descr="dsar_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572768"/>
            <a:ext cx="2734056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01768" y="1627632"/>
            <a:ext cx="662940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01768" y="162763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1700784"/>
            <a:ext cx="640080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Two branches, one certificate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ACCESS compiles a redacted package with consent proofs and manifest; ERASE shreds the subject key, purges vectors and flips status to ERASED. Both end in a signed audit segment.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1768" y="2816352"/>
            <a:ext cx="662940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01768" y="281635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2889504"/>
            <a:ext cx="640080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Clocks start at triage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Statutory 30 days and internal 7 days, tracked on the SLA 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01768" y="4005072"/>
            <a:ext cx="662940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1768" y="400507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078224"/>
            <a:ext cx="640080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Delivery is pull, not push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The principal downloads the certificate or package from the secure inbox in their own portal.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7EA6F0"/>
                </a:solidFill>
                <a:latin typeface="Segoe UI"/>
              </a:rPr>
              <a:t>5 - ROLE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Capture to storage in twelve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EA6F0"/>
                </a:solidFill>
                <a:latin typeface="Segoe UI"/>
              </a:rPr>
              <a:t>The numbered version of the architecture slide: what happens to one frame, in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7EA6F0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7EA6F0"/>
                </a:solidFill>
                <a:latin typeface="Segoe UI"/>
              </a:rPr>
              <a:t>15 / 19</a:t>
            </a:r>
          </a:p>
        </p:txBody>
      </p:sp>
      <p:pic>
        <p:nvPicPr>
          <p:cNvPr id="10" name="Picture 9" descr="capture12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873" y="1572768"/>
            <a:ext cx="4751550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44968" y="1627632"/>
            <a:ext cx="388620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44968" y="162763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1700784"/>
            <a:ext cx="365760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Sealed before it is stored (steps 1-4)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Raw bytes arrive in RAM, are envelope-encrypted with AES-256-GCM under MEDIA_KEK, and only then hit staged disk with a metadata row.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44968" y="2816352"/>
            <a:ext cx="388620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44968" y="281635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2889504"/>
            <a:ext cx="365760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Processed without human eyes (steps 5-8)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BullMQ queues the job; face-worker extracts vectors, Qdrant matches, the agent confirms tags, the backend checks consent, then blur and PII masking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4968" y="4005072"/>
            <a:ext cx="3886200" cy="1078992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44968" y="4005072"/>
            <a:ext cx="54864" cy="1078992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8" y="4078224"/>
            <a:ext cx="365760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Two files, one resting place (steps 9-12)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7EA6F0"/>
                </a:solidFill>
                <a:latin typeface="Segoe UI"/>
              </a:rPr>
              <a:t>Original master stays sealed; the redacted derivative is what leaves. Filed under the subject key path, lineage indexed, temp vectors destroyed. Held until export, retention expiry or erasure.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D5BD6"/>
                </a:solidFill>
                <a:latin typeface="Segoe UI"/>
              </a:rPr>
              <a:t>6 -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41B2B"/>
                </a:solidFill>
                <a:latin typeface="Segoe UI"/>
              </a:rPr>
              <a:t>The whole stack on one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5"/>
                </a:solidFill>
                <a:latin typeface="Segoe UI"/>
              </a:rPr>
              <a:t>Two React SPAs, one Node.js/Express API with seven queue workers, five Python FastAPI microservices, three infrastructure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5B6475"/>
                </a:solidFill>
                <a:latin typeface="Segoe UI"/>
              </a:rPr>
              <a:t>16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00200"/>
            <a:ext cx="5458968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00200"/>
            <a:ext cx="5458968" cy="329184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600200"/>
            <a:ext cx="52120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Frontends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984248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1984248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React 19, React Router 7, Vite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290572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Styling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2290572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Tailwind CSS 4, tailwind-merge, PostCSS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2596896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2596896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lucide-react icons, qrcode.react for session QR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903220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In-browser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2903220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@mediapipe/tasks-vision face-capture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209544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3209544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oxlint; Vitest + Testing Library + jsdom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515868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3515868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data principal :5173 · admin :5180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600200"/>
            <a:ext cx="5458968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600200"/>
            <a:ext cx="5458968" cy="329184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1600200"/>
            <a:ext cx="52120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1984248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Runtime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984248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Node.js (ESM), Express 4, Prisma 5 on PostgreSQL 16 (~60 models)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2290572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Queues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290572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BullMQ 5 on Redis 7: recognition, redaction, purge, item-action, export, reaper, 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596896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Vectors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596896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Qdrant v1.12 face and voice galleries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903220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2903220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JWT, bcrypt, refresh cookies, OTP; five admin roles; helmet, cors, rate limiting, zod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3209544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Crypto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3209544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AES-256-GCM envelope (MEDIA_KEK &gt; HKDF per-subject DEK); Ed25519 signing; SHA-256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3515868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Media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3515868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sharp (redaction, thumbnails, EXIF/XMP stamps), multer, streamed ZIP; 215 node --test tests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3977639"/>
            <a:ext cx="5458968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3977639"/>
            <a:ext cx="5458968" cy="32918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3977639"/>
            <a:ext cx="52120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AI core (5 FastAPI services)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" y="4361687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face :8001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38528" y="4361687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InsightFace buffalo_l (SCRFD + ArcFace), onnxruntime, Pillow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668011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image-PII :8002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38528" y="4668011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RapidOCR-ONNX + Presidio with Indian-identifier recognizers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4974335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audio :8003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38528" y="4974335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faster-whisper, pyannote-audio 3.1, SpeechBrain ECAPA, Presidio, torch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" y="5280659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text :8004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38528" y="5280659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Presidio Analyzer + Anonymizer, spaCy, Streamlit demo, OpenAI SDK (demo only)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" y="5586983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video :8005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38528" y="5586983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InsightFace buffalo_l (shared volume), opencv-headless, IoU tracker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" y="5893307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Common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8528" y="5893307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Pydantic v2, uvicorn, Python 3.10-3.12, uv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200" y="3977639"/>
            <a:ext cx="5458968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72200" y="3977639"/>
            <a:ext cx="5458968" cy="329184"/>
          </a:xfrm>
          <a:prstGeom prst="rect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81928" y="3977639"/>
            <a:ext cx="52120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Infrastructure and verification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1928" y="4361687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Containers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800" y="4361687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Docker Compose: dev stack with localdb / audio / video profiles; production compose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81928" y="4668011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Edge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43800" y="4668011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Caddy 2 for TLS termination and static portal serving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81928" y="4974335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Orchestration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43800" y="4974335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concurrently starts 10 processes; setup-env.mjs mints per-machine secrets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81928" y="5280659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UI checks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43800" y="5280659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Headless Chrome over raw CDP: route health per role, signup flow, capture-to-export flow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1928" y="5586983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Proof scripts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43800" y="5586983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verify-export.js, verify-dsar.js, inspect-photo-provenance.js, preflight.js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81928" y="5893307"/>
            <a:ext cx="12344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1B2B"/>
                </a:solidFill>
                <a:latin typeface="Segoe UI"/>
              </a:rPr>
              <a:t>Compliance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43800" y="5893307"/>
            <a:ext cx="402336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B6475"/>
                </a:solidFill>
                <a:latin typeface="Segoe UI"/>
              </a:rPr>
              <a:t>DPDP Act: consent, rights requests, signed certificates, retention, breach records, audit and access logs, DPIA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D5BD6"/>
                </a:solidFill>
                <a:latin typeface="Segoe UI"/>
              </a:rPr>
              <a:t>7 - PATENTABILITY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41B2B"/>
                </a:solidFill>
                <a:latin typeface="Segoe UI"/>
              </a:rPr>
              <a:t>Patentability: five candidate inventions in what we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5"/>
                </a:solidFill>
                <a:latin typeface="Segoe UI"/>
              </a:rPr>
              <a:t>Assessment by the team, not legal advice. 'Strength' is our estimate of distance from the closest prior art; the IP team's search decides.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5B6475"/>
                </a:solidFill>
                <a:latin typeface="Segoe UI"/>
              </a:rPr>
              <a:t>17 / 19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536192"/>
          <a:ext cx="11064240" cy="38953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65960"/>
                <a:gridCol w="3246120"/>
                <a:gridCol w="1920240"/>
                <a:gridCol w="3063240"/>
                <a:gridCol w="8686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Candidate invention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What PRISM does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Closest prior art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Where the novelty sits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Strength</a:t>
                      </a:r>
                    </a:p>
                  </a:txBody>
                  <a:tcPr marL="73152" marR="73152" marT="36576" marB="36576" anchor="ctr">
                    <a:solidFill>
                      <a:srgbClr val="0F172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141B2B"/>
                          </a:solidFill>
                          <a:latin typeface="Segoe UI"/>
                        </a:rPr>
                        <a:t>1. Consent-keyed cryptographic erasure across multimodal derivatives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One HKDF-derived key per data principal seals every original, derivative, embedding and cache. Erasure destroys that key, purges vector-DB points, tombstones the item index and issues an Ed25519 certificate enumerating every location.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Crypto-shredding per user (well known); GDPR erasure tooling; certificate-of-destruction services.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Key scope bound to the consent record; shred extended to derived artefacts (per-person renders, video 'detected' derivative, Qdrant points); completeness proven by enumeration, not assertion.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141B2B"/>
                          </a:solidFill>
                          <a:latin typeface="Segoe UI"/>
                        </a:rPr>
                        <a:t>2. Time-domain fail-closed video redaction from a consent-derived box schedule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Strided detection, IoU tracking, sparse per-track embedding. Backend turns the consent matrix into a blur schedule; the worker executes it with tracks that coast (HOLD_SEC), boxes dilated and held past track ends, partial encodes deleted.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Automatic face blurring in video (YouTube, Google, Brighter AI); person tracking for redaction.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Redaction driven by per-identity consent state rather than 'blur all faces'; explicit fail-closed rules in the time axis; decision (backend) separated from execution (stateless worker).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141B2B"/>
                          </a:solidFill>
                          <a:latin typeface="Segoe UI"/>
                        </a:rPr>
                        <a:t>3. Detect / Decide / Redact architecture with consent-blind AI workers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Five stateless modality workers report findings and execute rectangle, interval or span lists. Only one component reads consent. Workers hold no database and no memory between calls.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Microservice ML pipelines; privacy-by-design architectures; policy decision / enforcement point separation (XACML).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PDP/PEP separation applied to biometric redaction so an ML fault cannot expose an unconsented person, with one uniform contract across image, video, audio and text.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Medium: strong as a system claim, weak alone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141B2B"/>
                          </a:solidFill>
                          <a:latin typeface="Segoe UI"/>
                        </a:rPr>
                        <a:t>4. Consent-bound provenance stamps on redacted exports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Every exported image carries an Ed25519-signed stamp in EXIF and XMP naming project, session, consent record and export-scoped pseudonyms. A photo found alone still proves lawful origin without revealing a name.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C2PA / Content Credentials; watermarking; signed manifests.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Signing the consent record, not just authorship; pseudonyms scoped per export so two exports cannot be joined; the mapping file inside the archive is the only key.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141B2B"/>
                          </a:solidFill>
                          <a:latin typeface="Segoe UI"/>
                        </a:rPr>
                        <a:t>5. Speaker-identity consent muting with ephemeral per-session voice galleries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Diarize, transcribe, match each speaker turn against enrolled ECAPA voice prints, mute turns of anyone without consent plus spoken PII, then destroy the session gallery at finalize.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Speaker diarization; voice-based redaction in call centres; PII masking in transcripts.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Per-turn consent decision keyed to enrolment, combined with a gallery lifetime bound to the session: data minimisation as a mechanism, not a policy.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5B6475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6035040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1">
                <a:solidFill>
                  <a:srgbClr val="5B6475"/>
                </a:solidFill>
                <a:latin typeface="Segoe UI"/>
              </a:rPr>
              <a:t>Weaker as stand-alone claims, useful as dependent claims: the principal-confirmed erasure gate, IMPORT_UNVERIFIED lawful-basis tagging on inbound files, policy-version freezing at approval, the nullable-session completeness rule in discovery.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D5BD6"/>
                </a:solidFill>
                <a:latin typeface="Segoe UI"/>
              </a:rPr>
              <a:t>7 - PATENTABILITY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41B2B"/>
                </a:solidFill>
                <a:latin typeface="Segoe UI"/>
              </a:rPr>
              <a:t>Patentability: the legal test, the drafting route, and timing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5"/>
                </a:solidFill>
                <a:latin typeface="Segoe UI"/>
              </a:rPr>
              <a:t>India, where Samsung R&amp;D Institute Bangalore would file first, has a specific bar for software. The claims have to be written for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5B6475"/>
                </a:solidFill>
                <a:latin typeface="Segoe UI"/>
              </a:rPr>
              <a:t>18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54864" cy="2331720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627632"/>
            <a:ext cx="3392424" cy="2240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41B2B"/>
                </a:solidFill>
                <a:latin typeface="Segoe UI"/>
              </a:rPr>
              <a:t>The Indian test: Section 3(k), Patents Act 1970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'A mathematical or business method or a computer programme per se or algorithms' is not an invention.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Not fatal for software. The 2017 CRI guidelines and Ferid Allani v Union of India (Delhi HC, 2019) let claims through when they show a technical effect or technical contribution beyond ordinary program execution.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Our technical effects: irreversible destruction proven by key erasure; a video file that cannot expose a face for a single frame; a redaction pipeline that cannot leak through a failed worker.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72768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72768"/>
            <a:ext cx="54864" cy="233172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627632"/>
            <a:ext cx="3392424" cy="2240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41B2B"/>
                </a:solidFill>
                <a:latin typeface="Segoe UI"/>
              </a:rPr>
              <a:t>How to draft so it passes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Claim the system and the method, not the software: 'a data processing system comprising a key store, a plurality of stateless redaction workers, a consent matrix...'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Lead with the technical problem: frame-level re-identification in redacted video, incomplete erasure of derived artefacts, an ML fault exposing unconsented persons.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Keep the DPDP purpose in the description and out of the claims. Compliance is a business benefit; the examiner scores the mechanism.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Candidates 1 and 2 are the strongest independent claims. 3, 4 and 5 work as dependent claims or a second filing.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572768"/>
            <a:ext cx="360273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572768"/>
            <a:ext cx="54864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627632"/>
            <a:ext cx="3383280" cy="2240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41B2B"/>
                </a:solidFill>
                <a:latin typeface="Segoe UI"/>
              </a:rPr>
              <a:t>Jurisdictions and the cost of waiting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India: no general grace period. A public disclosure (paper, public demo, open repository) before filing destroys novelty. Section 31 covers only exhibitions and learned-society papers, for 12 months.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USA: 12-month grace after the inventor's own disclosure (35 USC 102(b)(1)). Korea: 12 months. EPO: none.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5B6475"/>
                </a:solidFill>
                <a:latin typeface="Segoe UI"/>
              </a:rPr>
              <a:t>Practical rule: file an Indian provisional before anything leaves the mentors' review. Internal review under NDA is not a disclosure.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14800"/>
            <a:ext cx="21488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6656" y="4224528"/>
            <a:ext cx="329184" cy="32918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4224528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33672"/>
            <a:ext cx="15544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41B2B"/>
                </a:solidFill>
                <a:latin typeface="Segoe UI"/>
              </a:rPr>
              <a:t>Invention disclosure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4645152"/>
            <a:ext cx="1929384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60" b="0" i="0">
                <a:solidFill>
                  <a:srgbClr val="5B6475"/>
                </a:solidFill>
                <a:latin typeface="Segoe UI"/>
              </a:rPr>
              <a:t>One IDF per candidate through the SRIB IP portal. Inventors: everyone who contributed to the claimed mechanism, not the whole team.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96235" y="4114800"/>
            <a:ext cx="21488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5963" y="4224528"/>
            <a:ext cx="329184" cy="32918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5963" y="4224528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9155" y="4233672"/>
            <a:ext cx="15544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41B2B"/>
                </a:solidFill>
                <a:latin typeface="Segoe UI"/>
              </a:rPr>
              <a:t>Prior-art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5963" y="4645152"/>
            <a:ext cx="1929384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60" b="0" i="0">
                <a:solidFill>
                  <a:srgbClr val="5B6475"/>
                </a:solidFill>
                <a:latin typeface="Segoe UI"/>
              </a:rPr>
              <a:t>Terms: cryptographic erasure per data subject, consent-driven video redaction, face-track blur schedule, signed deletion certificate, provenance-signed pseudonymous export.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5542" y="4114800"/>
            <a:ext cx="21488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35270" y="4224528"/>
            <a:ext cx="329184" cy="32918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35270" y="4224528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28462" y="4233672"/>
            <a:ext cx="15544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41B2B"/>
                </a:solidFill>
                <a:latin typeface="Segoe UI"/>
              </a:rPr>
              <a:t>Evidence pack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5270" y="4645152"/>
            <a:ext cx="1929384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60" b="0" i="0">
                <a:solidFill>
                  <a:srgbClr val="5B6475"/>
                </a:solidFill>
                <a:latin typeface="Segoe UI"/>
              </a:rPr>
              <a:t>Commit history and dated design documents (DPIA, handoff notes, data-flow document) already fix conception dates. Export them with hashes.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54849" y="4114800"/>
            <a:ext cx="21488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64577" y="4224528"/>
            <a:ext cx="329184" cy="32918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4577" y="4224528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7769" y="4233672"/>
            <a:ext cx="15544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41B2B"/>
                </a:solidFill>
                <a:latin typeface="Segoe UI"/>
              </a:rPr>
              <a:t>Provisional filing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4577" y="4645152"/>
            <a:ext cx="1929384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60" b="0" i="0">
                <a:solidFill>
                  <a:srgbClr val="5B6475"/>
                </a:solidFill>
                <a:latin typeface="Segoe UI"/>
              </a:rPr>
              <a:t>An Indian provisional secures a priority date for 12 months while the complete specification is written; a PCT application within that year keeps US and KR open.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84156" y="4114800"/>
            <a:ext cx="21488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593884" y="4224528"/>
            <a:ext cx="329184" cy="32918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93884" y="4224528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7076" y="4233672"/>
            <a:ext cx="15544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41B2B"/>
                </a:solidFill>
                <a:latin typeface="Segoe UI"/>
              </a:rPr>
              <a:t>Publish after filing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3884" y="4645152"/>
            <a:ext cx="1929384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60" b="0" i="0">
                <a:solidFill>
                  <a:srgbClr val="5B6475"/>
                </a:solidFill>
                <a:latin typeface="Segoe UI"/>
              </a:rPr>
              <a:t>The monthly review deck, the model report and any paper go out only once the priority date exists.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D5BD6"/>
                </a:solidFill>
                <a:latin typeface="Segoe UI"/>
              </a:rPr>
              <a:t>8 - GLOSSARY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84048"/>
            <a:ext cx="50292" cy="566928"/>
          </a:xfrm>
          <a:prstGeom prst="rect">
            <a:avLst/>
          </a:prstGeom>
          <a:solidFill>
            <a:srgbClr val="1D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141B2B"/>
                </a:solidFill>
                <a:latin typeface="Segoe UI"/>
              </a:rPr>
              <a:t>Glossary: platform acronyms and DPDP Act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10972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B6475"/>
                </a:solidFill>
                <a:latin typeface="Segoe UI"/>
              </a:rPr>
              <a:t>Left: what our acronyms mean. Middle: terms that match the Digital Personal Data Protection Act, 2023. Right: terms in our UI that do not, and what the Act says instead.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5B6475"/>
                </a:solidFill>
                <a:latin typeface="Segoe UI"/>
              </a:rPr>
              <a:t>PRISM  ·  Project Review  ·  3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 i="0">
                <a:solidFill>
                  <a:srgbClr val="5B6475"/>
                </a:solidFill>
                <a:latin typeface="Segoe UI"/>
              </a:rPr>
              <a:t>19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00200"/>
            <a:ext cx="36118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00200"/>
            <a:ext cx="3611880" cy="310896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600200"/>
            <a:ext cx="36118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Platform acronyms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65960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DSAR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1965960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Data Subject Access Request: our name for any rights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92731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DPO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2192731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Data Protection Officer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19502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DPIA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2419502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Data Protection Impact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646273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SLA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2646273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Service Level Agreement: 7-day internal, 30-day statutory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873044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PII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2873044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Personally Identifiable Information (US/NIST term)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99815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OCR / 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" y="3099815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Optical Character Recognition / Named Entity Recognition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326586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KEK / DEK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8488" y="3326586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Key Encryption Key / per-subject Data Encryption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53357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HKDF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3553357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Derives each subject's DEK from the master KEK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80128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AES-256-GCM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8488" y="3780128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Authenticated encryption for every stored blob and vector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006899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Ed25519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4006899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Signatures on certificates, exports and image provenance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233670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HMAC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4233670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Keyed hash chaining the audit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460441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SHA-256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18488" y="4460441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Content hash recorded before a file is destroyed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687212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JWT / RBAC / OTP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18488" y="4687212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Session token / role-based access / one-time passcode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913983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SCRFD / ArcFace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18488" y="4913983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InsightFace face detector / 512-d face embedding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140754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ECAPA-TDNN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18488" y="5140754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SpeechBrain 192-d voice embedding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367525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BullMQ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18488" y="5367525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Redis-backed job queue for the seven backend workers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94296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Qdrant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18488" y="5594296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Vector database for session face and voice galleries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821067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EXIF / XMP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18488" y="5821067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Image metadata blocks carrying the provenance stamp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047838"/>
            <a:ext cx="1005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1B2B"/>
                </a:solidFill>
                <a:latin typeface="Segoe UI"/>
              </a:rPr>
              <a:t>QR / TTL / CDP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8488" y="6047838"/>
            <a:ext cx="2514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40" b="0" i="0">
                <a:solidFill>
                  <a:srgbClr val="5B6475"/>
                </a:solidFill>
                <a:latin typeface="Segoe UI"/>
              </a:rPr>
              <a:t>Invite code / retention time-to-live / Chrome DevTools Protocol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3108" y="1600200"/>
            <a:ext cx="36118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3108" y="1600200"/>
            <a:ext cx="3611880" cy="310896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4548" y="1600200"/>
            <a:ext cx="36118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DPDP Act 2023 terms we use correctly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4548" y="1965960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Data Principal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0428" y="1965960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§2(j) the individual. Used in the user portal and backend.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4548" y="2272284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Data Fiduciary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0428" y="2272284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§2(i) Samsung, who decides purpose and means. Certificate issuer.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4548" y="2578608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Data Processor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0428" y="2578608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§2(k) the AI workers processing on the fiduciary's behalf.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4548" y="2884932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Data Protection Officer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0428" y="2884932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§10(2)(a) mandatory for a Significant Data Fiduciary. Our DPO role.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4548" y="3191256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Notice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10428" y="3191256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§5 what the consent template renders, in the principal's language.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4548" y="3497580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Consent / withdrawal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0428" y="3497580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§6 free, specific, informed, unambiguous; withdrawal as easy as giving it.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84548" y="3803904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Right to access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0428" y="3803904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§11 the My Data summary and the ACCESS request.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4548" y="4110228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Correction and erasure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10428" y="4110228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§12(1) CORRECT and §12(3) ERASE requests.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84548" y="4416552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Grievance redressal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10428" y="4416552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§13 GRIEVANCE request; §8(10) mechanism; contact on every notice.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4548" y="4722876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Nominate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10428" y="4722876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§14 NOMINATION request.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84548" y="5029200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Personal data breach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10428" y="5029200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§2(u), §8(6) our breach records and runbook.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84548" y="5335524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Purpose limitation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10428" y="5335524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§4, §6 the DPO approval gate and frozen policy version.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84548" y="5641848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Significant Data Fiduciary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10428" y="5641848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§10 the category that makes a DPO and a DPIA mandatory.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84548" y="5948172"/>
            <a:ext cx="132588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30" b="1" i="0">
                <a:solidFill>
                  <a:srgbClr val="141B2B"/>
                </a:solidFill>
                <a:latin typeface="Segoe UI"/>
              </a:rPr>
              <a:t>Data Protection Board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10428" y="5948172"/>
            <a:ext cx="214884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 i="0">
                <a:solidFill>
                  <a:srgbClr val="5B6475"/>
                </a:solidFill>
                <a:latin typeface="Segoe UI"/>
              </a:rPr>
              <a:t>§18 the regulator. Not yet named in our notice: §5(1)(c) requires it.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19288" y="1600200"/>
            <a:ext cx="36118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19288" y="1600200"/>
            <a:ext cx="361188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10728" y="1600200"/>
            <a:ext cx="361188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Terms we use that are not DPDP terms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10728" y="2002536"/>
            <a:ext cx="45720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20456" y="1965960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 i="0">
                <a:solidFill>
                  <a:srgbClr val="141B2B"/>
                </a:solidFill>
                <a:latin typeface="Segoe UI"/>
              </a:rPr>
              <a:t>Consent Manager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0456" y="2139696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5B6475"/>
                </a:solidFill>
                <a:latin typeface="Segoe UI"/>
              </a:rPr>
              <a:t>In the Act (§2(g), §6(7)-(9)) a separate entity registered with the Board, acting for the principal. Our label 'Consent Manager v6.21' is a misuse. Say 'Consent Hub'.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10728" y="2578608"/>
            <a:ext cx="45720" cy="475488"/>
          </a:xfrm>
          <a:prstGeom prst="rect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20456" y="2542032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 i="0">
                <a:solidFill>
                  <a:srgbClr val="141B2B"/>
                </a:solidFill>
                <a:latin typeface="Segoe UI"/>
              </a:rPr>
              <a:t>Data Subject / Subject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0456" y="2715768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5B6475"/>
                </a:solidFill>
                <a:latin typeface="Segoe UI"/>
              </a:rPr>
              <a:t>GDPR term, used across the admin portal (Subject Verification, 'data subject request'). Act says Data Principal.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10728" y="3154680"/>
            <a:ext cx="45720" cy="475488"/>
          </a:xfrm>
          <a:prstGeom prst="rect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20456" y="3118104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 i="0">
                <a:solidFill>
                  <a:srgbClr val="141B2B"/>
                </a:solidFill>
                <a:latin typeface="Segoe UI"/>
              </a:rPr>
              <a:t>DSAR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20456" y="3291840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5B6475"/>
                </a:solidFill>
                <a:latin typeface="Segoe UI"/>
              </a:rPr>
              <a:t>GDPR acronym. The Act has no acronym and we also use it for erasure, grievance and nomination. Say 'rights request'.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110728" y="3730752"/>
            <a:ext cx="45720" cy="475488"/>
          </a:xfrm>
          <a:prstGeom prst="rect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20456" y="3694176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 i="0">
                <a:solidFill>
                  <a:srgbClr val="141B2B"/>
                </a:solidFill>
                <a:latin typeface="Segoe UI"/>
              </a:rPr>
              <a:t>PII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0456" y="3867912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5B6475"/>
                </a:solidFill>
                <a:latin typeface="Segoe UI"/>
              </a:rPr>
              <a:t>US/NIST term (47 UI uses, PiiStatus). Act says personal data §2(t).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10728" y="4306824"/>
            <a:ext cx="45720" cy="475488"/>
          </a:xfrm>
          <a:prstGeom prst="rect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20456" y="4270248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 i="0">
                <a:solidFill>
                  <a:srgbClr val="141B2B"/>
                </a:solidFill>
                <a:latin typeface="Segoe UI"/>
              </a:rPr>
              <a:t>Sensitive personal data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0456" y="4443984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5B6475"/>
                </a:solidFill>
                <a:latin typeface="Segoe UI"/>
              </a:rPr>
              <a:t>No such category in the 2023 Act (dropped from the 2019 bill).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110728" y="4882896"/>
            <a:ext cx="45720" cy="475488"/>
          </a:xfrm>
          <a:prstGeom prst="rect">
            <a:avLst/>
          </a:prstGeom>
          <a:solidFill>
            <a:srgbClr val="5B6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20456" y="4846320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 i="0">
                <a:solidFill>
                  <a:srgbClr val="141B2B"/>
                </a:solidFill>
                <a:latin typeface="Segoe UI"/>
              </a:rPr>
              <a:t>Data Owner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0456" y="5020056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5B6475"/>
                </a:solidFill>
                <a:latin typeface="Segoe UI"/>
              </a:rPr>
              <a:t>Internal role name. The Act avoids ownership language for personal data. 'Project Owner' is safer.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10728" y="5458968"/>
            <a:ext cx="45720" cy="475488"/>
          </a:xfrm>
          <a:prstGeom prst="rect">
            <a:avLst/>
          </a:prstGeom>
          <a:solidFill>
            <a:srgbClr val="5B64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0456" y="5422392"/>
            <a:ext cx="33375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 i="0">
                <a:solidFill>
                  <a:srgbClr val="141B2B"/>
                </a:solidFill>
                <a:latin typeface="Segoe UI"/>
              </a:rPr>
              <a:t>Data Admin, Collection Agent, Super Admin, Purge, Handoff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0456" y="5596128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5B6475"/>
                </a:solidFill>
                <a:latin typeface="Segoe UI"/>
              </a:rPr>
              <a:t>Internal operational names. No DPDP meaning either way; fine to keep.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10728" y="5971032"/>
            <a:ext cx="3429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1">
                <a:solidFill>
                  <a:srgbClr val="141B2B"/>
                </a:solidFill>
                <a:latin typeface="Segoe UI"/>
              </a:rPr>
              <a:t>Fix is display strings only: enum values (AdminRole, DsarType, PiiStatus) can stay, so migration risk is zero.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