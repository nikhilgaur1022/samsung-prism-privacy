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95360" y="-1097280"/>
            <a:ext cx="5486400" cy="5486400"/>
          </a:xfrm>
          <a:prstGeom prst="ellipse">
            <a:avLst/>
          </a:prstGeom>
          <a:solidFill>
            <a:srgbClr val="162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17320"/>
            <a:ext cx="9601200" cy="365760"/>
          </a:xfrm>
          <a:prstGeom prst="rect">
            <a:avLst/>
          </a:prstGeom>
          <a:noFill/>
        </p:spPr>
        <p:txBody>
          <a:bodyPr wrap="square" lIns="0" rIns="0" tIns="0" bIns="0" anchor="t">
            <a:spAutoFit/>
          </a:bodyPr>
          <a:lstStyle/>
          <a:p>
            <a:pPr algn="l">
              <a:lnSpc>
                <a:spcPct val="115000"/>
              </a:lnSpc>
            </a:pPr>
            <a:r>
              <a:rPr sz="1300" b="1">
                <a:solidFill>
                  <a:srgbClr val="7EA6F0"/>
                </a:solidFill>
                <a:latin typeface="Segoe UI"/>
              </a:rPr>
              <a:t>SAMSUNG PRISM  -  MONTHLY PROGRESS REVIEW</a:t>
            </a:r>
          </a:p>
        </p:txBody>
      </p:sp>
      <p:sp>
        <p:nvSpPr>
          <p:cNvPr id="6" name="TextBox 5"/>
          <p:cNvSpPr txBox="1"/>
          <p:nvPr/>
        </p:nvSpPr>
        <p:spPr>
          <a:xfrm>
            <a:off x="1051560" y="1920240"/>
            <a:ext cx="9692640" cy="1828800"/>
          </a:xfrm>
          <a:prstGeom prst="rect">
            <a:avLst/>
          </a:prstGeom>
          <a:noFill/>
        </p:spPr>
        <p:txBody>
          <a:bodyPr wrap="square" lIns="0" rIns="0" tIns="0" bIns="0" anchor="t">
            <a:spAutoFit/>
          </a:bodyPr>
          <a:lstStyle/>
          <a:p>
            <a:pPr algn="l">
              <a:lnSpc>
                <a:spcPct val="112000"/>
              </a:lnSpc>
            </a:pPr>
            <a:r>
              <a:rPr sz="6000" b="1">
                <a:solidFill>
                  <a:srgbClr val="FFFFFF"/>
                </a:solidFill>
                <a:latin typeface="Segoe UI"/>
              </a:rPr>
              <a:t>PRISM</a:t>
            </a:r>
          </a:p>
          <a:p>
            <a:pPr algn="l">
              <a:lnSpc>
                <a:spcPct val="112000"/>
              </a:lnSpc>
              <a:spcBef>
                <a:spcPts val="1400"/>
              </a:spcBef>
            </a:pPr>
            <a:r>
              <a:rPr sz="2000" b="0">
                <a:solidFill>
                  <a:srgbClr val="C3CDDF"/>
                </a:solidFill>
                <a:latin typeface="Segoe UI"/>
              </a:rPr>
              <a:t>A consent management and data-rights (DSAR) platform
built for India's DPDP Act, 2023</a:t>
            </a:r>
          </a:p>
        </p:txBody>
      </p:sp>
      <p:sp>
        <p:nvSpPr>
          <p:cNvPr id="7" name="Rectangle 6"/>
          <p:cNvSpPr/>
          <p:nvPr/>
        </p:nvSpPr>
        <p:spPr>
          <a:xfrm>
            <a:off x="1051560" y="4297680"/>
            <a:ext cx="2011680" cy="4114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590288"/>
            <a:ext cx="9601200" cy="1097280"/>
          </a:xfrm>
          <a:prstGeom prst="rect">
            <a:avLst/>
          </a:prstGeom>
          <a:noFill/>
        </p:spPr>
        <p:txBody>
          <a:bodyPr wrap="square" lIns="0" rIns="0" tIns="0" bIns="0" anchor="t">
            <a:spAutoFit/>
          </a:bodyPr>
          <a:lstStyle/>
          <a:p>
            <a:pPr algn="l">
              <a:lnSpc>
                <a:spcPct val="120000"/>
              </a:lnSpc>
            </a:pPr>
            <a:r>
              <a:rPr sz="1500" b="1">
                <a:solidFill>
                  <a:srgbClr val="FFFFFF"/>
                </a:solidFill>
                <a:latin typeface="Segoe UI"/>
              </a:rPr>
              <a:t>Reporting period:  19 July 2026  -  19 August 2026</a:t>
            </a:r>
          </a:p>
          <a:p>
            <a:pPr algn="l">
              <a:lnSpc>
                <a:spcPct val="120000"/>
              </a:lnSpc>
              <a:spcBef>
                <a:spcPts val="800"/>
              </a:spcBef>
            </a:pPr>
            <a:r>
              <a:rPr sz="1250" b="0">
                <a:solidFill>
                  <a:srgbClr val="9FADC4"/>
                </a:solidFill>
                <a:latin typeface="Segoe UI"/>
              </a:rPr>
              <a:t>Progress  |  KPIs  |  Model choices  |  Challenges  |  Results  |  Observations  |  Next two weeks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CONTEXT</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What PRISM does, in plain words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The problem</a:t>
            </a:r>
          </a:p>
          <a:p>
            <a:pPr algn="l">
              <a:lnSpc>
                <a:spcPct val="118000"/>
              </a:lnSpc>
              <a:spcBef>
                <a:spcPts val="300"/>
              </a:spcBef>
            </a:pPr>
            <a:r>
              <a:rPr sz="1300" b="0">
                <a:solidFill>
                  <a:srgbClr val="5B6472"/>
                </a:solidFill>
                <a:latin typeface="Segoe UI"/>
              </a:rPr>
              <a:t>Samsung collects photographs, audio, video and written transcripts of real people. The law says a person may ask what is held about them, and may ask for it to be deleted.</a:t>
            </a:r>
          </a:p>
        </p:txBody>
      </p:sp>
      <p:sp>
        <p:nvSpPr>
          <p:cNvPr id="9" name="Oval 8"/>
          <p:cNvSpPr/>
          <p:nvPr/>
        </p:nvSpPr>
        <p:spPr>
          <a:xfrm>
            <a:off x="658368" y="2638552"/>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65400"/>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What we built</a:t>
            </a:r>
          </a:p>
          <a:p>
            <a:pPr algn="l">
              <a:lnSpc>
                <a:spcPct val="118000"/>
              </a:lnSpc>
              <a:spcBef>
                <a:spcPts val="300"/>
              </a:spcBef>
            </a:pPr>
            <a:r>
              <a:rPr sz="1300" b="0">
                <a:solidFill>
                  <a:srgbClr val="5B6472"/>
                </a:solidFill>
                <a:latin typeface="Segoe UI"/>
              </a:rPr>
              <a:t>One platform that records consent before collection, hides anyone who did not consent, and can find and erase one person's data on request.</a:t>
            </a:r>
          </a:p>
        </p:txBody>
      </p:sp>
      <p:sp>
        <p:nvSpPr>
          <p:cNvPr id="11" name="Oval 10"/>
          <p:cNvSpPr/>
          <p:nvPr/>
        </p:nvSpPr>
        <p:spPr>
          <a:xfrm>
            <a:off x="658368" y="350774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434588"/>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Who uses it</a:t>
            </a:r>
          </a:p>
          <a:p>
            <a:pPr algn="l">
              <a:lnSpc>
                <a:spcPct val="118000"/>
              </a:lnSpc>
              <a:spcBef>
                <a:spcPts val="300"/>
              </a:spcBef>
            </a:pPr>
            <a:r>
              <a:rPr sz="1300" b="0">
                <a:solidFill>
                  <a:srgbClr val="5B6472"/>
                </a:solidFill>
                <a:latin typeface="Segoe UI"/>
              </a:rPr>
              <a:t>Five staff roles - DPO, Data Owner, Collection Agent, Data Admin, Platform Admin - and the person themselves, the Data Principal.</a:t>
            </a:r>
          </a:p>
        </p:txBody>
      </p:sp>
      <p:sp>
        <p:nvSpPr>
          <p:cNvPr id="13" name="Oval 12"/>
          <p:cNvSpPr/>
          <p:nvPr/>
        </p:nvSpPr>
        <p:spPr>
          <a:xfrm>
            <a:off x="658368" y="437692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303776"/>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Two apps</a:t>
            </a:r>
          </a:p>
          <a:p>
            <a:pPr algn="l">
              <a:lnSpc>
                <a:spcPct val="118000"/>
              </a:lnSpc>
              <a:spcBef>
                <a:spcPts val="300"/>
              </a:spcBef>
            </a:pPr>
            <a:r>
              <a:rPr sz="1300" b="0">
                <a:solidFill>
                  <a:srgbClr val="5B6472"/>
                </a:solidFill>
                <a:latin typeface="Segoe UI"/>
              </a:rPr>
              <a:t>An admin portal for staff, and a mobile-first portal so a person can see their own data and raise a request without asking anyone.</a:t>
            </a:r>
          </a:p>
        </p:txBody>
      </p:sp>
      <p:sp>
        <p:nvSpPr>
          <p:cNvPr id="15" name="Rectangle 14"/>
          <p:cNvSpPr/>
          <p:nvPr/>
        </p:nvSpPr>
        <p:spPr>
          <a:xfrm>
            <a:off x="6903720" y="1481328"/>
            <a:ext cx="4718304" cy="444398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1737360"/>
            <a:ext cx="4114800"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THE FLOW, END TO END</a:t>
            </a:r>
          </a:p>
        </p:txBody>
      </p:sp>
      <p:sp>
        <p:nvSpPr>
          <p:cNvPr id="17" name="Oval 16"/>
          <p:cNvSpPr/>
          <p:nvPr/>
        </p:nvSpPr>
        <p:spPr>
          <a:xfrm>
            <a:off x="7223760" y="2157984"/>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157984"/>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1</a:t>
            </a:r>
          </a:p>
        </p:txBody>
      </p:sp>
      <p:sp>
        <p:nvSpPr>
          <p:cNvPr id="19" name="TextBox 18"/>
          <p:cNvSpPr txBox="1"/>
          <p:nvPr/>
        </p:nvSpPr>
        <p:spPr>
          <a:xfrm>
            <a:off x="7626096" y="2139696"/>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Approve</a:t>
            </a:r>
          </a:p>
          <a:p>
            <a:pPr algn="l">
              <a:lnSpc>
                <a:spcPct val="112000"/>
              </a:lnSpc>
              <a:spcBef>
                <a:spcPts val="200"/>
              </a:spcBef>
            </a:pPr>
            <a:r>
              <a:rPr sz="1050" b="0">
                <a:solidFill>
                  <a:srgbClr val="5B6472"/>
                </a:solidFill>
                <a:latin typeface="Segoe UI"/>
              </a:rPr>
              <a:t>The DPO approves the project and its consent notice</a:t>
            </a:r>
          </a:p>
        </p:txBody>
      </p:sp>
      <p:sp>
        <p:nvSpPr>
          <p:cNvPr id="20" name="Oval 19"/>
          <p:cNvSpPr/>
          <p:nvPr/>
        </p:nvSpPr>
        <p:spPr>
          <a:xfrm>
            <a:off x="7223760" y="2779776"/>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2779776"/>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2</a:t>
            </a:r>
          </a:p>
        </p:txBody>
      </p:sp>
      <p:sp>
        <p:nvSpPr>
          <p:cNvPr id="22" name="TextBox 21"/>
          <p:cNvSpPr txBox="1"/>
          <p:nvPr/>
        </p:nvSpPr>
        <p:spPr>
          <a:xfrm>
            <a:off x="7626096" y="2761488"/>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Consent</a:t>
            </a:r>
          </a:p>
          <a:p>
            <a:pPr algn="l">
              <a:lnSpc>
                <a:spcPct val="112000"/>
              </a:lnSpc>
              <a:spcBef>
                <a:spcPts val="200"/>
              </a:spcBef>
            </a:pPr>
            <a:r>
              <a:rPr sz="1050" b="0">
                <a:solidFill>
                  <a:srgbClr val="5B6472"/>
                </a:solidFill>
                <a:latin typeface="Segoe UI"/>
              </a:rPr>
              <a:t>The person scans a QR code, reads the notice, signs consent</a:t>
            </a:r>
          </a:p>
        </p:txBody>
      </p:sp>
      <p:sp>
        <p:nvSpPr>
          <p:cNvPr id="23" name="Oval 22"/>
          <p:cNvSpPr/>
          <p:nvPr/>
        </p:nvSpPr>
        <p:spPr>
          <a:xfrm>
            <a:off x="7223760" y="3401568"/>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401568"/>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3</a:t>
            </a:r>
          </a:p>
        </p:txBody>
      </p:sp>
      <p:sp>
        <p:nvSpPr>
          <p:cNvPr id="25" name="TextBox 24"/>
          <p:cNvSpPr txBox="1"/>
          <p:nvPr/>
        </p:nvSpPr>
        <p:spPr>
          <a:xfrm>
            <a:off x="7626096" y="3383280"/>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Collect</a:t>
            </a:r>
          </a:p>
          <a:p>
            <a:pPr algn="l">
              <a:lnSpc>
                <a:spcPct val="112000"/>
              </a:lnSpc>
              <a:spcBef>
                <a:spcPts val="200"/>
              </a:spcBef>
            </a:pPr>
            <a:r>
              <a:rPr sz="1050" b="0">
                <a:solidFill>
                  <a:srgbClr val="5B6472"/>
                </a:solidFill>
                <a:latin typeface="Segoe UI"/>
              </a:rPr>
              <a:t>The agent captures images, audio or a written transcript</a:t>
            </a:r>
          </a:p>
        </p:txBody>
      </p:sp>
      <p:sp>
        <p:nvSpPr>
          <p:cNvPr id="26" name="Oval 25"/>
          <p:cNvSpPr/>
          <p:nvPr/>
        </p:nvSpPr>
        <p:spPr>
          <a:xfrm>
            <a:off x="7223760" y="4023360"/>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023360"/>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4</a:t>
            </a:r>
          </a:p>
        </p:txBody>
      </p:sp>
      <p:sp>
        <p:nvSpPr>
          <p:cNvPr id="28" name="TextBox 27"/>
          <p:cNvSpPr txBox="1"/>
          <p:nvPr/>
        </p:nvSpPr>
        <p:spPr>
          <a:xfrm>
            <a:off x="7626096" y="4005072"/>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Protect</a:t>
            </a:r>
          </a:p>
          <a:p>
            <a:pPr algn="l">
              <a:lnSpc>
                <a:spcPct val="112000"/>
              </a:lnSpc>
              <a:spcBef>
                <a:spcPts val="200"/>
              </a:spcBef>
            </a:pPr>
            <a:r>
              <a:rPr sz="1050" b="0">
                <a:solidFill>
                  <a:srgbClr val="5B6472"/>
                </a:solidFill>
                <a:latin typeface="Segoe UI"/>
              </a:rPr>
              <a:t>AI blurs faces, masks identity text, mutes unknown voices</a:t>
            </a:r>
          </a:p>
        </p:txBody>
      </p:sp>
      <p:sp>
        <p:nvSpPr>
          <p:cNvPr id="29" name="Oval 28"/>
          <p:cNvSpPr/>
          <p:nvPr/>
        </p:nvSpPr>
        <p:spPr>
          <a:xfrm>
            <a:off x="7223760" y="4645152"/>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4645152"/>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5</a:t>
            </a:r>
          </a:p>
        </p:txBody>
      </p:sp>
      <p:sp>
        <p:nvSpPr>
          <p:cNvPr id="31" name="TextBox 30"/>
          <p:cNvSpPr txBox="1"/>
          <p:nvPr/>
        </p:nvSpPr>
        <p:spPr>
          <a:xfrm>
            <a:off x="7626096" y="4626864"/>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Prove</a:t>
            </a:r>
          </a:p>
          <a:p>
            <a:pPr algn="l">
              <a:lnSpc>
                <a:spcPct val="112000"/>
              </a:lnSpc>
              <a:spcBef>
                <a:spcPts val="200"/>
              </a:spcBef>
            </a:pPr>
            <a:r>
              <a:rPr sz="1050" b="0">
                <a:solidFill>
                  <a:srgbClr val="5B6472"/>
                </a:solidFill>
                <a:latin typeface="Segoe UI"/>
              </a:rPr>
              <a:t>Every action is written to a tamper-evident audit chain</a:t>
            </a:r>
          </a:p>
        </p:txBody>
      </p:sp>
      <p:sp>
        <p:nvSpPr>
          <p:cNvPr id="32" name="Oval 31"/>
          <p:cNvSpPr/>
          <p:nvPr/>
        </p:nvSpPr>
        <p:spPr>
          <a:xfrm>
            <a:off x="7223760" y="5266944"/>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5266944"/>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6</a:t>
            </a:r>
          </a:p>
        </p:txBody>
      </p:sp>
      <p:sp>
        <p:nvSpPr>
          <p:cNvPr id="34" name="TextBox 33"/>
          <p:cNvSpPr txBox="1"/>
          <p:nvPr/>
        </p:nvSpPr>
        <p:spPr>
          <a:xfrm>
            <a:off x="7626096" y="5248656"/>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Erase</a:t>
            </a:r>
          </a:p>
          <a:p>
            <a:pPr algn="l">
              <a:lnSpc>
                <a:spcPct val="112000"/>
              </a:lnSpc>
              <a:spcBef>
                <a:spcPts val="200"/>
              </a:spcBef>
            </a:pPr>
            <a:r>
              <a:rPr sz="1050" b="0">
                <a:solidFill>
                  <a:srgbClr val="5B6472"/>
                </a:solidFill>
                <a:latin typeface="Segoe UI"/>
              </a:rPr>
              <a:t>A request finds the data, exports or deletes it, and signs a certificate</a:t>
            </a:r>
          </a:p>
        </p:txBody>
      </p:sp>
      <p:sp>
        <p:nvSpPr>
          <p:cNvPr id="35" name="TextBox 3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36" name="TextBox 3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1 - PROGRESS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Last month's progress at a glance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44752"/>
            <a:ext cx="160020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44752"/>
            <a:ext cx="1362456" cy="384048"/>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Dates</a:t>
            </a:r>
          </a:p>
        </p:txBody>
      </p:sp>
      <p:sp>
        <p:nvSpPr>
          <p:cNvPr id="9" name="Rectangle 8"/>
          <p:cNvSpPr/>
          <p:nvPr/>
        </p:nvSpPr>
        <p:spPr>
          <a:xfrm>
            <a:off x="2258568" y="1444752"/>
            <a:ext cx="278892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444752"/>
            <a:ext cx="2551176" cy="384048"/>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Milestone</a:t>
            </a:r>
          </a:p>
        </p:txBody>
      </p:sp>
      <p:sp>
        <p:nvSpPr>
          <p:cNvPr id="11" name="Rectangle 10"/>
          <p:cNvSpPr/>
          <p:nvPr/>
        </p:nvSpPr>
        <p:spPr>
          <a:xfrm>
            <a:off x="5047488" y="1444752"/>
            <a:ext cx="649224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1444752"/>
            <a:ext cx="6254496" cy="384048"/>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What it means</a:t>
            </a:r>
          </a:p>
        </p:txBody>
      </p:sp>
      <p:sp>
        <p:nvSpPr>
          <p:cNvPr id="13" name="Rectangle 12"/>
          <p:cNvSpPr/>
          <p:nvPr/>
        </p:nvSpPr>
        <p:spPr>
          <a:xfrm>
            <a:off x="658368" y="1828800"/>
            <a:ext cx="160020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828800"/>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19 - 28 Jul</a:t>
            </a:r>
          </a:p>
        </p:txBody>
      </p:sp>
      <p:sp>
        <p:nvSpPr>
          <p:cNvPr id="15" name="Rectangle 14"/>
          <p:cNvSpPr/>
          <p:nvPr/>
        </p:nvSpPr>
        <p:spPr>
          <a:xfrm>
            <a:off x="2258568" y="1828800"/>
            <a:ext cx="278892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77440" y="1828800"/>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Core platform (waves 0-6)</a:t>
            </a:r>
          </a:p>
        </p:txBody>
      </p:sp>
      <p:sp>
        <p:nvSpPr>
          <p:cNvPr id="17" name="Rectangle 16"/>
          <p:cNvSpPr/>
          <p:nvPr/>
        </p:nvSpPr>
        <p:spPr>
          <a:xfrm>
            <a:off x="5047488" y="1828800"/>
            <a:ext cx="649224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1828800"/>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Projects, consent notices, capture sessions, face redaction, identity-text masking, audit chain, least-privilege database role</a:t>
            </a:r>
          </a:p>
        </p:txBody>
      </p:sp>
      <p:sp>
        <p:nvSpPr>
          <p:cNvPr id="19" name="Rectangle 18"/>
          <p:cNvSpPr/>
          <p:nvPr/>
        </p:nvSpPr>
        <p:spPr>
          <a:xfrm>
            <a:off x="658368" y="2395728"/>
            <a:ext cx="160020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395728"/>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28 Jul - 1 Aug</a:t>
            </a:r>
          </a:p>
        </p:txBody>
      </p:sp>
      <p:sp>
        <p:nvSpPr>
          <p:cNvPr id="21" name="Rectangle 20"/>
          <p:cNvSpPr/>
          <p:nvPr/>
        </p:nvSpPr>
        <p:spPr>
          <a:xfrm>
            <a:off x="2258568" y="2395728"/>
            <a:ext cx="278892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77440" y="2395728"/>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DSAR system completed</a:t>
            </a:r>
          </a:p>
        </p:txBody>
      </p:sp>
      <p:sp>
        <p:nvSpPr>
          <p:cNvPr id="23" name="Rectangle 22"/>
          <p:cNvSpPr/>
          <p:nvPr/>
        </p:nvSpPr>
        <p:spPr>
          <a:xfrm>
            <a:off x="5047488" y="2395728"/>
            <a:ext cx="649224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2395728"/>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All 9 planned phases: item index, import path, per-item search and actions, scoped purge, export packages, request timeline</a:t>
            </a:r>
          </a:p>
        </p:txBody>
      </p:sp>
      <p:sp>
        <p:nvSpPr>
          <p:cNvPr id="25" name="Rectangle 24"/>
          <p:cNvSpPr/>
          <p:nvPr/>
        </p:nvSpPr>
        <p:spPr>
          <a:xfrm>
            <a:off x="658368" y="2962656"/>
            <a:ext cx="160020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962656"/>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1 - 16 Aug</a:t>
            </a:r>
          </a:p>
        </p:txBody>
      </p:sp>
      <p:sp>
        <p:nvSpPr>
          <p:cNvPr id="27" name="Rectangle 26"/>
          <p:cNvSpPr/>
          <p:nvPr/>
        </p:nvSpPr>
        <p:spPr>
          <a:xfrm>
            <a:off x="2258568" y="2962656"/>
            <a:ext cx="278892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77440" y="2962656"/>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 pipeline and hardening</a:t>
            </a:r>
          </a:p>
        </p:txBody>
      </p:sp>
      <p:sp>
        <p:nvSpPr>
          <p:cNvPr id="29" name="Rectangle 28"/>
          <p:cNvSpPr/>
          <p:nvPr/>
        </p:nvSpPr>
        <p:spPr>
          <a:xfrm>
            <a:off x="5047488" y="2962656"/>
            <a:ext cx="649224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60" y="2962656"/>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 worker built; production-readiness Phase 0 (security blockers) and Phase 1 (role model) closed</a:t>
            </a:r>
          </a:p>
        </p:txBody>
      </p:sp>
      <p:sp>
        <p:nvSpPr>
          <p:cNvPr id="31" name="Rectangle 30"/>
          <p:cNvSpPr/>
          <p:nvPr/>
        </p:nvSpPr>
        <p:spPr>
          <a:xfrm>
            <a:off x="658368" y="3529584"/>
            <a:ext cx="160020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3529584"/>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16 - 17 Aug</a:t>
            </a:r>
          </a:p>
        </p:txBody>
      </p:sp>
      <p:sp>
        <p:nvSpPr>
          <p:cNvPr id="33" name="Rectangle 32"/>
          <p:cNvSpPr/>
          <p:nvPr/>
        </p:nvSpPr>
        <p:spPr>
          <a:xfrm>
            <a:off x="2258568" y="3529584"/>
            <a:ext cx="278892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77440" y="3529584"/>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Voice made first-class</a:t>
            </a:r>
          </a:p>
        </p:txBody>
      </p:sp>
      <p:sp>
        <p:nvSpPr>
          <p:cNvPr id="35" name="Rectangle 34"/>
          <p:cNvSpPr/>
          <p:nvPr/>
        </p:nvSpPr>
        <p:spPr>
          <a:xfrm>
            <a:off x="5047488" y="3529584"/>
            <a:ext cx="649224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6360" y="3529584"/>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Voice enrollment stored and erasable, gallery-based speaker matching, audio wired into retention and purge</a:t>
            </a:r>
          </a:p>
        </p:txBody>
      </p:sp>
      <p:sp>
        <p:nvSpPr>
          <p:cNvPr id="37" name="Rectangle 36"/>
          <p:cNvSpPr/>
          <p:nvPr/>
        </p:nvSpPr>
        <p:spPr>
          <a:xfrm>
            <a:off x="658368" y="4096512"/>
            <a:ext cx="160020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096512"/>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18 - 19 Aug</a:t>
            </a:r>
          </a:p>
        </p:txBody>
      </p:sp>
      <p:sp>
        <p:nvSpPr>
          <p:cNvPr id="39" name="Rectangle 38"/>
          <p:cNvSpPr/>
          <p:nvPr/>
        </p:nvSpPr>
        <p:spPr>
          <a:xfrm>
            <a:off x="2258568" y="4096512"/>
            <a:ext cx="278892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77440" y="4096512"/>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 proved, text pipeline added</a:t>
            </a:r>
          </a:p>
        </p:txBody>
      </p:sp>
      <p:sp>
        <p:nvSpPr>
          <p:cNvPr id="41" name="Rectangle 40"/>
          <p:cNvSpPr/>
          <p:nvPr/>
        </p:nvSpPr>
        <p:spPr>
          <a:xfrm>
            <a:off x="5047488" y="4096512"/>
            <a:ext cx="649224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4096512"/>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The audio pipeline run end to end on a real recording for the first time; a third capture type for written transcripts, redacted with Presidio and spaCy</a:t>
            </a:r>
          </a:p>
        </p:txBody>
      </p:sp>
      <p:sp>
        <p:nvSpPr>
          <p:cNvPr id="43" name="Rectangle 42"/>
          <p:cNvSpPr/>
          <p:nvPr/>
        </p:nvSpPr>
        <p:spPr>
          <a:xfrm>
            <a:off x="658368" y="4663440"/>
            <a:ext cx="160020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4663440"/>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18 - 19 Aug</a:t>
            </a:r>
          </a:p>
        </p:txBody>
      </p:sp>
      <p:sp>
        <p:nvSpPr>
          <p:cNvPr id="45" name="Rectangle 44"/>
          <p:cNvSpPr/>
          <p:nvPr/>
        </p:nvSpPr>
        <p:spPr>
          <a:xfrm>
            <a:off x="2258568" y="4663440"/>
            <a:ext cx="278892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77440" y="4663440"/>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 capture started</a:t>
            </a:r>
          </a:p>
        </p:txBody>
      </p:sp>
      <p:sp>
        <p:nvSpPr>
          <p:cNvPr id="47" name="Rectangle 46"/>
          <p:cNvSpPr/>
          <p:nvPr/>
        </p:nvSpPr>
        <p:spPr>
          <a:xfrm>
            <a:off x="5047488" y="4663440"/>
            <a:ext cx="649224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66360" y="4663440"/>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New video tables, upload route, and a worker that tracks faces across frames and blurs them</a:t>
            </a:r>
          </a:p>
        </p:txBody>
      </p:sp>
      <p:sp>
        <p:nvSpPr>
          <p:cNvPr id="49" name="Rectangle 48"/>
          <p:cNvSpPr/>
          <p:nvPr/>
        </p:nvSpPr>
        <p:spPr>
          <a:xfrm>
            <a:off x="658368" y="5486400"/>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486400"/>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Headline: the platform now runs end to end for images, audio and written text - approve, consent, collect, protect, prove, erase. Video is the leg currently being built.</a:t>
            </a:r>
          </a:p>
        </p:txBody>
      </p:sp>
      <p:sp>
        <p:nvSpPr>
          <p:cNvPr id="51" name="TextBox 5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52" name="TextBox 5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1 - PROGRESS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What we actually shipped</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520293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Bringing in a person's existing data</a:t>
            </a:r>
          </a:p>
          <a:p>
            <a:pPr algn="l">
              <a:lnSpc>
                <a:spcPct val="118000"/>
              </a:lnSpc>
              <a:spcBef>
                <a:spcPts val="300"/>
              </a:spcBef>
            </a:pPr>
            <a:r>
              <a:rPr sz="1400" b="0">
                <a:solidFill>
                  <a:srgbClr val="5B6472"/>
                </a:solidFill>
                <a:latin typeface="Segoe UI"/>
              </a:rPr>
              <a:t>Before, a photo could only enter through a live session, so older material was invisible to a data request. Admins can now import it, and the missing consent is recorded honestly rather than hidden.</a:t>
            </a:r>
          </a:p>
        </p:txBody>
      </p:sp>
      <p:sp>
        <p:nvSpPr>
          <p:cNvPr id="9" name="Oval 8"/>
          <p:cNvSpPr/>
          <p:nvPr/>
        </p:nvSpPr>
        <p:spPr>
          <a:xfrm>
            <a:off x="658368" y="2967736"/>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894584"/>
            <a:ext cx="520293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Search and act on one item at a time</a:t>
            </a:r>
          </a:p>
          <a:p>
            <a:pPr algn="l">
              <a:lnSpc>
                <a:spcPct val="118000"/>
              </a:lnSpc>
              <a:spcBef>
                <a:spcPts val="300"/>
              </a:spcBef>
            </a:pPr>
            <a:r>
              <a:rPr sz="1400" b="0">
                <a:solidFill>
                  <a:srgbClr val="5B6472"/>
                </a:solidFill>
                <a:latin typeface="Segoe UI"/>
              </a:rPr>
              <a:t>A paged, filterable list of everything held about a person, with redact, delete or mark-for-export on a single item or on a whole selection.</a:t>
            </a:r>
          </a:p>
        </p:txBody>
      </p:sp>
      <p:sp>
        <p:nvSpPr>
          <p:cNvPr id="11" name="Oval 10"/>
          <p:cNvSpPr/>
          <p:nvPr/>
        </p:nvSpPr>
        <p:spPr>
          <a:xfrm>
            <a:off x="658368" y="416610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092956"/>
            <a:ext cx="520293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Erasure that can be proved</a:t>
            </a:r>
          </a:p>
          <a:p>
            <a:pPr algn="l">
              <a:lnSpc>
                <a:spcPct val="118000"/>
              </a:lnSpc>
              <a:spcBef>
                <a:spcPts val="300"/>
              </a:spcBef>
            </a:pPr>
            <a:r>
              <a:rPr sz="1400" b="0">
                <a:solidFill>
                  <a:srgbClr val="5B6472"/>
                </a:solidFill>
                <a:latin typeface="Segoe UI"/>
              </a:rPr>
              <a:t>Per-item deletes reuse the same purge engine as a full erasure, and the request closes with a signed deletion certificate.</a:t>
            </a:r>
          </a:p>
        </p:txBody>
      </p:sp>
      <p:sp>
        <p:nvSpPr>
          <p:cNvPr id="13" name="Oval 12"/>
          <p:cNvSpPr/>
          <p:nvPr/>
        </p:nvSpPr>
        <p:spPr>
          <a:xfrm>
            <a:off x="6355080"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81328"/>
            <a:ext cx="502005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Audio, proved on a real recording</a:t>
            </a:r>
          </a:p>
          <a:p>
            <a:pPr algn="l">
              <a:lnSpc>
                <a:spcPct val="118000"/>
              </a:lnSpc>
              <a:spcBef>
                <a:spcPts val="300"/>
              </a:spcBef>
            </a:pPr>
            <a:r>
              <a:rPr sz="1400" b="0">
                <a:solidFill>
                  <a:srgbClr val="5B6472"/>
                </a:solidFill>
                <a:latin typeface="Segoe UI"/>
              </a:rPr>
              <a:t>A 1 minute 49 second clip: two speakers separated, the consented speaker kept, the unknown speaker muted, and ten spoken-PII spans muted automatically.</a:t>
            </a:r>
          </a:p>
        </p:txBody>
      </p:sp>
      <p:sp>
        <p:nvSpPr>
          <p:cNvPr id="15" name="Oval 14"/>
          <p:cNvSpPr/>
          <p:nvPr/>
        </p:nvSpPr>
        <p:spPr>
          <a:xfrm>
            <a:off x="6355080" y="2752852"/>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2679700"/>
            <a:ext cx="502005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Written text as a third capture type</a:t>
            </a:r>
          </a:p>
          <a:p>
            <a:pPr algn="l">
              <a:lnSpc>
                <a:spcPct val="118000"/>
              </a:lnSpc>
              <a:spcBef>
                <a:spcPts val="300"/>
              </a:spcBef>
            </a:pPr>
            <a:r>
              <a:rPr sz="1400" b="0">
                <a:solidFill>
                  <a:srgbClr val="5B6472"/>
                </a:solidFill>
                <a:latin typeface="Segoe UI"/>
              </a:rPr>
              <a:t>A transcript can now be pasted or uploaded, quotes tagged to the person who said them, and names, emails and numbers masked with Presidio and spaCy.</a:t>
            </a:r>
          </a:p>
        </p:txBody>
      </p:sp>
      <p:sp>
        <p:nvSpPr>
          <p:cNvPr id="17" name="Oval 16"/>
          <p:cNvSpPr/>
          <p:nvPr/>
        </p:nvSpPr>
        <p:spPr>
          <a:xfrm>
            <a:off x="6355080" y="3951224"/>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3878072"/>
            <a:ext cx="502005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Voice prints are now erasable</a:t>
            </a:r>
          </a:p>
          <a:p>
            <a:pPr algn="l">
              <a:lnSpc>
                <a:spcPct val="118000"/>
              </a:lnSpc>
              <a:spcBef>
                <a:spcPts val="300"/>
              </a:spcBef>
            </a:pPr>
            <a:r>
              <a:rPr sz="1400" b="0">
                <a:solidFill>
                  <a:srgbClr val="5B6472"/>
                </a:solidFill>
                <a:latin typeface="Segoe UI"/>
              </a:rPr>
              <a:t>Previously a voice print had no database row of its own, so an erasure had nothing to delete. It is now stored, encrypted and shredded like any other identifier.</a:t>
            </a:r>
          </a:p>
        </p:txBody>
      </p:sp>
      <p:sp>
        <p:nvSpPr>
          <p:cNvPr id="19" name="TextBox 1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20" name="TextBox 1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2 - KPIS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KPIs against the milestones in the worklet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08176"/>
            <a:ext cx="384048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08176"/>
            <a:ext cx="360273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KPI</a:t>
            </a:r>
          </a:p>
        </p:txBody>
      </p:sp>
      <p:sp>
        <p:nvSpPr>
          <p:cNvPr id="9" name="Rectangle 8"/>
          <p:cNvSpPr/>
          <p:nvPr/>
        </p:nvSpPr>
        <p:spPr>
          <a:xfrm>
            <a:off x="4498848" y="1408176"/>
            <a:ext cx="228600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408176"/>
            <a:ext cx="204825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Milestone target</a:t>
            </a:r>
          </a:p>
        </p:txBody>
      </p:sp>
      <p:sp>
        <p:nvSpPr>
          <p:cNvPr id="11" name="Rectangle 10"/>
          <p:cNvSpPr/>
          <p:nvPr/>
        </p:nvSpPr>
        <p:spPr>
          <a:xfrm>
            <a:off x="6784848" y="1408176"/>
            <a:ext cx="475488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1408176"/>
            <a:ext cx="451713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Achieved as of 19 August 2026</a:t>
            </a:r>
          </a:p>
        </p:txBody>
      </p:sp>
      <p:sp>
        <p:nvSpPr>
          <p:cNvPr id="13" name="Rectangle 12"/>
          <p:cNvSpPr/>
          <p:nvPr/>
        </p:nvSpPr>
        <p:spPr>
          <a:xfrm>
            <a:off x="658368" y="1792224"/>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792224"/>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DSAR plan phases delivered</a:t>
            </a:r>
          </a:p>
        </p:txBody>
      </p:sp>
      <p:sp>
        <p:nvSpPr>
          <p:cNvPr id="15" name="Rectangle 14"/>
          <p:cNvSpPr/>
          <p:nvPr/>
        </p:nvSpPr>
        <p:spPr>
          <a:xfrm>
            <a:off x="4498848" y="1792224"/>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792224"/>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9 of 9</a:t>
            </a:r>
          </a:p>
        </p:txBody>
      </p:sp>
      <p:sp>
        <p:nvSpPr>
          <p:cNvPr id="17" name="Rectangle 16"/>
          <p:cNvSpPr/>
          <p:nvPr/>
        </p:nvSpPr>
        <p:spPr>
          <a:xfrm>
            <a:off x="6784848" y="1792224"/>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1792224"/>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9 of 9 - complete</a:t>
            </a:r>
          </a:p>
        </p:txBody>
      </p:sp>
      <p:sp>
        <p:nvSpPr>
          <p:cNvPr id="19" name="Rectangle 18"/>
          <p:cNvSpPr/>
          <p:nvPr/>
        </p:nvSpPr>
        <p:spPr>
          <a:xfrm>
            <a:off x="658368" y="2144268"/>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144268"/>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Production-readiness phases</a:t>
            </a:r>
          </a:p>
        </p:txBody>
      </p:sp>
      <p:sp>
        <p:nvSpPr>
          <p:cNvPr id="21" name="Rectangle 20"/>
          <p:cNvSpPr/>
          <p:nvPr/>
        </p:nvSpPr>
        <p:spPr>
          <a:xfrm>
            <a:off x="4498848" y="2144268"/>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144268"/>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6 planned</a:t>
            </a:r>
          </a:p>
        </p:txBody>
      </p:sp>
      <p:sp>
        <p:nvSpPr>
          <p:cNvPr id="23" name="Rectangle 22"/>
          <p:cNvSpPr/>
          <p:nvPr/>
        </p:nvSpPr>
        <p:spPr>
          <a:xfrm>
            <a:off x="6784848" y="2144268"/>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2144268"/>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3 done (0, 1, 2) - Phase 3 next</a:t>
            </a:r>
          </a:p>
        </p:txBody>
      </p:sp>
      <p:sp>
        <p:nvSpPr>
          <p:cNvPr id="25" name="Rectangle 24"/>
          <p:cNvSpPr/>
          <p:nvPr/>
        </p:nvSpPr>
        <p:spPr>
          <a:xfrm>
            <a:off x="658368" y="2496312"/>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496312"/>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Capture types delivered</a:t>
            </a:r>
          </a:p>
        </p:txBody>
      </p:sp>
      <p:sp>
        <p:nvSpPr>
          <p:cNvPr id="27" name="Rectangle 26"/>
          <p:cNvSpPr/>
          <p:nvPr/>
        </p:nvSpPr>
        <p:spPr>
          <a:xfrm>
            <a:off x="4498848" y="2496312"/>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2496312"/>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2 (image, audio)</a:t>
            </a:r>
          </a:p>
        </p:txBody>
      </p:sp>
      <p:sp>
        <p:nvSpPr>
          <p:cNvPr id="29" name="Rectangle 28"/>
          <p:cNvSpPr/>
          <p:nvPr/>
        </p:nvSpPr>
        <p:spPr>
          <a:xfrm>
            <a:off x="6784848" y="2496312"/>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03720" y="2496312"/>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3 live - image, audio, text - video in progress</a:t>
            </a:r>
          </a:p>
        </p:txBody>
      </p:sp>
      <p:sp>
        <p:nvSpPr>
          <p:cNvPr id="31" name="Rectangle 30"/>
          <p:cNvSpPr/>
          <p:nvPr/>
        </p:nvSpPr>
        <p:spPr>
          <a:xfrm>
            <a:off x="658368" y="2848356"/>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2848356"/>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Audio pipeline verified</a:t>
            </a:r>
          </a:p>
        </p:txBody>
      </p:sp>
      <p:sp>
        <p:nvSpPr>
          <p:cNvPr id="33" name="Rectangle 32"/>
          <p:cNvSpPr/>
          <p:nvPr/>
        </p:nvSpPr>
        <p:spPr>
          <a:xfrm>
            <a:off x="4498848" y="2848356"/>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17720" y="2848356"/>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Built</a:t>
            </a:r>
          </a:p>
        </p:txBody>
      </p:sp>
      <p:sp>
        <p:nvSpPr>
          <p:cNvPr id="35" name="Rectangle 34"/>
          <p:cNvSpPr/>
          <p:nvPr/>
        </p:nvSpPr>
        <p:spPr>
          <a:xfrm>
            <a:off x="6784848" y="2848356"/>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03720" y="2848356"/>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Verified on a real 1:49 recording</a:t>
            </a:r>
          </a:p>
        </p:txBody>
      </p:sp>
      <p:sp>
        <p:nvSpPr>
          <p:cNvPr id="37" name="Rectangle 36"/>
          <p:cNvSpPr/>
          <p:nvPr/>
        </p:nvSpPr>
        <p:spPr>
          <a:xfrm>
            <a:off x="658368" y="3200400"/>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3200400"/>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Automated tests passing</a:t>
            </a:r>
          </a:p>
        </p:txBody>
      </p:sp>
      <p:sp>
        <p:nvSpPr>
          <p:cNvPr id="39" name="Rectangle 38"/>
          <p:cNvSpPr/>
          <p:nvPr/>
        </p:nvSpPr>
        <p:spPr>
          <a:xfrm>
            <a:off x="4498848" y="3200400"/>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3200400"/>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No regression</a:t>
            </a:r>
          </a:p>
        </p:txBody>
      </p:sp>
      <p:sp>
        <p:nvSpPr>
          <p:cNvPr id="41" name="Rectangle 40"/>
          <p:cNvSpPr/>
          <p:nvPr/>
        </p:nvSpPr>
        <p:spPr>
          <a:xfrm>
            <a:off x="6784848" y="3200400"/>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03720" y="3200400"/>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123 / 123 - 0 failures</a:t>
            </a:r>
          </a:p>
        </p:txBody>
      </p:sp>
      <p:sp>
        <p:nvSpPr>
          <p:cNvPr id="43" name="Rectangle 42"/>
          <p:cNvSpPr/>
          <p:nvPr/>
        </p:nvSpPr>
        <p:spPr>
          <a:xfrm>
            <a:off x="658368" y="3552444"/>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3552444"/>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Model stacks benchmarked</a:t>
            </a:r>
          </a:p>
        </p:txBody>
      </p:sp>
      <p:sp>
        <p:nvSpPr>
          <p:cNvPr id="45" name="Rectangle 44"/>
          <p:cNvSpPr/>
          <p:nvPr/>
        </p:nvSpPr>
        <p:spPr>
          <a:xfrm>
            <a:off x="4498848" y="3552444"/>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3552444"/>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t>
            </a:r>
          </a:p>
        </p:txBody>
      </p:sp>
      <p:sp>
        <p:nvSpPr>
          <p:cNvPr id="47" name="Rectangle 46"/>
          <p:cNvSpPr/>
          <p:nvPr/>
        </p:nvSpPr>
        <p:spPr>
          <a:xfrm>
            <a:off x="6784848" y="3552444"/>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03720" y="3552444"/>
            <a:ext cx="45171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3 - faces, text in images, audio</a:t>
            </a:r>
          </a:p>
        </p:txBody>
      </p:sp>
      <p:sp>
        <p:nvSpPr>
          <p:cNvPr id="49" name="Rectangle 48"/>
          <p:cNvSpPr/>
          <p:nvPr/>
        </p:nvSpPr>
        <p:spPr>
          <a:xfrm>
            <a:off x="658368" y="3904488"/>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3904488"/>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REST endpoints live</a:t>
            </a:r>
          </a:p>
        </p:txBody>
      </p:sp>
      <p:sp>
        <p:nvSpPr>
          <p:cNvPr id="51" name="Rectangle 50"/>
          <p:cNvSpPr/>
          <p:nvPr/>
        </p:nvSpPr>
        <p:spPr>
          <a:xfrm>
            <a:off x="4498848" y="3904488"/>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3904488"/>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t>
            </a:r>
          </a:p>
        </p:txBody>
      </p:sp>
      <p:sp>
        <p:nvSpPr>
          <p:cNvPr id="53" name="Rectangle 52"/>
          <p:cNvSpPr/>
          <p:nvPr/>
        </p:nvSpPr>
        <p:spPr>
          <a:xfrm>
            <a:off x="6784848" y="3904488"/>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03720" y="3904488"/>
            <a:ext cx="45171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109 across 17 route modules</a:t>
            </a:r>
          </a:p>
        </p:txBody>
      </p:sp>
      <p:sp>
        <p:nvSpPr>
          <p:cNvPr id="55" name="Rectangle 54"/>
          <p:cNvSpPr/>
          <p:nvPr/>
        </p:nvSpPr>
        <p:spPr>
          <a:xfrm>
            <a:off x="658368" y="4256532"/>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7240" y="4256532"/>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Database model</a:t>
            </a:r>
          </a:p>
        </p:txBody>
      </p:sp>
      <p:sp>
        <p:nvSpPr>
          <p:cNvPr id="57" name="Rectangle 56"/>
          <p:cNvSpPr/>
          <p:nvPr/>
        </p:nvSpPr>
        <p:spPr>
          <a:xfrm>
            <a:off x="4498848" y="4256532"/>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17720" y="4256532"/>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t>
            </a:r>
          </a:p>
        </p:txBody>
      </p:sp>
      <p:sp>
        <p:nvSpPr>
          <p:cNvPr id="59" name="Rectangle 58"/>
          <p:cNvSpPr/>
          <p:nvPr/>
        </p:nvSpPr>
        <p:spPr>
          <a:xfrm>
            <a:off x="6784848" y="4256532"/>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03720" y="4256532"/>
            <a:ext cx="45171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39 tables - 19 migrations - row-level security on</a:t>
            </a:r>
          </a:p>
        </p:txBody>
      </p:sp>
      <p:sp>
        <p:nvSpPr>
          <p:cNvPr id="61" name="Rectangle 60"/>
          <p:cNvSpPr/>
          <p:nvPr/>
        </p:nvSpPr>
        <p:spPr>
          <a:xfrm>
            <a:off x="658368" y="4608576"/>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7240" y="4608576"/>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AI workers built</a:t>
            </a:r>
          </a:p>
        </p:txBody>
      </p:sp>
      <p:sp>
        <p:nvSpPr>
          <p:cNvPr id="63" name="Rectangle 62"/>
          <p:cNvSpPr/>
          <p:nvPr/>
        </p:nvSpPr>
        <p:spPr>
          <a:xfrm>
            <a:off x="4498848" y="4608576"/>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17720" y="4608576"/>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4</a:t>
            </a:r>
          </a:p>
        </p:txBody>
      </p:sp>
      <p:sp>
        <p:nvSpPr>
          <p:cNvPr id="65" name="Rectangle 64"/>
          <p:cNvSpPr/>
          <p:nvPr/>
        </p:nvSpPr>
        <p:spPr>
          <a:xfrm>
            <a:off x="6784848" y="4608576"/>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903720" y="4608576"/>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4 - face, image-PII, audio, video</a:t>
            </a:r>
          </a:p>
        </p:txBody>
      </p:sp>
      <p:sp>
        <p:nvSpPr>
          <p:cNvPr id="67" name="Rectangle 66"/>
          <p:cNvSpPr/>
          <p:nvPr/>
        </p:nvSpPr>
        <p:spPr>
          <a:xfrm>
            <a:off x="658368" y="4960620"/>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4960620"/>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Admin screens delivered</a:t>
            </a:r>
          </a:p>
        </p:txBody>
      </p:sp>
      <p:sp>
        <p:nvSpPr>
          <p:cNvPr id="69" name="Rectangle 68"/>
          <p:cNvSpPr/>
          <p:nvPr/>
        </p:nvSpPr>
        <p:spPr>
          <a:xfrm>
            <a:off x="4498848" y="4960620"/>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17720" y="4960620"/>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22</a:t>
            </a:r>
          </a:p>
        </p:txBody>
      </p:sp>
      <p:sp>
        <p:nvSpPr>
          <p:cNvPr id="71" name="Rectangle 70"/>
          <p:cNvSpPr/>
          <p:nvPr/>
        </p:nvSpPr>
        <p:spPr>
          <a:xfrm>
            <a:off x="6784848" y="4960620"/>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03720" y="4960620"/>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22 screens - 5 roles - plus the person-facing portal</a:t>
            </a:r>
          </a:p>
        </p:txBody>
      </p:sp>
      <p:sp>
        <p:nvSpPr>
          <p:cNvPr id="73" name="Rectangle 72"/>
          <p:cNvSpPr/>
          <p:nvPr/>
        </p:nvSpPr>
        <p:spPr>
          <a:xfrm>
            <a:off x="658368" y="5312664"/>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77240" y="5312664"/>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Access events recorded</a:t>
            </a:r>
          </a:p>
        </p:txBody>
      </p:sp>
      <p:sp>
        <p:nvSpPr>
          <p:cNvPr id="75" name="Rectangle 74"/>
          <p:cNvSpPr/>
          <p:nvPr/>
        </p:nvSpPr>
        <p:spPr>
          <a:xfrm>
            <a:off x="4498848" y="5312664"/>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17720" y="5312664"/>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100%</a:t>
            </a:r>
          </a:p>
        </p:txBody>
      </p:sp>
      <p:sp>
        <p:nvSpPr>
          <p:cNvPr id="77" name="Rectangle 76"/>
          <p:cNvSpPr/>
          <p:nvPr/>
        </p:nvSpPr>
        <p:spPr>
          <a:xfrm>
            <a:off x="6784848" y="5312664"/>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03720" y="5312664"/>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2,525 recorded - 0 break-glass reads</a:t>
            </a:r>
          </a:p>
        </p:txBody>
      </p:sp>
      <p:sp>
        <p:nvSpPr>
          <p:cNvPr id="79" name="Rectangle 78"/>
          <p:cNvSpPr/>
          <p:nvPr/>
        </p:nvSpPr>
        <p:spPr>
          <a:xfrm>
            <a:off x="658368" y="5664708"/>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 y="5664708"/>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Frames released without redaction</a:t>
            </a:r>
          </a:p>
        </p:txBody>
      </p:sp>
      <p:sp>
        <p:nvSpPr>
          <p:cNvPr id="81" name="Rectangle 80"/>
          <p:cNvSpPr/>
          <p:nvPr/>
        </p:nvSpPr>
        <p:spPr>
          <a:xfrm>
            <a:off x="4498848" y="5664708"/>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617720" y="5664708"/>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0</a:t>
            </a:r>
          </a:p>
        </p:txBody>
      </p:sp>
      <p:sp>
        <p:nvSpPr>
          <p:cNvPr id="83" name="Rectangle 82"/>
          <p:cNvSpPr/>
          <p:nvPr/>
        </p:nvSpPr>
        <p:spPr>
          <a:xfrm>
            <a:off x="6784848" y="5664708"/>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03720" y="5664708"/>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0 - the fail-closed rule held</a:t>
            </a:r>
          </a:p>
        </p:txBody>
      </p:sp>
      <p:sp>
        <p:nvSpPr>
          <p:cNvPr id="85" name="TextBox 8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86" name="TextBox 8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2788920"/>
            <a:ext cx="1463040"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35808"/>
            <a:ext cx="10058400" cy="1280160"/>
          </a:xfrm>
          <a:prstGeom prst="rect">
            <a:avLst/>
          </a:prstGeom>
          <a:noFill/>
        </p:spPr>
        <p:txBody>
          <a:bodyPr wrap="square" lIns="0" rIns="0" tIns="0" bIns="0" anchor="t">
            <a:spAutoFit/>
          </a:bodyPr>
          <a:lstStyle/>
          <a:p>
            <a:pPr algn="l">
              <a:lnSpc>
                <a:spcPct val="115000"/>
              </a:lnSpc>
            </a:pPr>
            <a:r>
              <a:rPr sz="4000" b="1">
                <a:solidFill>
                  <a:srgbClr val="FFFFFF"/>
                </a:solidFill>
                <a:latin typeface="Segoe UI"/>
              </a:rPr>
              <a:t>The working system</a:t>
            </a:r>
          </a:p>
          <a:p>
            <a:pPr algn="l">
              <a:lnSpc>
                <a:spcPct val="115000"/>
              </a:lnSpc>
              <a:spcBef>
                <a:spcPts val="1200"/>
              </a:spcBef>
            </a:pPr>
            <a:r>
              <a:rPr sz="1500" b="0">
                <a:solidFill>
                  <a:srgbClr val="9FADC4"/>
                </a:solidFill>
                <a:latin typeface="Segoe UI"/>
              </a:rPr>
              <a:t>Screenshots taken from the running platform on 19 August 2026 - real data, not mock-ups</a:t>
            </a:r>
          </a:p>
        </p:txBody>
      </p:sp>
      <p:sp>
        <p:nvSpPr>
          <p:cNvPr id="6" name="TextBox 5"/>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7" name="TextBox 6"/>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Platform overview and the request queue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02-dashboard.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Platform Administration - live counts of accounts, projects, people and open requests</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14-dsar-queue.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DSAR Dashboard - every request, the stage it is at, and its legal deadline</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Governance - nothing is collected before it is approved</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03-project-approvals.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Project Approvals - the DPO approves a project and its purpose before any collection can start</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04-consent-templates.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Consent Templates - the exact notice a person reads, versioned and frozen once published</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COLLECTION AGENT</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Three kinds of data, one set of rules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7924" y="1545336"/>
            <a:ext cx="5930208" cy="3995927"/>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5.png"/>
          <p:cNvPicPr>
            <a:picLocks noChangeAspect="1"/>
          </p:cNvPicPr>
          <p:nvPr/>
        </p:nvPicPr>
        <p:blipFill>
          <a:blip r:embed="rId2"/>
          <a:stretch>
            <a:fillRect/>
          </a:stretch>
        </p:blipFill>
        <p:spPr>
          <a:xfrm>
            <a:off x="697068" y="1554480"/>
            <a:ext cx="5911920" cy="3977639"/>
          </a:xfrm>
          <a:prstGeom prst="rect">
            <a:avLst/>
          </a:prstGeom>
        </p:spPr>
      </p:pic>
      <p:sp>
        <p:nvSpPr>
          <p:cNvPr id="9" name="TextBox 8"/>
          <p:cNvSpPr txBox="1"/>
          <p:nvPr/>
        </p:nvSpPr>
        <p:spPr>
          <a:xfrm>
            <a:off x="658368" y="5641847"/>
            <a:ext cx="598932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Starting a session - the agent picks the kind of data being collected</a:t>
            </a:r>
          </a:p>
        </p:txBody>
      </p:sp>
      <p:sp>
        <p:nvSpPr>
          <p:cNvPr id="10" name="Rectangle 9"/>
          <p:cNvSpPr/>
          <p:nvPr/>
        </p:nvSpPr>
        <p:spPr>
          <a:xfrm>
            <a:off x="7086600" y="1554480"/>
            <a:ext cx="4544568" cy="397763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810512"/>
            <a:ext cx="399592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ONE PLATFORM, THREE PIPELINES</a:t>
            </a:r>
          </a:p>
        </p:txBody>
      </p:sp>
      <p:sp>
        <p:nvSpPr>
          <p:cNvPr id="12" name="TextBox 11"/>
          <p:cNvSpPr txBox="1"/>
          <p:nvPr/>
        </p:nvSpPr>
        <p:spPr>
          <a:xfrm>
            <a:off x="7360920" y="2176272"/>
            <a:ext cx="3995928" cy="3099815"/>
          </a:xfrm>
          <a:prstGeom prst="rect">
            <a:avLst/>
          </a:prstGeom>
          <a:noFill/>
        </p:spPr>
        <p:txBody>
          <a:bodyPr wrap="square" lIns="0" rIns="0" tIns="0" bIns="0" anchor="t">
            <a:spAutoFit/>
          </a:bodyPr>
          <a:lstStyle/>
          <a:p>
            <a:pPr algn="l">
              <a:lnSpc>
                <a:spcPct val="122000"/>
              </a:lnSpc>
            </a:pPr>
            <a:r>
              <a:rPr sz="1350" b="1">
                <a:solidFill>
                  <a:srgbClr val="141B2B"/>
                </a:solidFill>
                <a:latin typeface="Segoe UI"/>
              </a:rPr>
              <a:t>Image</a:t>
            </a:r>
          </a:p>
          <a:p>
            <a:pPr algn="l">
              <a:lnSpc>
                <a:spcPct val="122000"/>
              </a:lnSpc>
              <a:spcBef>
                <a:spcPts val="300"/>
              </a:spcBef>
            </a:pPr>
            <a:r>
              <a:rPr sz="1150" b="0">
                <a:solidFill>
                  <a:srgbClr val="5B6472"/>
                </a:solidFill>
                <a:latin typeface="Segoe UI"/>
              </a:rPr>
              <a:t>Faces detected, matched against the people who consented, and blurred if they did not. Identity text in the frame is masked separately.</a:t>
            </a:r>
          </a:p>
          <a:p>
            <a:pPr algn="l">
              <a:lnSpc>
                <a:spcPct val="122000"/>
              </a:lnSpc>
              <a:spcBef>
                <a:spcPts val="1200"/>
              </a:spcBef>
            </a:pPr>
            <a:r>
              <a:rPr sz="1350" b="1">
                <a:solidFill>
                  <a:srgbClr val="141B2B"/>
                </a:solidFill>
                <a:latin typeface="Segoe UI"/>
              </a:rPr>
              <a:t>Audio</a:t>
            </a:r>
          </a:p>
          <a:p>
            <a:pPr algn="l">
              <a:lnSpc>
                <a:spcPct val="122000"/>
              </a:lnSpc>
              <a:spcBef>
                <a:spcPts val="300"/>
              </a:spcBef>
            </a:pPr>
            <a:r>
              <a:rPr sz="1150" b="0">
                <a:solidFill>
                  <a:srgbClr val="5B6472"/>
                </a:solidFill>
                <a:latin typeface="Segoe UI"/>
              </a:rPr>
              <a:t>The recording is split by speaker, each speaker is matched to a consented person, and unknown voices are muted. Spoken names, numbers and card details are muted too.</a:t>
            </a:r>
          </a:p>
          <a:p>
            <a:pPr algn="l">
              <a:lnSpc>
                <a:spcPct val="122000"/>
              </a:lnSpc>
              <a:spcBef>
                <a:spcPts val="1200"/>
              </a:spcBef>
            </a:pPr>
            <a:r>
              <a:rPr sz="1350" b="1">
                <a:solidFill>
                  <a:srgbClr val="141B2B"/>
                </a:solidFill>
                <a:latin typeface="Segoe UI"/>
              </a:rPr>
              <a:t>Text</a:t>
            </a:r>
          </a:p>
          <a:p>
            <a:pPr algn="l">
              <a:lnSpc>
                <a:spcPct val="122000"/>
              </a:lnSpc>
              <a:spcBef>
                <a:spcPts val="300"/>
              </a:spcBef>
            </a:pPr>
            <a:r>
              <a:rPr sz="1150" b="0">
                <a:solidFill>
                  <a:srgbClr val="5B6472"/>
                </a:solidFill>
                <a:latin typeface="Segoe UI"/>
              </a:rPr>
              <a:t>Quotes are tagged to the person who said them. Anything not tagged to a consented person is redacted, and names, emails and phone numbers are masked automatically.</a:t>
            </a:r>
          </a:p>
          <a:p>
            <a:pPr algn="l">
              <a:lnSpc>
                <a:spcPct val="122000"/>
              </a:lnSpc>
              <a:spcBef>
                <a:spcPts val="1200"/>
              </a:spcBef>
            </a:pPr>
            <a:r>
              <a:rPr sz="1150" b="1">
                <a:solidFill>
                  <a:srgbClr val="14398C"/>
                </a:solidFill>
                <a:latin typeface="Segoe UI"/>
              </a:rPr>
              <a:t>The same consent record, the same audit chain and the same erasure engine sit behind all three.</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Collection and hand-off</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10-sessions.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Sessions - every capture session an agent has run, and the stage it has reached</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16-discovery-workspace.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Hand-off queue - a session only moves on once its frames are redacted and linked to consent</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Fail-closed, seen in the product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6569" y="1472184"/>
            <a:ext cx="6567317" cy="413308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tail-session-photos.png"/>
          <p:cNvPicPr>
            <a:picLocks noChangeAspect="1"/>
          </p:cNvPicPr>
          <p:nvPr/>
        </p:nvPicPr>
        <p:blipFill>
          <a:blip r:embed="rId2"/>
          <a:stretch>
            <a:fillRect/>
          </a:stretch>
        </p:blipFill>
        <p:spPr>
          <a:xfrm>
            <a:off x="835713" y="1481328"/>
            <a:ext cx="6549029" cy="4114800"/>
          </a:xfrm>
          <a:prstGeom prst="rect">
            <a:avLst/>
          </a:prstGeom>
        </p:spPr>
      </p:pic>
      <p:sp>
        <p:nvSpPr>
          <p:cNvPr id="9" name="Rectangle 8"/>
          <p:cNvSpPr/>
          <p:nvPr/>
        </p:nvSpPr>
        <p:spPr>
          <a:xfrm>
            <a:off x="7818120" y="1481328"/>
            <a:ext cx="3813048" cy="4114800"/>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737360"/>
            <a:ext cx="326440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WHAT THIS SCREEN PROVES</a:t>
            </a:r>
          </a:p>
        </p:txBody>
      </p:sp>
      <p:sp>
        <p:nvSpPr>
          <p:cNvPr id="11" name="TextBox 10"/>
          <p:cNvSpPr txBox="1"/>
          <p:nvPr/>
        </p:nvSpPr>
        <p:spPr>
          <a:xfrm>
            <a:off x="8092440" y="2103120"/>
            <a:ext cx="3264408" cy="3236976"/>
          </a:xfrm>
          <a:prstGeom prst="rect">
            <a:avLst/>
          </a:prstGeom>
          <a:noFill/>
        </p:spPr>
        <p:txBody>
          <a:bodyPr wrap="square" lIns="0" rIns="0" tIns="0" bIns="0" anchor="t">
            <a:spAutoFit/>
          </a:bodyPr>
          <a:lstStyle/>
          <a:p>
            <a:pPr algn="l">
              <a:lnSpc>
                <a:spcPct val="122000"/>
              </a:lnSpc>
            </a:pPr>
            <a:r>
              <a:rPr sz="1300" b="1">
                <a:solidFill>
                  <a:srgbClr val="141B2B"/>
                </a:solidFill>
                <a:latin typeface="Segoe UI"/>
              </a:rPr>
              <a:t>The AI redaction workers were switched off when this screenshot was taken.</a:t>
            </a:r>
          </a:p>
          <a:p>
            <a:pPr algn="l">
              <a:lnSpc>
                <a:spcPct val="122000"/>
              </a:lnSpc>
              <a:spcBef>
                <a:spcPts val="900"/>
              </a:spcBef>
            </a:pPr>
            <a:r>
              <a:rPr sz="1200" b="0">
                <a:solidFill>
                  <a:srgbClr val="5B6472"/>
                </a:solidFill>
                <a:latin typeface="Segoe UI"/>
              </a:rPr>
              <a:t>The platform did not fall back to showing the original photographs. It refused to show anything, and it blocked the session from moving forward.</a:t>
            </a:r>
          </a:p>
          <a:p>
            <a:pPr algn="l">
              <a:lnSpc>
                <a:spcPct val="122000"/>
              </a:lnSpc>
              <a:spcBef>
                <a:spcPts val="900"/>
              </a:spcBef>
            </a:pPr>
            <a:r>
              <a:rPr sz="1200" b="0">
                <a:solidFill>
                  <a:srgbClr val="5B6472"/>
                </a:solidFill>
                <a:latin typeface="Segoe UI"/>
              </a:rPr>
              <a:t>"The worker is down" and "the worker found nothing" must never lead to the same outcome. That rule is enforced in the pipeline, in the queue, and here in the interface.</a:t>
            </a:r>
          </a:p>
        </p:txBody>
      </p:sp>
      <p:sp>
        <p:nvSpPr>
          <p:cNvPr id="12" name="TextBox 1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3" name="TextBox 1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AUDIO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Audio - capture and analysis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545336"/>
            <a:ext cx="7562088" cy="3566336"/>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6m.png"/>
          <p:cNvPicPr>
            <a:picLocks noChangeAspect="1"/>
          </p:cNvPicPr>
          <p:nvPr/>
        </p:nvPicPr>
        <p:blipFill>
          <a:blip r:embed="rId2"/>
          <a:stretch>
            <a:fillRect/>
          </a:stretch>
        </p:blipFill>
        <p:spPr>
          <a:xfrm>
            <a:off x="658368" y="1554480"/>
            <a:ext cx="7543800" cy="3548048"/>
          </a:xfrm>
          <a:prstGeom prst="rect">
            <a:avLst/>
          </a:prstGeom>
        </p:spPr>
      </p:pic>
      <p:sp>
        <p:nvSpPr>
          <p:cNvPr id="9" name="Rectangle 8"/>
          <p:cNvSpPr/>
          <p:nvPr/>
        </p:nvSpPr>
        <p:spPr>
          <a:xfrm>
            <a:off x="8458200" y="1554480"/>
            <a:ext cx="3172968" cy="3886200"/>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810512"/>
            <a:ext cx="262432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WHAT HAPPENS HERE</a:t>
            </a:r>
          </a:p>
        </p:txBody>
      </p:sp>
      <p:sp>
        <p:nvSpPr>
          <p:cNvPr id="11" name="TextBox 10"/>
          <p:cNvSpPr txBox="1"/>
          <p:nvPr/>
        </p:nvSpPr>
        <p:spPr>
          <a:xfrm>
            <a:off x="8732520" y="2176272"/>
            <a:ext cx="2624328" cy="3008376"/>
          </a:xfrm>
          <a:prstGeom prst="rect">
            <a:avLst/>
          </a:prstGeom>
          <a:noFill/>
        </p:spPr>
        <p:txBody>
          <a:bodyPr wrap="square" lIns="0" rIns="0" tIns="0" bIns="0" anchor="t">
            <a:spAutoFit/>
          </a:bodyPr>
          <a:lstStyle/>
          <a:p>
            <a:pPr algn="l">
              <a:lnSpc>
                <a:spcPct val="122000"/>
              </a:lnSpc>
            </a:pPr>
            <a:r>
              <a:rPr sz="1250" b="1">
                <a:solidFill>
                  <a:srgbClr val="141B2B"/>
                </a:solidFill>
                <a:latin typeface="Segoe UI"/>
              </a:rPr>
              <a:t>The agent records live, or uploads a multi-speaker file.</a:t>
            </a:r>
          </a:p>
          <a:p>
            <a:pPr algn="l">
              <a:lnSpc>
                <a:spcPct val="122000"/>
              </a:lnSpc>
              <a:spcBef>
                <a:spcPts val="800"/>
              </a:spcBef>
            </a:pPr>
            <a:r>
              <a:rPr sz="1150" b="0">
                <a:solidFill>
                  <a:srgbClr val="5B6472"/>
                </a:solidFill>
                <a:latin typeface="Segoe UI"/>
              </a:rPr>
              <a:t>Everyone in the room joins the session roster by scanning the QR code and giving consent on their own phone.</a:t>
            </a:r>
          </a:p>
          <a:p>
            <a:pPr algn="l">
              <a:lnSpc>
                <a:spcPct val="122000"/>
              </a:lnSpc>
              <a:spcBef>
                <a:spcPts val="800"/>
              </a:spcBef>
            </a:pPr>
            <a:r>
              <a:rPr sz="1150" b="0">
                <a:solidFill>
                  <a:srgbClr val="5B6472"/>
                </a:solidFill>
                <a:latin typeface="Segoe UI"/>
              </a:rPr>
              <a:t>Nothing is analysed automatically. Until the pipeline is run, the recording is marked Pending and is playable only as the unredacted original, which is access-logged.</a:t>
            </a:r>
          </a:p>
        </p:txBody>
      </p:sp>
      <p:sp>
        <p:nvSpPr>
          <p:cNvPr id="12" name="TextBox 11"/>
          <p:cNvSpPr txBox="1"/>
          <p:nvPr/>
        </p:nvSpPr>
        <p:spPr>
          <a:xfrm>
            <a:off x="658368" y="5632704"/>
            <a:ext cx="10881360" cy="365760"/>
          </a:xfrm>
          <a:prstGeom prst="rect">
            <a:avLst/>
          </a:prstGeom>
          <a:noFill/>
        </p:spPr>
        <p:txBody>
          <a:bodyPr wrap="square" lIns="0" rIns="0" tIns="0" bIns="0" anchor="t">
            <a:spAutoFit/>
          </a:bodyPr>
          <a:lstStyle/>
          <a:p>
            <a:pPr algn="ctr">
              <a:lnSpc>
                <a:spcPct val="115000"/>
              </a:lnSpc>
            </a:pPr>
            <a:r>
              <a:rPr sz="1050" b="0">
                <a:solidFill>
                  <a:srgbClr val="5B6472"/>
                </a:solidFill>
                <a:latin typeface="Segoe UI"/>
              </a:rPr>
              <a:t>Audio session AUD-9466 - one recording pending analysis, one consented participant on the roster</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AUDIO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Audio - every turn is decided, and the reason is recorded</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314" y="1472184"/>
            <a:ext cx="5057347"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png"/>
          <p:cNvPicPr>
            <a:picLocks noChangeAspect="1"/>
          </p:cNvPicPr>
          <p:nvPr/>
        </p:nvPicPr>
        <p:blipFill>
          <a:blip r:embed="rId2"/>
          <a:stretch>
            <a:fillRect/>
          </a:stretch>
        </p:blipFill>
        <p:spPr>
          <a:xfrm>
            <a:off x="813458" y="1481328"/>
            <a:ext cx="5039059" cy="3703320"/>
          </a:xfrm>
          <a:prstGeom prst="rect">
            <a:avLst/>
          </a:prstGeom>
        </p:spPr>
      </p:pic>
      <p:sp>
        <p:nvSpPr>
          <p:cNvPr id="9" name="TextBox 8"/>
          <p:cNvSpPr txBox="1"/>
          <p:nvPr/>
        </p:nvSpPr>
        <p:spPr>
          <a:xfrm>
            <a:off x="658368" y="5294376"/>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Speaker turns - SPEAKER_00 matched the consented person and was kept; SPEAKER_01 did not match anyone and was muted</a:t>
            </a:r>
          </a:p>
        </p:txBody>
      </p:sp>
      <p:sp>
        <p:nvSpPr>
          <p:cNvPr id="10" name="Rectangle 9"/>
          <p:cNvSpPr/>
          <p:nvPr/>
        </p:nvSpPr>
        <p:spPr>
          <a:xfrm>
            <a:off x="6543467" y="1472184"/>
            <a:ext cx="4881026"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0.png"/>
          <p:cNvPicPr>
            <a:picLocks noChangeAspect="1"/>
          </p:cNvPicPr>
          <p:nvPr/>
        </p:nvPicPr>
        <p:blipFill>
          <a:blip r:embed="rId3"/>
          <a:stretch>
            <a:fillRect/>
          </a:stretch>
        </p:blipFill>
        <p:spPr>
          <a:xfrm>
            <a:off x="6552611" y="1481328"/>
            <a:ext cx="4862738" cy="3703320"/>
          </a:xfrm>
          <a:prstGeom prst="rect">
            <a:avLst/>
          </a:prstGeom>
        </p:spPr>
      </p:pic>
      <p:sp>
        <p:nvSpPr>
          <p:cNvPr id="12" name="TextBox 11"/>
          <p:cNvSpPr txBox="1"/>
          <p:nvPr/>
        </p:nvSpPr>
        <p:spPr>
          <a:xfrm>
            <a:off x="6355080" y="5294376"/>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Spoken PII - names, locations, dates, a phone number and a card number, each muted with the reason stored</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AUDIO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Audio - original and redacted, side by side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314" y="1472184"/>
            <a:ext cx="5057347"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7.png"/>
          <p:cNvPicPr>
            <a:picLocks noChangeAspect="1"/>
          </p:cNvPicPr>
          <p:nvPr/>
        </p:nvPicPr>
        <p:blipFill>
          <a:blip r:embed="rId2"/>
          <a:stretch>
            <a:fillRect/>
          </a:stretch>
        </p:blipFill>
        <p:spPr>
          <a:xfrm>
            <a:off x="813458" y="1481328"/>
            <a:ext cx="5039059" cy="3703320"/>
          </a:xfrm>
          <a:prstGeom prst="rect">
            <a:avLst/>
          </a:prstGeom>
        </p:spPr>
      </p:pic>
      <p:sp>
        <p:nvSpPr>
          <p:cNvPr id="9" name="TextBox 8"/>
          <p:cNvSpPr txBox="1"/>
          <p:nvPr/>
        </p:nvSpPr>
        <p:spPr>
          <a:xfrm>
            <a:off x="658368" y="5294376"/>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Before - the original recording, played only with an access log entry</a:t>
            </a:r>
          </a:p>
        </p:txBody>
      </p:sp>
      <p:sp>
        <p:nvSpPr>
          <p:cNvPr id="10" name="Rectangle 9"/>
          <p:cNvSpPr/>
          <p:nvPr/>
        </p:nvSpPr>
        <p:spPr>
          <a:xfrm>
            <a:off x="6543467" y="1472184"/>
            <a:ext cx="4881026"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9.png"/>
          <p:cNvPicPr>
            <a:picLocks noChangeAspect="1"/>
          </p:cNvPicPr>
          <p:nvPr/>
        </p:nvPicPr>
        <p:blipFill>
          <a:blip r:embed="rId3"/>
          <a:stretch>
            <a:fillRect/>
          </a:stretch>
        </p:blipFill>
        <p:spPr>
          <a:xfrm>
            <a:off x="6552611" y="1481328"/>
            <a:ext cx="4862738" cy="3703320"/>
          </a:xfrm>
          <a:prstGeom prst="rect">
            <a:avLst/>
          </a:prstGeom>
        </p:spPr>
      </p:pic>
      <p:sp>
        <p:nvSpPr>
          <p:cNvPr id="12" name="TextBox 11"/>
          <p:cNvSpPr txBox="1"/>
          <p:nvPr/>
        </p:nvSpPr>
        <p:spPr>
          <a:xfrm>
            <a:off x="6355080" y="5294376"/>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After - the redacted copy: green is consented speech, red is an unknown voice, amber is spoken PII</a:t>
            </a:r>
          </a:p>
        </p:txBody>
      </p:sp>
      <p:sp>
        <p:nvSpPr>
          <p:cNvPr id="13" name="TextBox 12"/>
          <p:cNvSpPr txBox="1"/>
          <p:nvPr/>
        </p:nvSpPr>
        <p:spPr>
          <a:xfrm>
            <a:off x="658368" y="5815584"/>
            <a:ext cx="10881360" cy="457200"/>
          </a:xfrm>
          <a:prstGeom prst="rect">
            <a:avLst/>
          </a:prstGeom>
          <a:noFill/>
        </p:spPr>
        <p:txBody>
          <a:bodyPr wrap="square" lIns="0" rIns="0" tIns="0" bIns="0" anchor="t">
            <a:spAutoFit/>
          </a:bodyPr>
          <a:lstStyle/>
          <a:p>
            <a:pPr algn="ctr">
              <a:lnSpc>
                <a:spcPct val="115000"/>
              </a:lnSpc>
            </a:pPr>
            <a:r>
              <a:rPr sz="1200" b="1">
                <a:solidFill>
                  <a:srgbClr val="14398C"/>
                </a:solidFill>
                <a:latin typeface="Segoe UI"/>
              </a:rPr>
              <a:t>4 turns kept  ·  1 unconsented speaker muted  ·  10 spoken-PII spans muted  ·  redacted copy saved to the database as a separate object</a:t>
            </a:r>
          </a:p>
        </p:txBody>
      </p:sp>
      <p:sp>
        <p:nvSpPr>
          <p:cNvPr id="14" name="TextBox 13"/>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5" name="TextBox 14"/>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TEXT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Text - ingest, tag and detect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545336"/>
            <a:ext cx="6739128" cy="3214177"/>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1m.png"/>
          <p:cNvPicPr>
            <a:picLocks noChangeAspect="1"/>
          </p:cNvPicPr>
          <p:nvPr/>
        </p:nvPicPr>
        <p:blipFill>
          <a:blip r:embed="rId2"/>
          <a:stretch>
            <a:fillRect/>
          </a:stretch>
        </p:blipFill>
        <p:spPr>
          <a:xfrm>
            <a:off x="658368" y="1554480"/>
            <a:ext cx="6720840" cy="3195889"/>
          </a:xfrm>
          <a:prstGeom prst="rect">
            <a:avLst/>
          </a:prstGeom>
        </p:spPr>
      </p:pic>
      <p:sp>
        <p:nvSpPr>
          <p:cNvPr id="9" name="TextBox 8"/>
          <p:cNvSpPr txBox="1"/>
          <p:nvPr/>
        </p:nvSpPr>
        <p:spPr>
          <a:xfrm>
            <a:off x="658368" y="4860097"/>
            <a:ext cx="67208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 text session: paste or upload a transcript, then tag each quote to the person who said it</a:t>
            </a:r>
          </a:p>
        </p:txBody>
      </p:sp>
      <p:sp>
        <p:nvSpPr>
          <p:cNvPr id="10" name="Rectangle 9"/>
          <p:cNvSpPr/>
          <p:nvPr/>
        </p:nvSpPr>
        <p:spPr>
          <a:xfrm>
            <a:off x="7922397" y="1545336"/>
            <a:ext cx="3485621" cy="33101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3.png"/>
          <p:cNvPicPr>
            <a:picLocks noChangeAspect="1"/>
          </p:cNvPicPr>
          <p:nvPr/>
        </p:nvPicPr>
        <p:blipFill>
          <a:blip r:embed="rId3"/>
          <a:stretch>
            <a:fillRect/>
          </a:stretch>
        </p:blipFill>
        <p:spPr>
          <a:xfrm>
            <a:off x="7931541" y="1554480"/>
            <a:ext cx="3467333" cy="3291840"/>
          </a:xfrm>
          <a:prstGeom prst="rect">
            <a:avLst/>
          </a:prstGeom>
        </p:spPr>
      </p:pic>
      <p:sp>
        <p:nvSpPr>
          <p:cNvPr id="12" name="TextBox 11"/>
          <p:cNvSpPr txBox="1"/>
          <p:nvPr/>
        </p:nvSpPr>
        <p:spPr>
          <a:xfrm>
            <a:off x="7699248" y="4956048"/>
            <a:ext cx="393192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Auto-detect finds the PII; a human assigns quotes to a consented participant</a:t>
            </a:r>
          </a:p>
        </p:txBody>
      </p:sp>
      <p:sp>
        <p:nvSpPr>
          <p:cNvPr id="13" name="Rectangle 12"/>
          <p:cNvSpPr/>
          <p:nvPr/>
        </p:nvSpPr>
        <p:spPr>
          <a:xfrm>
            <a:off x="658368" y="5413248"/>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413248"/>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The default is redaction, not disclosure: any text not tagged to a person who consented is redacted in full, so forgetting to tag someone hides them rather than exposing them.</a:t>
            </a:r>
          </a:p>
        </p:txBody>
      </p:sp>
      <p:sp>
        <p:nvSpPr>
          <p:cNvPr id="15" name="TextBox 1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6" name="TextBox 1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TEXT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Text - before and after</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3549" y="1545336"/>
            <a:ext cx="4207982" cy="3995927"/>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2.png"/>
          <p:cNvPicPr>
            <a:picLocks noChangeAspect="1"/>
          </p:cNvPicPr>
          <p:nvPr/>
        </p:nvPicPr>
        <p:blipFill>
          <a:blip r:embed="rId2"/>
          <a:stretch>
            <a:fillRect/>
          </a:stretch>
        </p:blipFill>
        <p:spPr>
          <a:xfrm>
            <a:off x="1082693" y="1554480"/>
            <a:ext cx="4189694" cy="3977639"/>
          </a:xfrm>
          <a:prstGeom prst="rect">
            <a:avLst/>
          </a:prstGeom>
        </p:spPr>
      </p:pic>
      <p:sp>
        <p:nvSpPr>
          <p:cNvPr id="9" name="Rectangle 8"/>
          <p:cNvSpPr/>
          <p:nvPr/>
        </p:nvSpPr>
        <p:spPr>
          <a:xfrm>
            <a:off x="5989320" y="1554480"/>
            <a:ext cx="5641848" cy="397763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810512"/>
            <a:ext cx="509320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WHAT THE MODEL FOUND</a:t>
            </a:r>
          </a:p>
        </p:txBody>
      </p:sp>
      <p:sp>
        <p:nvSpPr>
          <p:cNvPr id="11" name="TextBox 10"/>
          <p:cNvSpPr txBox="1"/>
          <p:nvPr/>
        </p:nvSpPr>
        <p:spPr>
          <a:xfrm>
            <a:off x="6263640" y="2176272"/>
            <a:ext cx="5093208" cy="3099815"/>
          </a:xfrm>
          <a:prstGeom prst="rect">
            <a:avLst/>
          </a:prstGeom>
          <a:noFill/>
        </p:spPr>
        <p:txBody>
          <a:bodyPr wrap="square" lIns="0" rIns="0" tIns="0" bIns="0" anchor="t">
            <a:spAutoFit/>
          </a:bodyPr>
          <a:lstStyle/>
          <a:p>
            <a:pPr algn="l">
              <a:lnSpc>
                <a:spcPct val="122000"/>
              </a:lnSpc>
            </a:pPr>
            <a:r>
              <a:rPr sz="1300" b="1">
                <a:solidFill>
                  <a:srgbClr val="141B2B"/>
                </a:solidFill>
                <a:latin typeface="Segoe UI"/>
              </a:rPr>
              <a:t>Three entities were detected and masked in a 104-character transcript.</a:t>
            </a:r>
          </a:p>
          <a:p>
            <a:pPr algn="l">
              <a:lnSpc>
                <a:spcPct val="122000"/>
              </a:lnSpc>
              <a:spcBef>
                <a:spcPts val="800"/>
              </a:spcBef>
            </a:pPr>
            <a:r>
              <a:rPr sz="1200" b="0">
                <a:solidFill>
                  <a:srgbClr val="5B6472"/>
                </a:solidFill>
                <a:latin typeface="Segoe UI"/>
              </a:rPr>
              <a:t>A person's name became &lt;REDACTED_PERSON&gt;, an email address became &lt;REDACTED_EMAIL_ADDRESS&gt;, and a phone number became &lt;REDACTED_PHONE_NUMBER&gt;.</a:t>
            </a:r>
          </a:p>
          <a:p>
            <a:pPr algn="l">
              <a:lnSpc>
                <a:spcPct val="122000"/>
              </a:lnSpc>
              <a:spcBef>
                <a:spcPts val="800"/>
              </a:spcBef>
            </a:pPr>
            <a:r>
              <a:rPr sz="1200" b="0">
                <a:solidFill>
                  <a:srgbClr val="5B6472"/>
                </a:solidFill>
                <a:latin typeface="Segoe UI"/>
              </a:rPr>
              <a:t>The original is kept as the protected source and the masked version as the lawful package. Only the masked copy travels; the original stays sealed and every read of it is logged.</a:t>
            </a:r>
          </a:p>
          <a:p>
            <a:pPr algn="l">
              <a:lnSpc>
                <a:spcPct val="122000"/>
              </a:lnSpc>
              <a:spcBef>
                <a:spcPts val="800"/>
              </a:spcBef>
            </a:pPr>
            <a:r>
              <a:rPr sz="1200" b="0">
                <a:solidFill>
                  <a:srgbClr val="5B6472"/>
                </a:solidFill>
                <a:latin typeface="Segoe UI"/>
              </a:rPr>
              <a:t>Note what was not redacted: "our internal secret is topsecret" is a company secret, not personal data. The model is deliberately scoped to identity, because over-redaction destroys the usefulness of the record without protecting anybody.</a:t>
            </a:r>
          </a:p>
        </p:txBody>
      </p:sp>
      <p:sp>
        <p:nvSpPr>
          <p:cNvPr id="12" name="TextBox 1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3" name="TextBox 1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Traceability - every photo and every read is accounted for</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17-data-lineage.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Data Lineage - each photo traced back to its session, person, consent record and project</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23-audit-logs.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Audit Logs - an append-only, hash-chained record of every privacy-relevant action</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Evidence and deadlines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20-evidence-vault.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Evidence Vault - the proof bundle for each request: discovery results, export packages, purge reports</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21-sla-monitoring.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SLA Monitoring - the legal clock on every open request, with an earlier internal target</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The report a regulator would ask for</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71216" y="1435608"/>
            <a:ext cx="6419088" cy="403995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22-compliance-reports.png"/>
          <p:cNvPicPr>
            <a:picLocks noChangeAspect="1"/>
          </p:cNvPicPr>
          <p:nvPr/>
        </p:nvPicPr>
        <p:blipFill>
          <a:blip r:embed="rId2"/>
          <a:stretch>
            <a:fillRect/>
          </a:stretch>
        </p:blipFill>
        <p:spPr>
          <a:xfrm>
            <a:off x="2880360" y="1444752"/>
            <a:ext cx="6400800" cy="4021666"/>
          </a:xfrm>
          <a:prstGeom prst="rect">
            <a:avLst/>
          </a:prstGeom>
        </p:spPr>
      </p:pic>
      <p:sp>
        <p:nvSpPr>
          <p:cNvPr id="9" name="TextBox 8"/>
          <p:cNvSpPr txBox="1"/>
          <p:nvPr/>
        </p:nvSpPr>
        <p:spPr>
          <a:xfrm>
            <a:off x="2880360" y="5576146"/>
            <a:ext cx="6400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Compliance Reports - governance, consent, requests, access, data minimisation and breaches for a chosen period, plus a button that recomputes the audit hash chain and reports whether it still holds</a:t>
            </a:r>
          </a:p>
        </p:txBody>
      </p:sp>
      <p:sp>
        <p:nvSpPr>
          <p:cNvPr id="10" name="TextBox 9"/>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1" name="TextBox 10"/>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DATA PRINCIPAL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The person's own portal - built for a phone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171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05-consent-hub.png"/>
          <p:cNvPicPr>
            <a:picLocks noChangeAspect="1"/>
          </p:cNvPicPr>
          <p:nvPr/>
        </p:nvPicPr>
        <p:blipFill>
          <a:blip r:embed="rId2"/>
          <a:stretch>
            <a:fillRect/>
          </a:stretch>
        </p:blipFill>
        <p:spPr>
          <a:xfrm>
            <a:off x="990854" y="1463040"/>
            <a:ext cx="1813052" cy="3794760"/>
          </a:xfrm>
          <a:prstGeom prst="rect">
            <a:avLst/>
          </a:prstGeom>
        </p:spPr>
      </p:pic>
      <p:sp>
        <p:nvSpPr>
          <p:cNvPr id="9" name="TextBox 8"/>
          <p:cNvSpPr txBox="1"/>
          <p:nvPr/>
        </p:nvSpPr>
        <p:spPr>
          <a:xfrm>
            <a:off x="73152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Consent - face and voice matching,
and a switch to pause everything</a:t>
            </a:r>
          </a:p>
        </p:txBody>
      </p:sp>
      <p:sp>
        <p:nvSpPr>
          <p:cNvPr id="10" name="Rectangle 9"/>
          <p:cNvSpPr/>
          <p:nvPr/>
        </p:nvSpPr>
        <p:spPr>
          <a:xfrm>
            <a:off x="381635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07-my-data.png"/>
          <p:cNvPicPr>
            <a:picLocks noChangeAspect="1"/>
          </p:cNvPicPr>
          <p:nvPr/>
        </p:nvPicPr>
        <p:blipFill>
          <a:blip r:embed="rId3"/>
          <a:stretch>
            <a:fillRect/>
          </a:stretch>
        </p:blipFill>
        <p:spPr>
          <a:xfrm>
            <a:off x="3825494" y="1463040"/>
            <a:ext cx="1813052" cy="3794760"/>
          </a:xfrm>
          <a:prstGeom prst="rect">
            <a:avLst/>
          </a:prstGeom>
        </p:spPr>
      </p:pic>
      <p:sp>
        <p:nvSpPr>
          <p:cNvPr id="12" name="TextBox 11"/>
          <p:cNvSpPr txBox="1"/>
          <p:nvPr/>
        </p:nvSpPr>
        <p:spPr>
          <a:xfrm>
            <a:off x="356616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My Data - exactly what is held,
and on what legal basis</a:t>
            </a:r>
          </a:p>
        </p:txBody>
      </p:sp>
      <p:sp>
        <p:nvSpPr>
          <p:cNvPr id="13" name="Rectangle 12"/>
          <p:cNvSpPr/>
          <p:nvPr/>
        </p:nvSpPr>
        <p:spPr>
          <a:xfrm>
            <a:off x="665099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08-data-rights.png"/>
          <p:cNvPicPr>
            <a:picLocks noChangeAspect="1"/>
          </p:cNvPicPr>
          <p:nvPr/>
        </p:nvPicPr>
        <p:blipFill>
          <a:blip r:embed="rId4"/>
          <a:stretch>
            <a:fillRect/>
          </a:stretch>
        </p:blipFill>
        <p:spPr>
          <a:xfrm>
            <a:off x="6660134" y="1463040"/>
            <a:ext cx="1813052" cy="3794760"/>
          </a:xfrm>
          <a:prstGeom prst="rect">
            <a:avLst/>
          </a:prstGeom>
        </p:spPr>
      </p:pic>
      <p:sp>
        <p:nvSpPr>
          <p:cNvPr id="15" name="TextBox 14"/>
          <p:cNvSpPr txBox="1"/>
          <p:nvPr/>
        </p:nvSpPr>
        <p:spPr>
          <a:xfrm>
            <a:off x="640080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Data Rights - access, correction,
erasure, grievance, nomination</a:t>
            </a:r>
          </a:p>
        </p:txBody>
      </p:sp>
      <p:sp>
        <p:nvSpPr>
          <p:cNvPr id="16" name="Rectangle 15"/>
          <p:cNvSpPr/>
          <p:nvPr/>
        </p:nvSpPr>
        <p:spPr>
          <a:xfrm>
            <a:off x="948563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10-request-new.png"/>
          <p:cNvPicPr>
            <a:picLocks noChangeAspect="1"/>
          </p:cNvPicPr>
          <p:nvPr/>
        </p:nvPicPr>
        <p:blipFill>
          <a:blip r:embed="rId5"/>
          <a:stretch>
            <a:fillRect/>
          </a:stretch>
        </p:blipFill>
        <p:spPr>
          <a:xfrm>
            <a:off x="9494774" y="1463040"/>
            <a:ext cx="1813052" cy="3794760"/>
          </a:xfrm>
          <a:prstGeom prst="rect">
            <a:avLst/>
          </a:prstGeom>
        </p:spPr>
      </p:pic>
      <p:sp>
        <p:nvSpPr>
          <p:cNvPr id="18" name="TextBox 17"/>
          <p:cNvSpPr txBox="1"/>
          <p:nvPr/>
        </p:nvSpPr>
        <p:spPr>
          <a:xfrm>
            <a:off x="923544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Raise a Request - the person asks
for their rights themselves</a:t>
            </a:r>
          </a:p>
        </p:txBody>
      </p:sp>
      <p:sp>
        <p:nvSpPr>
          <p:cNvPr id="19" name="TextBox 1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20" name="TextBox 1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2788920"/>
            <a:ext cx="1463040"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35808"/>
            <a:ext cx="10058400" cy="1280160"/>
          </a:xfrm>
          <a:prstGeom prst="rect">
            <a:avLst/>
          </a:prstGeom>
          <a:noFill/>
        </p:spPr>
        <p:txBody>
          <a:bodyPr wrap="square" lIns="0" rIns="0" tIns="0" bIns="0" anchor="t">
            <a:spAutoFit/>
          </a:bodyPr>
          <a:lstStyle/>
          <a:p>
            <a:pPr algn="l">
              <a:lnSpc>
                <a:spcPct val="115000"/>
              </a:lnSpc>
            </a:pPr>
            <a:r>
              <a:rPr sz="4000" b="1">
                <a:solidFill>
                  <a:srgbClr val="FFFFFF"/>
                </a:solidFill>
                <a:latin typeface="Segoe UI"/>
              </a:rPr>
              <a:t>Why we chose these models</a:t>
            </a:r>
          </a:p>
          <a:p>
            <a:pPr algn="l">
              <a:lnSpc>
                <a:spcPct val="115000"/>
              </a:lnSpc>
              <a:spcBef>
                <a:spcPts val="1200"/>
              </a:spcBef>
            </a:pPr>
            <a:r>
              <a:rPr sz="1500" b="0">
                <a:solidFill>
                  <a:srgbClr val="9FADC4"/>
                </a:solidFill>
                <a:latin typeface="Segoe UI"/>
              </a:rPr>
              <a:t>Every stack was picked to run accurately on a CPU, on our own machines, with nothing sent off-premise</a:t>
            </a:r>
          </a:p>
        </p:txBody>
      </p:sp>
      <p:sp>
        <p:nvSpPr>
          <p:cNvPr id="6" name="TextBox 5"/>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7" name="TextBox 6"/>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Model choice - detecting and recognising faces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Used by the image pipeline and the video worker to find faces and tell people apart.</a:t>
            </a:r>
          </a:p>
        </p:txBody>
      </p:sp>
      <p:sp>
        <p:nvSpPr>
          <p:cNvPr id="8" name="Rectangle 7"/>
          <p:cNvSpPr/>
          <p:nvPr/>
        </p:nvSpPr>
        <p:spPr>
          <a:xfrm>
            <a:off x="658368" y="1719072"/>
            <a:ext cx="301752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19072"/>
            <a:ext cx="277977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Model stack</a:t>
            </a:r>
          </a:p>
        </p:txBody>
      </p:sp>
      <p:sp>
        <p:nvSpPr>
          <p:cNvPr id="10" name="Rectangle 9"/>
          <p:cNvSpPr/>
          <p:nvPr/>
        </p:nvSpPr>
        <p:spPr>
          <a:xfrm>
            <a:off x="3675888" y="1719072"/>
            <a:ext cx="192024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1719072"/>
            <a:ext cx="168249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Detection accuracy</a:t>
            </a:r>
          </a:p>
        </p:txBody>
      </p:sp>
      <p:sp>
        <p:nvSpPr>
          <p:cNvPr id="12" name="Rectangle 11"/>
          <p:cNvSpPr/>
          <p:nvPr/>
        </p:nvSpPr>
        <p:spPr>
          <a:xfrm>
            <a:off x="5596128" y="1719072"/>
            <a:ext cx="192024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0" y="1719072"/>
            <a:ext cx="168249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Recognition accuracy</a:t>
            </a:r>
          </a:p>
        </p:txBody>
      </p:sp>
      <p:sp>
        <p:nvSpPr>
          <p:cNvPr id="14" name="Rectangle 13"/>
          <p:cNvSpPr/>
          <p:nvPr/>
        </p:nvSpPr>
        <p:spPr>
          <a:xfrm>
            <a:off x="7516368" y="1719072"/>
            <a:ext cx="201168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719072"/>
            <a:ext cx="177393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CPU execution speed</a:t>
            </a:r>
          </a:p>
        </p:txBody>
      </p:sp>
      <p:sp>
        <p:nvSpPr>
          <p:cNvPr id="16" name="Rectangle 15"/>
          <p:cNvSpPr/>
          <p:nvPr/>
        </p:nvSpPr>
        <p:spPr>
          <a:xfrm>
            <a:off x="9528048" y="1719072"/>
            <a:ext cx="201168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1719072"/>
            <a:ext cx="177393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Packaging &amp; portability</a:t>
            </a:r>
          </a:p>
        </p:txBody>
      </p:sp>
      <p:sp>
        <p:nvSpPr>
          <p:cNvPr id="18" name="Rectangle 17"/>
          <p:cNvSpPr/>
          <p:nvPr/>
        </p:nvSpPr>
        <p:spPr>
          <a:xfrm>
            <a:off x="658368" y="2231136"/>
            <a:ext cx="301752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231136"/>
            <a:ext cx="277977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InsightFace (buffalo_l - SCRFD + ArcFace)</a:t>
            </a:r>
          </a:p>
        </p:txBody>
      </p:sp>
      <p:sp>
        <p:nvSpPr>
          <p:cNvPr id="20" name="Rectangle 19"/>
          <p:cNvSpPr/>
          <p:nvPr/>
        </p:nvSpPr>
        <p:spPr>
          <a:xfrm>
            <a:off x="3675888" y="2231136"/>
            <a:ext cx="192024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60" y="2231136"/>
            <a:ext cx="168249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High</a:t>
            </a:r>
          </a:p>
        </p:txBody>
      </p:sp>
      <p:sp>
        <p:nvSpPr>
          <p:cNvPr id="22" name="Rectangle 21"/>
          <p:cNvSpPr/>
          <p:nvPr/>
        </p:nvSpPr>
        <p:spPr>
          <a:xfrm>
            <a:off x="5596128" y="2231136"/>
            <a:ext cx="192024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231136"/>
            <a:ext cx="168249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State-of-the-Art</a:t>
            </a:r>
          </a:p>
        </p:txBody>
      </p:sp>
      <p:sp>
        <p:nvSpPr>
          <p:cNvPr id="24" name="Rectangle 23"/>
          <p:cNvSpPr/>
          <p:nvPr/>
        </p:nvSpPr>
        <p:spPr>
          <a:xfrm>
            <a:off x="7516368" y="2231136"/>
            <a:ext cx="201168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2231136"/>
            <a:ext cx="177393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Very Fast (ONNX)</a:t>
            </a:r>
          </a:p>
        </p:txBody>
      </p:sp>
      <p:sp>
        <p:nvSpPr>
          <p:cNvPr id="26" name="Rectangle 25"/>
          <p:cNvSpPr/>
          <p:nvPr/>
        </p:nvSpPr>
        <p:spPr>
          <a:xfrm>
            <a:off x="9528048" y="2231136"/>
            <a:ext cx="201168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2231136"/>
            <a:ext cx="177393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Easy (ONNX wheel)</a:t>
            </a:r>
          </a:p>
        </p:txBody>
      </p:sp>
      <p:sp>
        <p:nvSpPr>
          <p:cNvPr id="28" name="Rectangle 27"/>
          <p:cNvSpPr/>
          <p:nvPr/>
        </p:nvSpPr>
        <p:spPr>
          <a:xfrm>
            <a:off x="658368" y="2231136"/>
            <a:ext cx="50292" cy="713232"/>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2944368"/>
            <a:ext cx="301752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2944368"/>
            <a:ext cx="277977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Dlib (ResNet-34) / OpenFace</a:t>
            </a:r>
          </a:p>
        </p:txBody>
      </p:sp>
      <p:sp>
        <p:nvSpPr>
          <p:cNvPr id="31" name="Rectangle 30"/>
          <p:cNvSpPr/>
          <p:nvPr/>
        </p:nvSpPr>
        <p:spPr>
          <a:xfrm>
            <a:off x="3675888" y="2944368"/>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2944368"/>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33" name="Rectangle 32"/>
          <p:cNvSpPr/>
          <p:nvPr/>
        </p:nvSpPr>
        <p:spPr>
          <a:xfrm>
            <a:off x="5596128" y="2944368"/>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15000" y="2944368"/>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Medium-Low</a:t>
            </a:r>
          </a:p>
        </p:txBody>
      </p:sp>
      <p:sp>
        <p:nvSpPr>
          <p:cNvPr id="35" name="Rectangle 34"/>
          <p:cNvSpPr/>
          <p:nvPr/>
        </p:nvSpPr>
        <p:spPr>
          <a:xfrm>
            <a:off x="7516368" y="2944368"/>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35240" y="2944368"/>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Slow</a:t>
            </a:r>
          </a:p>
        </p:txBody>
      </p:sp>
      <p:sp>
        <p:nvSpPr>
          <p:cNvPr id="37" name="Rectangle 36"/>
          <p:cNvSpPr/>
          <p:nvPr/>
        </p:nvSpPr>
        <p:spPr>
          <a:xfrm>
            <a:off x="9528048" y="2944368"/>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46920" y="2944368"/>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Complex OS dependencies</a:t>
            </a:r>
          </a:p>
        </p:txBody>
      </p:sp>
      <p:sp>
        <p:nvSpPr>
          <p:cNvPr id="39" name="Rectangle 38"/>
          <p:cNvSpPr/>
          <p:nvPr/>
        </p:nvSpPr>
        <p:spPr>
          <a:xfrm>
            <a:off x="658368" y="3657600"/>
            <a:ext cx="301752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3657600"/>
            <a:ext cx="277977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MTCNN + FaceNet</a:t>
            </a:r>
          </a:p>
        </p:txBody>
      </p:sp>
      <p:sp>
        <p:nvSpPr>
          <p:cNvPr id="41" name="Rectangle 40"/>
          <p:cNvSpPr/>
          <p:nvPr/>
        </p:nvSpPr>
        <p:spPr>
          <a:xfrm>
            <a:off x="3675888" y="3657600"/>
            <a:ext cx="192024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4760" y="3657600"/>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Low (struggles with pose / yaw)</a:t>
            </a:r>
          </a:p>
        </p:txBody>
      </p:sp>
      <p:sp>
        <p:nvSpPr>
          <p:cNvPr id="43" name="Rectangle 42"/>
          <p:cNvSpPr/>
          <p:nvPr/>
        </p:nvSpPr>
        <p:spPr>
          <a:xfrm>
            <a:off x="5596128" y="3657600"/>
            <a:ext cx="192024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15000" y="3657600"/>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45" name="Rectangle 44"/>
          <p:cNvSpPr/>
          <p:nvPr/>
        </p:nvSpPr>
        <p:spPr>
          <a:xfrm>
            <a:off x="7516368" y="3657600"/>
            <a:ext cx="201168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35240" y="3657600"/>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47" name="Rectangle 46"/>
          <p:cNvSpPr/>
          <p:nvPr/>
        </p:nvSpPr>
        <p:spPr>
          <a:xfrm>
            <a:off x="9528048" y="3657600"/>
            <a:ext cx="201168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46920" y="3657600"/>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49" name="Rectangle 48"/>
          <p:cNvSpPr/>
          <p:nvPr/>
        </p:nvSpPr>
        <p:spPr>
          <a:xfrm>
            <a:off x="658368" y="4370832"/>
            <a:ext cx="301752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4370832"/>
            <a:ext cx="277977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RetinaFace (ResNet-50)</a:t>
            </a:r>
          </a:p>
        </p:txBody>
      </p:sp>
      <p:sp>
        <p:nvSpPr>
          <p:cNvPr id="51" name="Rectangle 50"/>
          <p:cNvSpPr/>
          <p:nvPr/>
        </p:nvSpPr>
        <p:spPr>
          <a:xfrm>
            <a:off x="3675888" y="4370832"/>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94760" y="4370832"/>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High</a:t>
            </a:r>
          </a:p>
        </p:txBody>
      </p:sp>
      <p:sp>
        <p:nvSpPr>
          <p:cNvPr id="53" name="Rectangle 52"/>
          <p:cNvSpPr/>
          <p:nvPr/>
        </p:nvSpPr>
        <p:spPr>
          <a:xfrm>
            <a:off x="5596128" y="4370832"/>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15000" y="4370832"/>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High</a:t>
            </a:r>
          </a:p>
        </p:txBody>
      </p:sp>
      <p:sp>
        <p:nvSpPr>
          <p:cNvPr id="55" name="Rectangle 54"/>
          <p:cNvSpPr/>
          <p:nvPr/>
        </p:nvSpPr>
        <p:spPr>
          <a:xfrm>
            <a:off x="7516368" y="4370832"/>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35240" y="4370832"/>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Very Slow on CPU</a:t>
            </a:r>
          </a:p>
        </p:txBody>
      </p:sp>
      <p:sp>
        <p:nvSpPr>
          <p:cNvPr id="57" name="Rectangle 56"/>
          <p:cNvSpPr/>
          <p:nvPr/>
        </p:nvSpPr>
        <p:spPr>
          <a:xfrm>
            <a:off x="9528048" y="4370832"/>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46920" y="4370832"/>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Heavy</a:t>
            </a:r>
          </a:p>
        </p:txBody>
      </p:sp>
      <p:sp>
        <p:nvSpPr>
          <p:cNvPr id="59" name="Rectangle 58"/>
          <p:cNvSpPr/>
          <p:nvPr/>
        </p:nvSpPr>
        <p:spPr>
          <a:xfrm>
            <a:off x="658368" y="5394960"/>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60120" y="5394960"/>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Chosen because it is the only stack that is both accurate and fast enough to run on a CPU - there is no GPU in the collection environment. RetinaFace detects slightly better but is far too slow, and ONNX packaging means the same wheel installs on every machine.</a:t>
            </a:r>
          </a:p>
        </p:txBody>
      </p:sp>
      <p:sp>
        <p:nvSpPr>
          <p:cNvPr id="61" name="TextBox 6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62" name="TextBox 6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Model choice - reading and masking text in images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Used to find identity documents, badges and screens inside a photograph and mask what they say.</a:t>
            </a:r>
          </a:p>
        </p:txBody>
      </p:sp>
      <p:sp>
        <p:nvSpPr>
          <p:cNvPr id="8" name="Rectangle 7"/>
          <p:cNvSpPr/>
          <p:nvPr/>
        </p:nvSpPr>
        <p:spPr>
          <a:xfrm>
            <a:off x="658368" y="1719072"/>
            <a:ext cx="301752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19072"/>
            <a:ext cx="277977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Model / tool</a:t>
            </a:r>
          </a:p>
        </p:txBody>
      </p:sp>
      <p:sp>
        <p:nvSpPr>
          <p:cNvPr id="10" name="Rectangle 9"/>
          <p:cNvSpPr/>
          <p:nvPr/>
        </p:nvSpPr>
        <p:spPr>
          <a:xfrm>
            <a:off x="3675888" y="1719072"/>
            <a:ext cx="182880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1719072"/>
            <a:ext cx="159105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Accuracy</a:t>
            </a:r>
          </a:p>
        </p:txBody>
      </p:sp>
      <p:sp>
        <p:nvSpPr>
          <p:cNvPr id="12" name="Rectangle 11"/>
          <p:cNvSpPr/>
          <p:nvPr/>
        </p:nvSpPr>
        <p:spPr>
          <a:xfrm>
            <a:off x="5504688" y="1719072"/>
            <a:ext cx="155448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23560" y="1719072"/>
            <a:ext cx="131673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CPU speed</a:t>
            </a:r>
          </a:p>
        </p:txBody>
      </p:sp>
      <p:sp>
        <p:nvSpPr>
          <p:cNvPr id="14" name="Rectangle 13"/>
          <p:cNvSpPr/>
          <p:nvPr/>
        </p:nvSpPr>
        <p:spPr>
          <a:xfrm>
            <a:off x="7059168" y="1719072"/>
            <a:ext cx="164592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1719072"/>
            <a:ext cx="140817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Latency</a:t>
            </a:r>
          </a:p>
        </p:txBody>
      </p:sp>
      <p:sp>
        <p:nvSpPr>
          <p:cNvPr id="16" name="Rectangle 15"/>
          <p:cNvSpPr/>
          <p:nvPr/>
        </p:nvSpPr>
        <p:spPr>
          <a:xfrm>
            <a:off x="8705088" y="1719072"/>
            <a:ext cx="283464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1719072"/>
            <a:ext cx="259689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Infrastructure &amp; privacy footprint</a:t>
            </a:r>
          </a:p>
        </p:txBody>
      </p:sp>
      <p:sp>
        <p:nvSpPr>
          <p:cNvPr id="18" name="Rectangle 17"/>
          <p:cNvSpPr/>
          <p:nvPr/>
        </p:nvSpPr>
        <p:spPr>
          <a:xfrm>
            <a:off x="658368" y="2176272"/>
            <a:ext cx="301752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176272"/>
            <a:ext cx="277977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RapidOCR + Presidio (spaCy)</a:t>
            </a:r>
          </a:p>
        </p:txBody>
      </p:sp>
      <p:sp>
        <p:nvSpPr>
          <p:cNvPr id="20" name="Rectangle 19"/>
          <p:cNvSpPr/>
          <p:nvPr/>
        </p:nvSpPr>
        <p:spPr>
          <a:xfrm>
            <a:off x="3675888" y="2176272"/>
            <a:ext cx="182880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60" y="2176272"/>
            <a:ext cx="159105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High</a:t>
            </a:r>
          </a:p>
        </p:txBody>
      </p:sp>
      <p:sp>
        <p:nvSpPr>
          <p:cNvPr id="22" name="Rectangle 21"/>
          <p:cNvSpPr/>
          <p:nvPr/>
        </p:nvSpPr>
        <p:spPr>
          <a:xfrm>
            <a:off x="5504688" y="2176272"/>
            <a:ext cx="155448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3560" y="2176272"/>
            <a:ext cx="131673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Fast</a:t>
            </a:r>
          </a:p>
        </p:txBody>
      </p:sp>
      <p:sp>
        <p:nvSpPr>
          <p:cNvPr id="24" name="Rectangle 23"/>
          <p:cNvSpPr/>
          <p:nvPr/>
        </p:nvSpPr>
        <p:spPr>
          <a:xfrm>
            <a:off x="7059168" y="2176272"/>
            <a:ext cx="164592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78040" y="2176272"/>
            <a:ext cx="140817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Low (under 1.5s)</a:t>
            </a:r>
          </a:p>
        </p:txBody>
      </p:sp>
      <p:sp>
        <p:nvSpPr>
          <p:cNvPr id="26" name="Rectangle 25"/>
          <p:cNvSpPr/>
          <p:nvPr/>
        </p:nvSpPr>
        <p:spPr>
          <a:xfrm>
            <a:off x="8705088" y="2176272"/>
            <a:ext cx="283464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23960" y="2176272"/>
            <a:ext cx="259689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100% local / self-contained</a:t>
            </a:r>
          </a:p>
        </p:txBody>
      </p:sp>
      <p:sp>
        <p:nvSpPr>
          <p:cNvPr id="28" name="Rectangle 27"/>
          <p:cNvSpPr/>
          <p:nvPr/>
        </p:nvSpPr>
        <p:spPr>
          <a:xfrm>
            <a:off x="658368" y="2176272"/>
            <a:ext cx="50292" cy="603504"/>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2779776"/>
            <a:ext cx="30175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2779776"/>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Tesseract OCR</a:t>
            </a:r>
          </a:p>
        </p:txBody>
      </p:sp>
      <p:sp>
        <p:nvSpPr>
          <p:cNvPr id="31" name="Rectangle 30"/>
          <p:cNvSpPr/>
          <p:nvPr/>
        </p:nvSpPr>
        <p:spPr>
          <a:xfrm>
            <a:off x="3675888" y="2779776"/>
            <a:ext cx="182880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2779776"/>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 (struggles with noise)</a:t>
            </a:r>
          </a:p>
        </p:txBody>
      </p:sp>
      <p:sp>
        <p:nvSpPr>
          <p:cNvPr id="33" name="Rectangle 32"/>
          <p:cNvSpPr/>
          <p:nvPr/>
        </p:nvSpPr>
        <p:spPr>
          <a:xfrm>
            <a:off x="5504688" y="2779776"/>
            <a:ext cx="155448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23560" y="2779776"/>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Fast</a:t>
            </a:r>
          </a:p>
        </p:txBody>
      </p:sp>
      <p:sp>
        <p:nvSpPr>
          <p:cNvPr id="35" name="Rectangle 34"/>
          <p:cNvSpPr/>
          <p:nvPr/>
        </p:nvSpPr>
        <p:spPr>
          <a:xfrm>
            <a:off x="7059168" y="2779776"/>
            <a:ext cx="16459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78040" y="2779776"/>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Low</a:t>
            </a:r>
          </a:p>
        </p:txBody>
      </p:sp>
      <p:sp>
        <p:nvSpPr>
          <p:cNvPr id="37" name="Rectangle 36"/>
          <p:cNvSpPr/>
          <p:nvPr/>
        </p:nvSpPr>
        <p:spPr>
          <a:xfrm>
            <a:off x="8705088" y="2779776"/>
            <a:ext cx="283464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3960" y="2779776"/>
            <a:ext cx="259689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Needs an OS-level binary (fragile Docker builds)</a:t>
            </a:r>
          </a:p>
        </p:txBody>
      </p:sp>
      <p:sp>
        <p:nvSpPr>
          <p:cNvPr id="39" name="Rectangle 38"/>
          <p:cNvSpPr/>
          <p:nvPr/>
        </p:nvSpPr>
        <p:spPr>
          <a:xfrm>
            <a:off x="658368" y="3383280"/>
            <a:ext cx="30175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3383280"/>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EasyOCR (PyTorch)</a:t>
            </a:r>
          </a:p>
        </p:txBody>
      </p:sp>
      <p:sp>
        <p:nvSpPr>
          <p:cNvPr id="41" name="Rectangle 40"/>
          <p:cNvSpPr/>
          <p:nvPr/>
        </p:nvSpPr>
        <p:spPr>
          <a:xfrm>
            <a:off x="3675888" y="3383280"/>
            <a:ext cx="182880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4760" y="3383280"/>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High</a:t>
            </a:r>
          </a:p>
        </p:txBody>
      </p:sp>
      <p:sp>
        <p:nvSpPr>
          <p:cNvPr id="43" name="Rectangle 42"/>
          <p:cNvSpPr/>
          <p:nvPr/>
        </p:nvSpPr>
        <p:spPr>
          <a:xfrm>
            <a:off x="5504688" y="3383280"/>
            <a:ext cx="155448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23560" y="3383280"/>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Slow on CPU</a:t>
            </a:r>
          </a:p>
        </p:txBody>
      </p:sp>
      <p:sp>
        <p:nvSpPr>
          <p:cNvPr id="45" name="Rectangle 44"/>
          <p:cNvSpPr/>
          <p:nvPr/>
        </p:nvSpPr>
        <p:spPr>
          <a:xfrm>
            <a:off x="7059168" y="3383280"/>
            <a:ext cx="16459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3383280"/>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High (4-6s)</a:t>
            </a:r>
          </a:p>
        </p:txBody>
      </p:sp>
      <p:sp>
        <p:nvSpPr>
          <p:cNvPr id="47" name="Rectangle 46"/>
          <p:cNvSpPr/>
          <p:nvPr/>
        </p:nvSpPr>
        <p:spPr>
          <a:xfrm>
            <a:off x="8705088" y="3383280"/>
            <a:ext cx="283464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23960" y="3383280"/>
            <a:ext cx="259689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Heavy PyTorch engine dependency</a:t>
            </a:r>
          </a:p>
        </p:txBody>
      </p:sp>
      <p:sp>
        <p:nvSpPr>
          <p:cNvPr id="49" name="Rectangle 48"/>
          <p:cNvSpPr/>
          <p:nvPr/>
        </p:nvSpPr>
        <p:spPr>
          <a:xfrm>
            <a:off x="658368" y="3986784"/>
            <a:ext cx="30175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3986784"/>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Cloud OCR (GCP Vision / AWS Rekognition)</a:t>
            </a:r>
          </a:p>
        </p:txBody>
      </p:sp>
      <p:sp>
        <p:nvSpPr>
          <p:cNvPr id="51" name="Rectangle 50"/>
          <p:cNvSpPr/>
          <p:nvPr/>
        </p:nvSpPr>
        <p:spPr>
          <a:xfrm>
            <a:off x="3675888" y="3986784"/>
            <a:ext cx="182880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94760" y="3986784"/>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High</a:t>
            </a:r>
          </a:p>
        </p:txBody>
      </p:sp>
      <p:sp>
        <p:nvSpPr>
          <p:cNvPr id="53" name="Rectangle 52"/>
          <p:cNvSpPr/>
          <p:nvPr/>
        </p:nvSpPr>
        <p:spPr>
          <a:xfrm>
            <a:off x="5504688" y="3986784"/>
            <a:ext cx="155448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23560" y="3986784"/>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Fast</a:t>
            </a:r>
          </a:p>
        </p:txBody>
      </p:sp>
      <p:sp>
        <p:nvSpPr>
          <p:cNvPr id="55" name="Rectangle 54"/>
          <p:cNvSpPr/>
          <p:nvPr/>
        </p:nvSpPr>
        <p:spPr>
          <a:xfrm>
            <a:off x="7059168" y="3986784"/>
            <a:ext cx="16459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78040" y="3986784"/>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Medium-High</a:t>
            </a:r>
          </a:p>
        </p:txBody>
      </p:sp>
      <p:sp>
        <p:nvSpPr>
          <p:cNvPr id="57" name="Rectangle 56"/>
          <p:cNvSpPr/>
          <p:nvPr/>
        </p:nvSpPr>
        <p:spPr>
          <a:xfrm>
            <a:off x="8705088" y="3986784"/>
            <a:ext cx="283464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23960" y="3986784"/>
            <a:ext cx="2596896" cy="603504"/>
          </a:xfrm>
          <a:prstGeom prst="rect">
            <a:avLst/>
          </a:prstGeom>
          <a:noFill/>
        </p:spPr>
        <p:txBody>
          <a:bodyPr wrap="square" lIns="0" rIns="0" tIns="0" bIns="0" anchor="ctr">
            <a:spAutoFit/>
          </a:bodyPr>
          <a:lstStyle/>
          <a:p>
            <a:pPr algn="l">
              <a:lnSpc>
                <a:spcPct val="108000"/>
              </a:lnSpc>
            </a:pPr>
            <a:r>
              <a:rPr sz="1150" b="1">
                <a:solidFill>
                  <a:srgbClr val="A82A2A"/>
                </a:solidFill>
                <a:latin typeface="Segoe UI"/>
              </a:rPr>
              <a:t>Breaks DPDP: sends raw PII off-premise</a:t>
            </a:r>
          </a:p>
        </p:txBody>
      </p:sp>
      <p:sp>
        <p:nvSpPr>
          <p:cNvPr id="59" name="Rectangle 58"/>
          <p:cNvSpPr/>
          <p:nvPr/>
        </p:nvSpPr>
        <p:spPr>
          <a:xfrm>
            <a:off x="658368" y="4590288"/>
            <a:ext cx="30175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7240" y="4590288"/>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LLM-based extraction (local Llama-3-8B)</a:t>
            </a:r>
          </a:p>
        </p:txBody>
      </p:sp>
      <p:sp>
        <p:nvSpPr>
          <p:cNvPr id="61" name="Rectangle 60"/>
          <p:cNvSpPr/>
          <p:nvPr/>
        </p:nvSpPr>
        <p:spPr>
          <a:xfrm>
            <a:off x="3675888" y="4590288"/>
            <a:ext cx="182880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94760" y="4590288"/>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High</a:t>
            </a:r>
          </a:p>
        </p:txBody>
      </p:sp>
      <p:sp>
        <p:nvSpPr>
          <p:cNvPr id="63" name="Rectangle 62"/>
          <p:cNvSpPr/>
          <p:nvPr/>
        </p:nvSpPr>
        <p:spPr>
          <a:xfrm>
            <a:off x="5504688" y="4590288"/>
            <a:ext cx="155448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23560" y="4590288"/>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Slow</a:t>
            </a:r>
          </a:p>
        </p:txBody>
      </p:sp>
      <p:sp>
        <p:nvSpPr>
          <p:cNvPr id="65" name="Rectangle 64"/>
          <p:cNvSpPr/>
          <p:nvPr/>
        </p:nvSpPr>
        <p:spPr>
          <a:xfrm>
            <a:off x="7059168" y="4590288"/>
            <a:ext cx="16459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78040" y="4590288"/>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Very High</a:t>
            </a:r>
          </a:p>
        </p:txBody>
      </p:sp>
      <p:sp>
        <p:nvSpPr>
          <p:cNvPr id="67" name="Rectangle 66"/>
          <p:cNvSpPr/>
          <p:nvPr/>
        </p:nvSpPr>
        <p:spPr>
          <a:xfrm>
            <a:off x="8705088" y="4590288"/>
            <a:ext cx="283464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23960" y="4590288"/>
            <a:ext cx="259689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Heavy VRAM needs, non-deterministic</a:t>
            </a:r>
          </a:p>
        </p:txBody>
      </p:sp>
      <p:sp>
        <p:nvSpPr>
          <p:cNvPr id="69" name="Rectangle 68"/>
          <p:cNvSpPr/>
          <p:nvPr/>
        </p:nvSpPr>
        <p:spPr>
          <a:xfrm>
            <a:off x="658368" y="5431536"/>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0120" y="5431536"/>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Chosen because it is the only accurate option that never leaves the machine. Cloud OCR is more accurate and would also ship raw identity documents to a third party - the exact thing the DPDP Act exists to prevent. The text pipeline reuses the Presidio and spaCy half of this stack on its own, with no OCR, because that text arrives already typed.</a:t>
            </a:r>
          </a:p>
        </p:txBody>
      </p:sp>
      <p:sp>
        <p:nvSpPr>
          <p:cNvPr id="71" name="TextBox 7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72" name="TextBox 7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Model choice - separating speakers and reading speech</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Used to split a recording by speaker, identify who is speaking, and find personal details said out loud.</a:t>
            </a:r>
          </a:p>
        </p:txBody>
      </p:sp>
      <p:sp>
        <p:nvSpPr>
          <p:cNvPr id="8" name="Rectangle 7"/>
          <p:cNvSpPr/>
          <p:nvPr/>
        </p:nvSpPr>
        <p:spPr>
          <a:xfrm>
            <a:off x="658368" y="1719072"/>
            <a:ext cx="384048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19072"/>
            <a:ext cx="360273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Model / tool</a:t>
            </a:r>
          </a:p>
        </p:txBody>
      </p:sp>
      <p:sp>
        <p:nvSpPr>
          <p:cNvPr id="10" name="Rectangle 9"/>
          <p:cNvSpPr/>
          <p:nvPr/>
        </p:nvSpPr>
        <p:spPr>
          <a:xfrm>
            <a:off x="4498848" y="1719072"/>
            <a:ext cx="219456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719072"/>
            <a:ext cx="195681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Audio accuracy</a:t>
            </a:r>
          </a:p>
        </p:txBody>
      </p:sp>
      <p:sp>
        <p:nvSpPr>
          <p:cNvPr id="12" name="Rectangle 11"/>
          <p:cNvSpPr/>
          <p:nvPr/>
        </p:nvSpPr>
        <p:spPr>
          <a:xfrm>
            <a:off x="6693408" y="1719072"/>
            <a:ext cx="210312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1719072"/>
            <a:ext cx="186537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CPU speed</a:t>
            </a:r>
          </a:p>
        </p:txBody>
      </p:sp>
      <p:sp>
        <p:nvSpPr>
          <p:cNvPr id="14" name="Rectangle 13"/>
          <p:cNvSpPr/>
          <p:nvPr/>
        </p:nvSpPr>
        <p:spPr>
          <a:xfrm>
            <a:off x="8796528" y="1719072"/>
            <a:ext cx="274320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719072"/>
            <a:ext cx="250545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Resource footprint</a:t>
            </a:r>
          </a:p>
        </p:txBody>
      </p:sp>
      <p:sp>
        <p:nvSpPr>
          <p:cNvPr id="16" name="Rectangle 15"/>
          <p:cNvSpPr/>
          <p:nvPr/>
        </p:nvSpPr>
        <p:spPr>
          <a:xfrm>
            <a:off x="658368" y="2176272"/>
            <a:ext cx="384048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176272"/>
            <a:ext cx="360273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PyAnnote 3.1 + Faster-Whisper + SpeechBrain</a:t>
            </a:r>
          </a:p>
        </p:txBody>
      </p:sp>
      <p:sp>
        <p:nvSpPr>
          <p:cNvPr id="18" name="Rectangle 17"/>
          <p:cNvSpPr/>
          <p:nvPr/>
        </p:nvSpPr>
        <p:spPr>
          <a:xfrm>
            <a:off x="4498848" y="2176272"/>
            <a:ext cx="219456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2176272"/>
            <a:ext cx="195681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High</a:t>
            </a:r>
          </a:p>
        </p:txBody>
      </p:sp>
      <p:sp>
        <p:nvSpPr>
          <p:cNvPr id="20" name="Rectangle 19"/>
          <p:cNvSpPr/>
          <p:nvPr/>
        </p:nvSpPr>
        <p:spPr>
          <a:xfrm>
            <a:off x="6693408" y="2176272"/>
            <a:ext cx="210312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2176272"/>
            <a:ext cx="186537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Fast</a:t>
            </a:r>
          </a:p>
        </p:txBody>
      </p:sp>
      <p:sp>
        <p:nvSpPr>
          <p:cNvPr id="22" name="Rectangle 21"/>
          <p:cNvSpPr/>
          <p:nvPr/>
        </p:nvSpPr>
        <p:spPr>
          <a:xfrm>
            <a:off x="8796528" y="2176272"/>
            <a:ext cx="274320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2176272"/>
            <a:ext cx="250545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Moderate (CTranslate2 optimised)</a:t>
            </a:r>
          </a:p>
        </p:txBody>
      </p:sp>
      <p:sp>
        <p:nvSpPr>
          <p:cNvPr id="24" name="Rectangle 23"/>
          <p:cNvSpPr/>
          <p:nvPr/>
        </p:nvSpPr>
        <p:spPr>
          <a:xfrm>
            <a:off x="658368" y="2176272"/>
            <a:ext cx="50292" cy="64008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2816352"/>
            <a:ext cx="384048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816352"/>
            <a:ext cx="360273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OpenAI Whisper (original PyTorch)</a:t>
            </a:r>
          </a:p>
        </p:txBody>
      </p:sp>
      <p:sp>
        <p:nvSpPr>
          <p:cNvPr id="27" name="Rectangle 26"/>
          <p:cNvSpPr/>
          <p:nvPr/>
        </p:nvSpPr>
        <p:spPr>
          <a:xfrm>
            <a:off x="4498848" y="2816352"/>
            <a:ext cx="219456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2816352"/>
            <a:ext cx="195681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High</a:t>
            </a:r>
          </a:p>
        </p:txBody>
      </p:sp>
      <p:sp>
        <p:nvSpPr>
          <p:cNvPr id="29" name="Rectangle 28"/>
          <p:cNvSpPr/>
          <p:nvPr/>
        </p:nvSpPr>
        <p:spPr>
          <a:xfrm>
            <a:off x="6693408" y="2816352"/>
            <a:ext cx="210312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2816352"/>
            <a:ext cx="186537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Slow on CPU</a:t>
            </a:r>
          </a:p>
        </p:txBody>
      </p:sp>
      <p:sp>
        <p:nvSpPr>
          <p:cNvPr id="31" name="Rectangle 30"/>
          <p:cNvSpPr/>
          <p:nvPr/>
        </p:nvSpPr>
        <p:spPr>
          <a:xfrm>
            <a:off x="8796528" y="2816352"/>
            <a:ext cx="274320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0" y="2816352"/>
            <a:ext cx="250545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Heavy</a:t>
            </a:r>
          </a:p>
        </p:txBody>
      </p:sp>
      <p:sp>
        <p:nvSpPr>
          <p:cNvPr id="33" name="Rectangle 32"/>
          <p:cNvSpPr/>
          <p:nvPr/>
        </p:nvSpPr>
        <p:spPr>
          <a:xfrm>
            <a:off x="658368" y="3456432"/>
            <a:ext cx="384048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3456432"/>
            <a:ext cx="360273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PocketSphinx / Kaldi</a:t>
            </a:r>
          </a:p>
        </p:txBody>
      </p:sp>
      <p:sp>
        <p:nvSpPr>
          <p:cNvPr id="35" name="Rectangle 34"/>
          <p:cNvSpPr/>
          <p:nvPr/>
        </p:nvSpPr>
        <p:spPr>
          <a:xfrm>
            <a:off x="4498848" y="3456432"/>
            <a:ext cx="219456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17720" y="3456432"/>
            <a:ext cx="195681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Low</a:t>
            </a:r>
          </a:p>
        </p:txBody>
      </p:sp>
      <p:sp>
        <p:nvSpPr>
          <p:cNvPr id="37" name="Rectangle 36"/>
          <p:cNvSpPr/>
          <p:nvPr/>
        </p:nvSpPr>
        <p:spPr>
          <a:xfrm>
            <a:off x="6693408" y="3456432"/>
            <a:ext cx="210312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2280" y="3456432"/>
            <a:ext cx="186537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Extremely Fast</a:t>
            </a:r>
          </a:p>
        </p:txBody>
      </p:sp>
      <p:sp>
        <p:nvSpPr>
          <p:cNvPr id="39" name="Rectangle 38"/>
          <p:cNvSpPr/>
          <p:nvPr/>
        </p:nvSpPr>
        <p:spPr>
          <a:xfrm>
            <a:off x="8796528" y="3456432"/>
            <a:ext cx="274320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3456432"/>
            <a:ext cx="250545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Very Low</a:t>
            </a:r>
          </a:p>
        </p:txBody>
      </p:sp>
      <p:sp>
        <p:nvSpPr>
          <p:cNvPr id="41" name="Rectangle 40"/>
          <p:cNvSpPr/>
          <p:nvPr/>
        </p:nvSpPr>
        <p:spPr>
          <a:xfrm>
            <a:off x="658368" y="4096512"/>
            <a:ext cx="384048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096512"/>
            <a:ext cx="360273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WavLM / Wav2Vec2 (speaker ID)</a:t>
            </a:r>
          </a:p>
        </p:txBody>
      </p:sp>
      <p:sp>
        <p:nvSpPr>
          <p:cNvPr id="43" name="Rectangle 42"/>
          <p:cNvSpPr/>
          <p:nvPr/>
        </p:nvSpPr>
        <p:spPr>
          <a:xfrm>
            <a:off x="4498848" y="4096512"/>
            <a:ext cx="219456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17720" y="4096512"/>
            <a:ext cx="195681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High</a:t>
            </a:r>
          </a:p>
        </p:txBody>
      </p:sp>
      <p:sp>
        <p:nvSpPr>
          <p:cNvPr id="45" name="Rectangle 44"/>
          <p:cNvSpPr/>
          <p:nvPr/>
        </p:nvSpPr>
        <p:spPr>
          <a:xfrm>
            <a:off x="6693408" y="4096512"/>
            <a:ext cx="210312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12280" y="4096512"/>
            <a:ext cx="186537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Slow on CPU</a:t>
            </a:r>
          </a:p>
        </p:txBody>
      </p:sp>
      <p:sp>
        <p:nvSpPr>
          <p:cNvPr id="47" name="Rectangle 46"/>
          <p:cNvSpPr/>
          <p:nvPr/>
        </p:nvSpPr>
        <p:spPr>
          <a:xfrm>
            <a:off x="8796528" y="4096512"/>
            <a:ext cx="274320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15400" y="4096512"/>
            <a:ext cx="250545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High</a:t>
            </a:r>
          </a:p>
        </p:txBody>
      </p:sp>
      <p:sp>
        <p:nvSpPr>
          <p:cNvPr id="49" name="Rectangle 48"/>
          <p:cNvSpPr/>
          <p:nvPr/>
        </p:nvSpPr>
        <p:spPr>
          <a:xfrm>
            <a:off x="658368" y="5047488"/>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047488"/>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Chosen because CTranslate2 makes Whisper fast enough on a CPU without giving up accuracy, PyAnnote 3.1 is the strongest open diarisation model available, and SpeechBrain produces the speaker fingerprints from the same pipeline. PocketSphinx is faster but far too inaccurate to base a redaction decision on.</a:t>
            </a:r>
          </a:p>
        </p:txBody>
      </p:sp>
      <p:sp>
        <p:nvSpPr>
          <p:cNvPr id="51" name="TextBox 5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52" name="TextBox 5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3 - CHALLENGES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Technical challenges, and how we solved them (1 of 3)</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The app cannot create its own tables - and that failed silently</a:t>
            </a:r>
          </a:p>
          <a:p>
            <a:pPr algn="l">
              <a:lnSpc>
                <a:spcPct val="118000"/>
              </a:lnSpc>
              <a:spcBef>
                <a:spcPts val="300"/>
              </a:spcBef>
            </a:pPr>
            <a:r>
              <a:rPr sz="1550" b="0">
                <a:solidFill>
                  <a:srgbClr val="5B6472"/>
                </a:solidFill>
                <a:latin typeface="Segoe UI"/>
              </a:rPr>
              <a:t>Problem: the application connects as a restricted database user that is not allowed to change the schema. An earlier hardening change also removed default rights on new tables, so a feature would deploy cleanly and then fail with "permission denied" the first time a real user touched it - at run time, not at deploy time.
Solution: every migration now ships its own grant block for the application user, and migrations are run under a separate administrative connection for the duration of that one command. This is written into the handoff as a standing rule for every future table.</a:t>
            </a:r>
          </a:p>
        </p:txBody>
      </p:sp>
      <p:sp>
        <p:nvSpPr>
          <p:cNvPr id="9" name="Oval 8"/>
          <p:cNvSpPr/>
          <p:nvPr/>
        </p:nvSpPr>
        <p:spPr>
          <a:xfrm>
            <a:off x="658368" y="3651504"/>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578352"/>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A worker being down looked exactly like "nothing found"</a:t>
            </a:r>
          </a:p>
          <a:p>
            <a:pPr algn="l">
              <a:lnSpc>
                <a:spcPct val="118000"/>
              </a:lnSpc>
              <a:spcBef>
                <a:spcPts val="300"/>
              </a:spcBef>
            </a:pPr>
            <a:r>
              <a:rPr sz="1550" b="0">
                <a:solidFill>
                  <a:srgbClr val="5B6472"/>
                </a:solidFill>
                <a:latin typeface="Segoe UI"/>
              </a:rPr>
              <a:t>Problem: if the identity-masking or audio service was unreachable, an empty result came back - and an empty result means "no sensitive content here". A photograph of an identity card could have been marked clean simply because a container had stopped.
Solution: an unreachable worker now raises its own distinct error, which parks the item as DEFERRED and requeues it. It is never treated as clean. The test suite exercises that branch directly.</a:t>
            </a:r>
          </a:p>
        </p:txBody>
      </p:sp>
      <p:sp>
        <p:nvSpPr>
          <p:cNvPr id="11" name="TextBox 1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2" name="TextBox 1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3 - CHALLENGES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Technical challenges, and how we solved them (2 of 3)</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Erasing one person from a file that contains several people</a:t>
            </a:r>
          </a:p>
          <a:p>
            <a:pPr algn="l">
              <a:lnSpc>
                <a:spcPct val="118000"/>
              </a:lnSpc>
              <a:spcBef>
                <a:spcPts val="300"/>
              </a:spcBef>
            </a:pPr>
            <a:r>
              <a:rPr sz="1550" b="0">
                <a:solidFill>
                  <a:srgbClr val="5B6472"/>
                </a:solidFill>
                <a:latin typeface="Segoe UI"/>
              </a:rPr>
              <a:t>Problem: a group photo, or a recording with three speakers, belongs to more than one person. Honouring one erasure by deleting the file would destroy everybody else's data - and their consent record with it.
Solution: when an item is shared, the server quietly downgrades DELETE to RE-REDACT and never lets the client decide otherwise. Recordings also stay sealed under the session key rather than a per-person key, so one person's erasure is carried out by removing specific locations instead of throwing the whole file away.</a:t>
            </a:r>
          </a:p>
        </p:txBody>
      </p:sp>
      <p:sp>
        <p:nvSpPr>
          <p:cNvPr id="9" name="Oval 8"/>
          <p:cNvSpPr/>
          <p:nvPr/>
        </p:nvSpPr>
        <p:spPr>
          <a:xfrm>
            <a:off x="658368" y="343662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363468"/>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Voice is not face - copying the face design broke it twice</a:t>
            </a:r>
          </a:p>
          <a:p>
            <a:pPr algn="l">
              <a:lnSpc>
                <a:spcPct val="118000"/>
              </a:lnSpc>
              <a:spcBef>
                <a:spcPts val="300"/>
              </a:spcBef>
            </a:pPr>
            <a:r>
              <a:rPr sz="1550" b="0">
                <a:solidFill>
                  <a:srgbClr val="5B6472"/>
                </a:solidFill>
                <a:latin typeface="Segoe UI"/>
              </a:rPr>
              <a:t>Problem: the face model produces a 512-number fingerprint; the speech model produces 192. The face gallery is also built once per session, but several recordings in one session are analysed at the same time, so a shared gallery meant one job tearing down what another was still reading.
Solution: a separate voice gallery with the correct 192 numbers, keyed per recording rather than per session. As a side effect it can no longer go stale - a voice enrolled halfway through a session is in the next recording's gallery automatically.</a:t>
            </a:r>
          </a:p>
        </p:txBody>
      </p:sp>
      <p:sp>
        <p:nvSpPr>
          <p:cNvPr id="11" name="TextBox 1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2" name="TextBox 1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3 - CHALLENGES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Technical challenges, and how we solved them (3 of 3)</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48132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08176"/>
            <a:ext cx="10643616" cy="365760"/>
          </a:xfrm>
          <a:prstGeom prst="rect">
            <a:avLst/>
          </a:prstGeom>
          <a:noFill/>
        </p:spPr>
        <p:txBody>
          <a:bodyPr wrap="square" lIns="0" rIns="0" tIns="0" bIns="0" anchor="t">
            <a:spAutoFit/>
          </a:bodyPr>
          <a:lstStyle/>
          <a:p>
            <a:pPr algn="l">
              <a:lnSpc>
                <a:spcPct val="118000"/>
              </a:lnSpc>
            </a:pPr>
            <a:r>
              <a:rPr sz="1500" b="1">
                <a:solidFill>
                  <a:srgbClr val="141B2B"/>
                </a:solidFill>
                <a:latin typeface="Segoe UI"/>
              </a:rPr>
              <a:t>Video is not "a lot of photos"</a:t>
            </a:r>
          </a:p>
          <a:p>
            <a:pPr algn="l">
              <a:lnSpc>
                <a:spcPct val="118000"/>
              </a:lnSpc>
              <a:spcBef>
                <a:spcPts val="300"/>
              </a:spcBef>
            </a:pPr>
            <a:r>
              <a:rPr sz="1350" b="0">
                <a:solidFill>
                  <a:srgbClr val="5B6472"/>
                </a:solidFill>
                <a:latin typeface="Segoe UI"/>
              </a:rPr>
              <a:t>Problem: a two-minute clip at 30 frames per second is 3,600 frames. Storing them as photographs would have told a person we hold 3,600 photographs of them - and running face detection on every frame costs minutes of GPU time per clip.
Solution: video became its own kind of data with its own table. The worker detects faces on every Nth frame, links them with a tracker, and averages five good views into one fingerprint per person. It is far faster, and the averaged fingerprint matches better than any single frame.</a:t>
            </a:r>
          </a:p>
        </p:txBody>
      </p:sp>
      <p:sp>
        <p:nvSpPr>
          <p:cNvPr id="9" name="Oval 8"/>
          <p:cNvSpPr/>
          <p:nvPr/>
        </p:nvSpPr>
        <p:spPr>
          <a:xfrm>
            <a:off x="658368" y="316026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087116"/>
            <a:ext cx="10643616" cy="365760"/>
          </a:xfrm>
          <a:prstGeom prst="rect">
            <a:avLst/>
          </a:prstGeom>
          <a:noFill/>
        </p:spPr>
        <p:txBody>
          <a:bodyPr wrap="square" lIns="0" rIns="0" tIns="0" bIns="0" anchor="t">
            <a:spAutoFit/>
          </a:bodyPr>
          <a:lstStyle/>
          <a:p>
            <a:pPr algn="l">
              <a:lnSpc>
                <a:spcPct val="118000"/>
              </a:lnSpc>
            </a:pPr>
            <a:r>
              <a:rPr sz="1500" b="1">
                <a:solidFill>
                  <a:srgbClr val="141B2B"/>
                </a:solidFill>
                <a:latin typeface="Segoe UI"/>
              </a:rPr>
              <a:t>Redacting text is a different problem from redacting a face</a:t>
            </a:r>
          </a:p>
          <a:p>
            <a:pPr algn="l">
              <a:lnSpc>
                <a:spcPct val="118000"/>
              </a:lnSpc>
              <a:spcBef>
                <a:spcPts val="300"/>
              </a:spcBef>
            </a:pPr>
            <a:r>
              <a:rPr sz="1350" b="0">
                <a:solidFill>
                  <a:srgbClr val="5B6472"/>
                </a:solidFill>
                <a:latin typeface="Segoe UI"/>
              </a:rPr>
              <a:t>Problem: with a face, anything the model misses is still a face and can be blurred by a human. With text, the safe default is inverted - an untagged sentence might belong to anyone, so leaving it visible is the risky choice.
Solution: the text pipeline redacts by default. Any prose not tagged to a person who consented is masked in full, so forgetting to tag somebody hides them rather than exposing them.</a:t>
            </a:r>
          </a:p>
        </p:txBody>
      </p:sp>
      <p:sp>
        <p:nvSpPr>
          <p:cNvPr id="11" name="Oval 10"/>
          <p:cNvSpPr/>
          <p:nvPr/>
        </p:nvSpPr>
        <p:spPr>
          <a:xfrm>
            <a:off x="658368" y="4624324"/>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551172"/>
            <a:ext cx="10643616" cy="365760"/>
          </a:xfrm>
          <a:prstGeom prst="rect">
            <a:avLst/>
          </a:prstGeom>
          <a:noFill/>
        </p:spPr>
        <p:txBody>
          <a:bodyPr wrap="square" lIns="0" rIns="0" tIns="0" bIns="0" anchor="t">
            <a:spAutoFit/>
          </a:bodyPr>
          <a:lstStyle/>
          <a:p>
            <a:pPr algn="l">
              <a:lnSpc>
                <a:spcPct val="118000"/>
              </a:lnSpc>
            </a:pPr>
            <a:r>
              <a:rPr sz="1500" b="1">
                <a:solidFill>
                  <a:srgbClr val="141B2B"/>
                </a:solidFill>
                <a:latin typeface="Segoe UI"/>
              </a:rPr>
              <a:t>Browser audio does not match what the model needs</a:t>
            </a:r>
          </a:p>
          <a:p>
            <a:pPr algn="l">
              <a:lnSpc>
                <a:spcPct val="118000"/>
              </a:lnSpc>
              <a:spcBef>
                <a:spcPts val="300"/>
              </a:spcBef>
            </a:pPr>
            <a:r>
              <a:rPr sz="1350" b="0">
                <a:solidFill>
                  <a:srgbClr val="5B6472"/>
                </a:solidFill>
                <a:latin typeface="Segoe UI"/>
              </a:rPr>
              <a:t>Problem: Chrome records one format, Safari records another, and the speech model wants 16 kHz mono WAV.
Solution: convert in the browser before upload. A five-second clip now arrives under 200 KB and loads on any backend.</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4 - RESULTS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Results till now</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89888"/>
            <a:ext cx="2615184"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609344"/>
            <a:ext cx="2212848" cy="548640"/>
          </a:xfrm>
          <a:prstGeom prst="rect">
            <a:avLst/>
          </a:prstGeom>
          <a:noFill/>
        </p:spPr>
        <p:txBody>
          <a:bodyPr wrap="square" lIns="0" rIns="0" tIns="0" bIns="0" anchor="t">
            <a:spAutoFit/>
          </a:bodyPr>
          <a:lstStyle/>
          <a:p>
            <a:pPr algn="l">
              <a:lnSpc>
                <a:spcPct val="115000"/>
              </a:lnSpc>
            </a:pPr>
            <a:r>
              <a:rPr sz="2700" b="1">
                <a:solidFill>
                  <a:srgbClr val="1D5BD6"/>
                </a:solidFill>
                <a:latin typeface="Segoe UI"/>
              </a:rPr>
              <a:t>123/123</a:t>
            </a:r>
          </a:p>
        </p:txBody>
      </p:sp>
      <p:sp>
        <p:nvSpPr>
          <p:cNvPr id="10" name="TextBox 9"/>
          <p:cNvSpPr txBox="1"/>
          <p:nvPr/>
        </p:nvSpPr>
        <p:spPr>
          <a:xfrm>
            <a:off x="859536"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Automated tests passing</a:t>
            </a:r>
          </a:p>
          <a:p>
            <a:pPr algn="l">
              <a:lnSpc>
                <a:spcPct val="110000"/>
              </a:lnSpc>
              <a:spcBef>
                <a:spcPts val="200"/>
              </a:spcBef>
            </a:pPr>
            <a:r>
              <a:rPr sz="1000" b="0">
                <a:solidFill>
                  <a:srgbClr val="5B6472"/>
                </a:solidFill>
                <a:latin typeface="Segoe UI"/>
              </a:rPr>
              <a:t>0 failures, held across three phases</a:t>
            </a:r>
          </a:p>
        </p:txBody>
      </p:sp>
      <p:sp>
        <p:nvSpPr>
          <p:cNvPr id="11" name="Rectangle 10"/>
          <p:cNvSpPr/>
          <p:nvPr/>
        </p:nvSpPr>
        <p:spPr>
          <a:xfrm>
            <a:off x="3419856"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856" y="1389888"/>
            <a:ext cx="2615184"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1609344"/>
            <a:ext cx="2212848" cy="548640"/>
          </a:xfrm>
          <a:prstGeom prst="rect">
            <a:avLst/>
          </a:prstGeom>
          <a:noFill/>
        </p:spPr>
        <p:txBody>
          <a:bodyPr wrap="square" lIns="0" rIns="0" tIns="0" bIns="0" anchor="t">
            <a:spAutoFit/>
          </a:bodyPr>
          <a:lstStyle/>
          <a:p>
            <a:pPr algn="l">
              <a:lnSpc>
                <a:spcPct val="115000"/>
              </a:lnSpc>
            </a:pPr>
            <a:r>
              <a:rPr sz="2700" b="1">
                <a:solidFill>
                  <a:srgbClr val="1D5BD6"/>
                </a:solidFill>
                <a:latin typeface="Segoe UI"/>
              </a:rPr>
              <a:t>3</a:t>
            </a:r>
          </a:p>
        </p:txBody>
      </p:sp>
      <p:sp>
        <p:nvSpPr>
          <p:cNvPr id="14" name="TextBox 13"/>
          <p:cNvSpPr txBox="1"/>
          <p:nvPr/>
        </p:nvSpPr>
        <p:spPr>
          <a:xfrm>
            <a:off x="3621024"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Capture types working</a:t>
            </a:r>
          </a:p>
          <a:p>
            <a:pPr algn="l">
              <a:lnSpc>
                <a:spcPct val="110000"/>
              </a:lnSpc>
              <a:spcBef>
                <a:spcPts val="200"/>
              </a:spcBef>
            </a:pPr>
            <a:r>
              <a:rPr sz="1000" b="0">
                <a:solidFill>
                  <a:srgbClr val="5B6472"/>
                </a:solidFill>
                <a:latin typeface="Segoe UI"/>
              </a:rPr>
              <a:t>Image, audio and written text</a:t>
            </a:r>
          </a:p>
        </p:txBody>
      </p:sp>
      <p:sp>
        <p:nvSpPr>
          <p:cNvPr id="15" name="Rectangle 14"/>
          <p:cNvSpPr/>
          <p:nvPr/>
        </p:nvSpPr>
        <p:spPr>
          <a:xfrm>
            <a:off x="6181344"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389888"/>
            <a:ext cx="2615184"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609344"/>
            <a:ext cx="2212848" cy="548640"/>
          </a:xfrm>
          <a:prstGeom prst="rect">
            <a:avLst/>
          </a:prstGeom>
          <a:noFill/>
        </p:spPr>
        <p:txBody>
          <a:bodyPr wrap="square" lIns="0" rIns="0" tIns="0" bIns="0" anchor="t">
            <a:spAutoFit/>
          </a:bodyPr>
          <a:lstStyle/>
          <a:p>
            <a:pPr algn="l">
              <a:lnSpc>
                <a:spcPct val="115000"/>
              </a:lnSpc>
            </a:pPr>
            <a:r>
              <a:rPr sz="2700" b="1">
                <a:solidFill>
                  <a:srgbClr val="1D5BD6"/>
                </a:solidFill>
                <a:latin typeface="Segoe UI"/>
              </a:rPr>
              <a:t>2,525</a:t>
            </a:r>
          </a:p>
        </p:txBody>
      </p:sp>
      <p:sp>
        <p:nvSpPr>
          <p:cNvPr id="18" name="TextBox 17"/>
          <p:cNvSpPr txBox="1"/>
          <p:nvPr/>
        </p:nvSpPr>
        <p:spPr>
          <a:xfrm>
            <a:off x="6382512"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Access events recorded</a:t>
            </a:r>
          </a:p>
          <a:p>
            <a:pPr algn="l">
              <a:lnSpc>
                <a:spcPct val="110000"/>
              </a:lnSpc>
              <a:spcBef>
                <a:spcPts val="200"/>
              </a:spcBef>
            </a:pPr>
            <a:r>
              <a:rPr sz="1000" b="0">
                <a:solidFill>
                  <a:srgbClr val="5B6472"/>
                </a:solidFill>
                <a:latin typeface="Segoe UI"/>
              </a:rPr>
              <a:t>0 break-glass reads (0%)</a:t>
            </a:r>
          </a:p>
        </p:txBody>
      </p:sp>
      <p:sp>
        <p:nvSpPr>
          <p:cNvPr id="19" name="Rectangle 18"/>
          <p:cNvSpPr/>
          <p:nvPr/>
        </p:nvSpPr>
        <p:spPr>
          <a:xfrm>
            <a:off x="8942832"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2832" y="1389888"/>
            <a:ext cx="2615184" cy="45720"/>
          </a:xfrm>
          <a:prstGeom prst="rect">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609344"/>
            <a:ext cx="2212848" cy="548640"/>
          </a:xfrm>
          <a:prstGeom prst="rect">
            <a:avLst/>
          </a:prstGeom>
          <a:noFill/>
        </p:spPr>
        <p:txBody>
          <a:bodyPr wrap="square" lIns="0" rIns="0" tIns="0" bIns="0" anchor="t">
            <a:spAutoFit/>
          </a:bodyPr>
          <a:lstStyle/>
          <a:p>
            <a:pPr algn="l">
              <a:lnSpc>
                <a:spcPct val="115000"/>
              </a:lnSpc>
            </a:pPr>
            <a:r>
              <a:rPr sz="2700" b="1">
                <a:solidFill>
                  <a:srgbClr val="0E7C54"/>
                </a:solidFill>
                <a:latin typeface="Segoe UI"/>
              </a:rPr>
              <a:t>0</a:t>
            </a:r>
          </a:p>
        </p:txBody>
      </p:sp>
      <p:sp>
        <p:nvSpPr>
          <p:cNvPr id="22" name="TextBox 21"/>
          <p:cNvSpPr txBox="1"/>
          <p:nvPr/>
        </p:nvSpPr>
        <p:spPr>
          <a:xfrm>
            <a:off x="9144000"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Data released unredacted</a:t>
            </a:r>
          </a:p>
          <a:p>
            <a:pPr algn="l">
              <a:lnSpc>
                <a:spcPct val="110000"/>
              </a:lnSpc>
              <a:spcBef>
                <a:spcPts val="200"/>
              </a:spcBef>
            </a:pPr>
            <a:r>
              <a:rPr sz="1000" b="0">
                <a:solidFill>
                  <a:srgbClr val="5B6472"/>
                </a:solidFill>
                <a:latin typeface="Segoe UI"/>
              </a:rPr>
              <a:t>The fail-closed rule held throughout</a:t>
            </a:r>
          </a:p>
        </p:txBody>
      </p:sp>
      <p:sp>
        <p:nvSpPr>
          <p:cNvPr id="23" name="Rectangle 22"/>
          <p:cNvSpPr/>
          <p:nvPr/>
        </p:nvSpPr>
        <p:spPr>
          <a:xfrm>
            <a:off x="658368" y="3182112"/>
            <a:ext cx="210312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82112"/>
            <a:ext cx="186537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Area</a:t>
            </a:r>
          </a:p>
        </p:txBody>
      </p:sp>
      <p:sp>
        <p:nvSpPr>
          <p:cNvPr id="25" name="Rectangle 24"/>
          <p:cNvSpPr/>
          <p:nvPr/>
        </p:nvSpPr>
        <p:spPr>
          <a:xfrm>
            <a:off x="2761488" y="3182112"/>
            <a:ext cx="877824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3182112"/>
            <a:ext cx="854049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Where it stands on 19 August 2026</a:t>
            </a:r>
          </a:p>
        </p:txBody>
      </p:sp>
      <p:sp>
        <p:nvSpPr>
          <p:cNvPr id="27" name="Rectangle 26"/>
          <p:cNvSpPr/>
          <p:nvPr/>
        </p:nvSpPr>
        <p:spPr>
          <a:xfrm>
            <a:off x="658368" y="3566160"/>
            <a:ext cx="210312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566160"/>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End-to-end flow</a:t>
            </a:r>
          </a:p>
        </p:txBody>
      </p:sp>
      <p:sp>
        <p:nvSpPr>
          <p:cNvPr id="29" name="Rectangle 28"/>
          <p:cNvSpPr/>
          <p:nvPr/>
        </p:nvSpPr>
        <p:spPr>
          <a:xfrm>
            <a:off x="2761488" y="3566160"/>
            <a:ext cx="877824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3566160"/>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Approve, consent, collect, protect, hand off, request, erase - working today for images, audio and written text</a:t>
            </a:r>
          </a:p>
        </p:txBody>
      </p:sp>
      <p:sp>
        <p:nvSpPr>
          <p:cNvPr id="31" name="Rectangle 30"/>
          <p:cNvSpPr/>
          <p:nvPr/>
        </p:nvSpPr>
        <p:spPr>
          <a:xfrm>
            <a:off x="658368" y="4005072"/>
            <a:ext cx="210312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005072"/>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Audio, proved</a:t>
            </a:r>
          </a:p>
        </p:txBody>
      </p:sp>
      <p:sp>
        <p:nvSpPr>
          <p:cNvPr id="33" name="Rectangle 32"/>
          <p:cNvSpPr/>
          <p:nvPr/>
        </p:nvSpPr>
        <p:spPr>
          <a:xfrm>
            <a:off x="2761488" y="4005072"/>
            <a:ext cx="877824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360" y="4005072"/>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 1:49 recording: 2 speakers separated, 4 turns kept, 1 unconsented speaker muted, 10 spoken-PII spans muted, redacted copy saved</a:t>
            </a:r>
          </a:p>
        </p:txBody>
      </p:sp>
      <p:sp>
        <p:nvSpPr>
          <p:cNvPr id="35" name="Rectangle 34"/>
          <p:cNvSpPr/>
          <p:nvPr/>
        </p:nvSpPr>
        <p:spPr>
          <a:xfrm>
            <a:off x="658368" y="4443984"/>
            <a:ext cx="210312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443984"/>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Text, proved</a:t>
            </a:r>
          </a:p>
        </p:txBody>
      </p:sp>
      <p:sp>
        <p:nvSpPr>
          <p:cNvPr id="37" name="Rectangle 36"/>
          <p:cNvSpPr/>
          <p:nvPr/>
        </p:nvSpPr>
        <p:spPr>
          <a:xfrm>
            <a:off x="2761488" y="4443984"/>
            <a:ext cx="877824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4443984"/>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 pasted transcript: 3 identity entities found and masked, original and redacted copy held side by side</a:t>
            </a:r>
          </a:p>
        </p:txBody>
      </p:sp>
      <p:sp>
        <p:nvSpPr>
          <p:cNvPr id="39" name="Rectangle 38"/>
          <p:cNvSpPr/>
          <p:nvPr/>
        </p:nvSpPr>
        <p:spPr>
          <a:xfrm>
            <a:off x="658368" y="4882896"/>
            <a:ext cx="210312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882896"/>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Governance</a:t>
            </a:r>
          </a:p>
        </p:txBody>
      </p:sp>
      <p:sp>
        <p:nvSpPr>
          <p:cNvPr id="41" name="Rectangle 40"/>
          <p:cNvSpPr/>
          <p:nvPr/>
        </p:nvSpPr>
        <p:spPr>
          <a:xfrm>
            <a:off x="2761488" y="4882896"/>
            <a:ext cx="877824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80360" y="4882896"/>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2 projects approved and 1 in draft - 6 consent notices published - 4 consents granted, 0 withdrawn</a:t>
            </a:r>
          </a:p>
        </p:txBody>
      </p:sp>
      <p:sp>
        <p:nvSpPr>
          <p:cNvPr id="43" name="Rectangle 42"/>
          <p:cNvSpPr/>
          <p:nvPr/>
        </p:nvSpPr>
        <p:spPr>
          <a:xfrm>
            <a:off x="658368" y="5321808"/>
            <a:ext cx="210312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321808"/>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Collection</a:t>
            </a:r>
          </a:p>
        </p:txBody>
      </p:sp>
      <p:sp>
        <p:nvSpPr>
          <p:cNvPr id="45" name="Rectangle 44"/>
          <p:cNvSpPr/>
          <p:nvPr/>
        </p:nvSpPr>
        <p:spPr>
          <a:xfrm>
            <a:off x="2761488" y="5321808"/>
            <a:ext cx="877824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80360" y="5321808"/>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8 sessions handed off, 1 ingested into the golden store - 83 frames cleared, 25 still pending redaction</a:t>
            </a:r>
          </a:p>
        </p:txBody>
      </p:sp>
      <p:sp>
        <p:nvSpPr>
          <p:cNvPr id="47" name="Rectangle 46"/>
          <p:cNvSpPr/>
          <p:nvPr/>
        </p:nvSpPr>
        <p:spPr>
          <a:xfrm>
            <a:off x="658368" y="5760720"/>
            <a:ext cx="210312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7240" y="5760720"/>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Requests</a:t>
            </a:r>
          </a:p>
        </p:txBody>
      </p:sp>
      <p:sp>
        <p:nvSpPr>
          <p:cNvPr id="49" name="Rectangle 48"/>
          <p:cNvSpPr/>
          <p:nvPr/>
        </p:nvSpPr>
        <p:spPr>
          <a:xfrm>
            <a:off x="2761488" y="5760720"/>
            <a:ext cx="877824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60" y="5760720"/>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3 requests open and inside their deadline - 4 export packages produced with evidence - 0 breaches</a:t>
            </a:r>
          </a:p>
        </p:txBody>
      </p:sp>
      <p:sp>
        <p:nvSpPr>
          <p:cNvPr id="51" name="TextBox 5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52" name="TextBox 5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5 - OBSERVATIONS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Observations based on these results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520293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Failing closed is correct, but it looks broken</a:t>
            </a:r>
          </a:p>
          <a:p>
            <a:pPr algn="l">
              <a:lnSpc>
                <a:spcPct val="118000"/>
              </a:lnSpc>
              <a:spcBef>
                <a:spcPts val="300"/>
              </a:spcBef>
            </a:pPr>
            <a:r>
              <a:rPr sz="1200" b="0">
                <a:solidFill>
                  <a:srgbClr val="5B6472"/>
                </a:solidFill>
                <a:latin typeface="Segoe UI"/>
              </a:rPr>
              <a:t>An environment where a worker was simply never provisioned showed red errors and a spinner that never resolved. We now say "not offered in this deployment" and keep real errors for real faults.</a:t>
            </a:r>
          </a:p>
        </p:txBody>
      </p:sp>
      <p:sp>
        <p:nvSpPr>
          <p:cNvPr id="9" name="Oval 8"/>
          <p:cNvSpPr/>
          <p:nvPr/>
        </p:nvSpPr>
        <p:spPr>
          <a:xfrm>
            <a:off x="658368" y="2676652"/>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603500"/>
            <a:ext cx="520293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Almost every bug was at a boundary</a:t>
            </a:r>
          </a:p>
          <a:p>
            <a:pPr algn="l">
              <a:lnSpc>
                <a:spcPct val="118000"/>
              </a:lnSpc>
              <a:spcBef>
                <a:spcPts val="300"/>
              </a:spcBef>
            </a:pPr>
            <a:r>
              <a:rPr sz="1200" b="0">
                <a:solidFill>
                  <a:srgbClr val="5B6472"/>
                </a:solidFill>
                <a:latin typeface="Segoe UI"/>
              </a:rPr>
              <a:t>Database grants, route ordering, audio formats, fingerprint sizes. The business logic held; the joins between systems did not. Environment drift counts too - with the containers stopped, 33 of the 123 tests fail at once and it reads exactly like a code regression.</a:t>
            </a:r>
          </a:p>
        </p:txBody>
      </p:sp>
      <p:sp>
        <p:nvSpPr>
          <p:cNvPr id="11" name="Oval 10"/>
          <p:cNvSpPr/>
          <p:nvPr/>
        </p:nvSpPr>
        <p:spPr>
          <a:xfrm>
            <a:off x="658368" y="401370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940556"/>
            <a:ext cx="520293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A green test suite is not proof the AI works</a:t>
            </a:r>
          </a:p>
          <a:p>
            <a:pPr algn="l">
              <a:lnSpc>
                <a:spcPct val="118000"/>
              </a:lnSpc>
              <a:spcBef>
                <a:spcPts val="300"/>
              </a:spcBef>
            </a:pPr>
            <a:r>
              <a:rPr sz="1200" b="0">
                <a:solidFill>
                  <a:srgbClr val="5B6472"/>
                </a:solidFill>
                <a:latin typeface="Segoe UI"/>
              </a:rPr>
              <a:t>The suite passes partly because it tests the fail-closed branch. With the model containers switched off it still reports 123 of 123 - by design, and it must not be read as "the pipeline works".</a:t>
            </a:r>
          </a:p>
        </p:txBody>
      </p:sp>
      <p:sp>
        <p:nvSpPr>
          <p:cNvPr id="13" name="Oval 12"/>
          <p:cNvSpPr/>
          <p:nvPr/>
        </p:nvSpPr>
        <p:spPr>
          <a:xfrm>
            <a:off x="6355080"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81328"/>
            <a:ext cx="502005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Three pipelines, three machines, nothing merged yet</a:t>
            </a:r>
          </a:p>
          <a:p>
            <a:pPr algn="l">
              <a:lnSpc>
                <a:spcPct val="118000"/>
              </a:lnSpc>
              <a:spcBef>
                <a:spcPts val="300"/>
              </a:spcBef>
            </a:pPr>
            <a:r>
              <a:rPr sz="1200" b="0">
                <a:solidFill>
                  <a:srgbClr val="5B6472"/>
                </a:solidFill>
                <a:latin typeface="Segoe UI"/>
              </a:rPr>
              <a:t>The image, audio and text pipelines were each built separately, and the text work and the updated audio screens are not yet on the main branch. The features exist; the integrated system does not. This is now the biggest risk to the 31 August deadline, and it is the first item in the plan.</a:t>
            </a:r>
          </a:p>
        </p:txBody>
      </p:sp>
      <p:sp>
        <p:nvSpPr>
          <p:cNvPr id="15" name="Oval 14"/>
          <p:cNvSpPr/>
          <p:nvPr/>
        </p:nvSpPr>
        <p:spPr>
          <a:xfrm>
            <a:off x="6355080" y="310642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3033268"/>
            <a:ext cx="502005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Speaker matching works - on one recording</a:t>
            </a:r>
          </a:p>
          <a:p>
            <a:pPr algn="l">
              <a:lnSpc>
                <a:spcPct val="118000"/>
              </a:lnSpc>
              <a:spcBef>
                <a:spcPts val="300"/>
              </a:spcBef>
            </a:pPr>
            <a:r>
              <a:rPr sz="1200" b="0">
                <a:solidFill>
                  <a:srgbClr val="5B6472"/>
                </a:solidFill>
                <a:latin typeface="Segoe UI"/>
              </a:rPr>
              <a:t>The demo correctly kept the consented speaker and muted the unknown one. That is one recording with two speakers. The acceptance threshold has not been measured across a wider sample, and until it is, a stranger being accepted stays possible.</a:t>
            </a:r>
          </a:p>
        </p:txBody>
      </p:sp>
      <p:sp>
        <p:nvSpPr>
          <p:cNvPr id="17" name="Oval 16"/>
          <p:cNvSpPr/>
          <p:nvPr/>
        </p:nvSpPr>
        <p:spPr>
          <a:xfrm>
            <a:off x="6355080" y="4443476"/>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4370324"/>
            <a:ext cx="502005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An honest gap beats a tidy record</a:t>
            </a:r>
          </a:p>
          <a:p>
            <a:pPr algn="l">
              <a:lnSpc>
                <a:spcPct val="118000"/>
              </a:lnSpc>
              <a:spcBef>
                <a:spcPts val="300"/>
              </a:spcBef>
            </a:pPr>
            <a:r>
              <a:rPr sz="1200" b="0">
                <a:solidFill>
                  <a:srgbClr val="5B6472"/>
                </a:solidFill>
                <a:latin typeface="Segoe UI"/>
              </a:rPr>
              <a:t>Imported data with no consent is labelled "lawful basis unverified" rather than given a manufactured consent row, so the gap shows up in every request response instead of disappearing.</a:t>
            </a:r>
          </a:p>
        </p:txBody>
      </p:sp>
      <p:sp>
        <p:nvSpPr>
          <p:cNvPr id="19" name="TextBox 1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20" name="TextBox 1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6 - PLAN TO THE DEADLINE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The next two weeks, day by day</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80160"/>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13 days from today to the 31 August deadline. Integration comes first, because nothing the team built separately is merged yet.</a:t>
            </a:r>
          </a:p>
        </p:txBody>
      </p:sp>
      <p:sp>
        <p:nvSpPr>
          <p:cNvPr id="8" name="Rectangle 7"/>
          <p:cNvSpPr/>
          <p:nvPr/>
        </p:nvSpPr>
        <p:spPr>
          <a:xfrm>
            <a:off x="658368" y="1664208"/>
            <a:ext cx="1417320" cy="36576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64208"/>
            <a:ext cx="1179576" cy="365760"/>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Day</a:t>
            </a:r>
          </a:p>
        </p:txBody>
      </p:sp>
      <p:sp>
        <p:nvSpPr>
          <p:cNvPr id="10" name="Rectangle 9"/>
          <p:cNvSpPr/>
          <p:nvPr/>
        </p:nvSpPr>
        <p:spPr>
          <a:xfrm>
            <a:off x="2075688" y="1664208"/>
            <a:ext cx="1554480" cy="36576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1664208"/>
            <a:ext cx="1316736" cy="365760"/>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Workstream</a:t>
            </a:r>
          </a:p>
        </p:txBody>
      </p:sp>
      <p:sp>
        <p:nvSpPr>
          <p:cNvPr id="12" name="Rectangle 11"/>
          <p:cNvSpPr/>
          <p:nvPr/>
        </p:nvSpPr>
        <p:spPr>
          <a:xfrm>
            <a:off x="3630168" y="1664208"/>
            <a:ext cx="7909560" cy="36576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1664208"/>
            <a:ext cx="7671816" cy="365760"/>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What gets done</a:t>
            </a:r>
          </a:p>
        </p:txBody>
      </p:sp>
      <p:sp>
        <p:nvSpPr>
          <p:cNvPr id="14" name="Rectangle 13"/>
          <p:cNvSpPr/>
          <p:nvPr/>
        </p:nvSpPr>
        <p:spPr>
          <a:xfrm>
            <a:off x="658368" y="2029968"/>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029968"/>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Wed 19 Aug</a:t>
            </a:r>
          </a:p>
        </p:txBody>
      </p:sp>
      <p:sp>
        <p:nvSpPr>
          <p:cNvPr id="16" name="Rectangle 15"/>
          <p:cNvSpPr/>
          <p:nvPr/>
        </p:nvSpPr>
        <p:spPr>
          <a:xfrm>
            <a:off x="2075688" y="2029968"/>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029968"/>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Integration</a:t>
            </a:r>
          </a:p>
        </p:txBody>
      </p:sp>
      <p:sp>
        <p:nvSpPr>
          <p:cNvPr id="18" name="Rectangle 17"/>
          <p:cNvSpPr/>
          <p:nvPr/>
        </p:nvSpPr>
        <p:spPr>
          <a:xfrm>
            <a:off x="3630168" y="2029968"/>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2029968"/>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Merge the text pipeline and the updated audio screens into main; apply the pending voice-enrollment migration</a:t>
            </a:r>
          </a:p>
        </p:txBody>
      </p:sp>
      <p:sp>
        <p:nvSpPr>
          <p:cNvPr id="20" name="Rectangle 19"/>
          <p:cNvSpPr/>
          <p:nvPr/>
        </p:nvSpPr>
        <p:spPr>
          <a:xfrm>
            <a:off x="658368" y="2363724"/>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363724"/>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Thu 20 Aug</a:t>
            </a:r>
          </a:p>
        </p:txBody>
      </p:sp>
      <p:sp>
        <p:nvSpPr>
          <p:cNvPr id="22" name="Rectangle 21"/>
          <p:cNvSpPr/>
          <p:nvPr/>
        </p:nvSpPr>
        <p:spPr>
          <a:xfrm>
            <a:off x="2075688" y="2363724"/>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2363724"/>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Integration</a:t>
            </a:r>
          </a:p>
        </p:txBody>
      </p:sp>
      <p:sp>
        <p:nvSpPr>
          <p:cNvPr id="24" name="Rectangle 23"/>
          <p:cNvSpPr/>
          <p:nvPr/>
        </p:nvSpPr>
        <p:spPr>
          <a:xfrm>
            <a:off x="3630168" y="2363724"/>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0" y="2363724"/>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Resolve the schema conflicts from the merge; get the full test suite green on merged main</a:t>
            </a:r>
          </a:p>
        </p:txBody>
      </p:sp>
      <p:sp>
        <p:nvSpPr>
          <p:cNvPr id="26" name="Rectangle 25"/>
          <p:cNvSpPr/>
          <p:nvPr/>
        </p:nvSpPr>
        <p:spPr>
          <a:xfrm>
            <a:off x="658368" y="2697480"/>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2697480"/>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Fri 21 Aug</a:t>
            </a:r>
          </a:p>
        </p:txBody>
      </p:sp>
      <p:sp>
        <p:nvSpPr>
          <p:cNvPr id="28" name="Rectangle 27"/>
          <p:cNvSpPr/>
          <p:nvPr/>
        </p:nvSpPr>
        <p:spPr>
          <a:xfrm>
            <a:off x="2075688" y="2697480"/>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0" y="2697480"/>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a:t>
            </a:r>
          </a:p>
        </p:txBody>
      </p:sp>
      <p:sp>
        <p:nvSpPr>
          <p:cNvPr id="30" name="Rectangle 29"/>
          <p:cNvSpPr/>
          <p:nvPr/>
        </p:nvSpPr>
        <p:spPr>
          <a:xfrm>
            <a:off x="3630168" y="2697480"/>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0" y="2697480"/>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Calibrate the speaker-match threshold on a wider set of recordings and lock the value</a:t>
            </a:r>
          </a:p>
        </p:txBody>
      </p:sp>
      <p:sp>
        <p:nvSpPr>
          <p:cNvPr id="32" name="Rectangle 31"/>
          <p:cNvSpPr/>
          <p:nvPr/>
        </p:nvSpPr>
        <p:spPr>
          <a:xfrm>
            <a:off x="658368" y="3031236"/>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031236"/>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Sat 22 Aug</a:t>
            </a:r>
          </a:p>
        </p:txBody>
      </p:sp>
      <p:sp>
        <p:nvSpPr>
          <p:cNvPr id="34" name="Rectangle 33"/>
          <p:cNvSpPr/>
          <p:nvPr/>
        </p:nvSpPr>
        <p:spPr>
          <a:xfrm>
            <a:off x="2075688" y="3031236"/>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94560" y="3031236"/>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a:t>
            </a:r>
          </a:p>
        </p:txBody>
      </p:sp>
      <p:sp>
        <p:nvSpPr>
          <p:cNvPr id="36" name="Rectangle 35"/>
          <p:cNvSpPr/>
          <p:nvPr/>
        </p:nvSpPr>
        <p:spPr>
          <a:xfrm>
            <a:off x="3630168" y="3031236"/>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9040" y="3031236"/>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 capture, face tracking and blurring working end to end</a:t>
            </a:r>
          </a:p>
        </p:txBody>
      </p:sp>
      <p:sp>
        <p:nvSpPr>
          <p:cNvPr id="38" name="Rectangle 37"/>
          <p:cNvSpPr/>
          <p:nvPr/>
        </p:nvSpPr>
        <p:spPr>
          <a:xfrm>
            <a:off x="658368" y="3364992"/>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3364992"/>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Sun 23 Aug</a:t>
            </a:r>
          </a:p>
        </p:txBody>
      </p:sp>
      <p:sp>
        <p:nvSpPr>
          <p:cNvPr id="40" name="Rectangle 39"/>
          <p:cNvSpPr/>
          <p:nvPr/>
        </p:nvSpPr>
        <p:spPr>
          <a:xfrm>
            <a:off x="2075688" y="3364992"/>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3364992"/>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Buffer</a:t>
            </a:r>
          </a:p>
        </p:txBody>
      </p:sp>
      <p:sp>
        <p:nvSpPr>
          <p:cNvPr id="42" name="Rectangle 41"/>
          <p:cNvSpPr/>
          <p:nvPr/>
        </p:nvSpPr>
        <p:spPr>
          <a:xfrm>
            <a:off x="3630168" y="3364992"/>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49040" y="3364992"/>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Catch up on anything that slipped; no new work planned</a:t>
            </a:r>
          </a:p>
        </p:txBody>
      </p:sp>
      <p:sp>
        <p:nvSpPr>
          <p:cNvPr id="44" name="Rectangle 43"/>
          <p:cNvSpPr/>
          <p:nvPr/>
        </p:nvSpPr>
        <p:spPr>
          <a:xfrm>
            <a:off x="658368" y="3698748"/>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3698748"/>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Mon 24 Aug</a:t>
            </a:r>
          </a:p>
        </p:txBody>
      </p:sp>
      <p:sp>
        <p:nvSpPr>
          <p:cNvPr id="46" name="Rectangle 45"/>
          <p:cNvSpPr/>
          <p:nvPr/>
        </p:nvSpPr>
        <p:spPr>
          <a:xfrm>
            <a:off x="2075688" y="3698748"/>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94560" y="3698748"/>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a:t>
            </a:r>
          </a:p>
        </p:txBody>
      </p:sp>
      <p:sp>
        <p:nvSpPr>
          <p:cNvPr id="48" name="Rectangle 47"/>
          <p:cNvSpPr/>
          <p:nvPr/>
        </p:nvSpPr>
        <p:spPr>
          <a:xfrm>
            <a:off x="3630168" y="3698748"/>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49040" y="3698748"/>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 wired into the request grid, so it can be found and deleted exactly like a photo</a:t>
            </a:r>
          </a:p>
        </p:txBody>
      </p:sp>
      <p:sp>
        <p:nvSpPr>
          <p:cNvPr id="50" name="Rectangle 49"/>
          <p:cNvSpPr/>
          <p:nvPr/>
        </p:nvSpPr>
        <p:spPr>
          <a:xfrm>
            <a:off x="658368" y="4032504"/>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4032504"/>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Tue 25 Aug</a:t>
            </a:r>
          </a:p>
        </p:txBody>
      </p:sp>
      <p:sp>
        <p:nvSpPr>
          <p:cNvPr id="52" name="Rectangle 51"/>
          <p:cNvSpPr/>
          <p:nvPr/>
        </p:nvSpPr>
        <p:spPr>
          <a:xfrm>
            <a:off x="2075688" y="4032504"/>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94560" y="4032504"/>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Cleanup</a:t>
            </a:r>
          </a:p>
        </p:txBody>
      </p:sp>
      <p:sp>
        <p:nvSpPr>
          <p:cNvPr id="54" name="Rectangle 53"/>
          <p:cNvSpPr/>
          <p:nvPr/>
        </p:nvSpPr>
        <p:spPr>
          <a:xfrm>
            <a:off x="3630168" y="4032504"/>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0" y="4032504"/>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3 - remove the three unused AI directories and the comments pointing at them</a:t>
            </a:r>
          </a:p>
        </p:txBody>
      </p:sp>
      <p:sp>
        <p:nvSpPr>
          <p:cNvPr id="56" name="Rectangle 55"/>
          <p:cNvSpPr/>
          <p:nvPr/>
        </p:nvSpPr>
        <p:spPr>
          <a:xfrm>
            <a:off x="658368" y="4366260"/>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4366260"/>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Wed 26 Aug</a:t>
            </a:r>
          </a:p>
        </p:txBody>
      </p:sp>
      <p:sp>
        <p:nvSpPr>
          <p:cNvPr id="58" name="Rectangle 57"/>
          <p:cNvSpPr/>
          <p:nvPr/>
        </p:nvSpPr>
        <p:spPr>
          <a:xfrm>
            <a:off x="2075688" y="4366260"/>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194560" y="4366260"/>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Interface</a:t>
            </a:r>
          </a:p>
        </p:txBody>
      </p:sp>
      <p:sp>
        <p:nvSpPr>
          <p:cNvPr id="60" name="Rectangle 59"/>
          <p:cNvSpPr/>
          <p:nvPr/>
        </p:nvSpPr>
        <p:spPr>
          <a:xfrm>
            <a:off x="3630168" y="4366260"/>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49040" y="4366260"/>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4 - design tokens, and consistent loading, empty and error states</a:t>
            </a:r>
          </a:p>
        </p:txBody>
      </p:sp>
      <p:sp>
        <p:nvSpPr>
          <p:cNvPr id="62" name="Rectangle 61"/>
          <p:cNvSpPr/>
          <p:nvPr/>
        </p:nvSpPr>
        <p:spPr>
          <a:xfrm>
            <a:off x="658368" y="4700016"/>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7240" y="4700016"/>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Thu 27 Aug</a:t>
            </a:r>
          </a:p>
        </p:txBody>
      </p:sp>
      <p:sp>
        <p:nvSpPr>
          <p:cNvPr id="64" name="Rectangle 63"/>
          <p:cNvSpPr/>
          <p:nvPr/>
        </p:nvSpPr>
        <p:spPr>
          <a:xfrm>
            <a:off x="2075688" y="4700016"/>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94560" y="4700016"/>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Interface</a:t>
            </a:r>
          </a:p>
        </p:txBody>
      </p:sp>
      <p:sp>
        <p:nvSpPr>
          <p:cNvPr id="66" name="Rectangle 65"/>
          <p:cNvSpPr/>
          <p:nvPr/>
        </p:nvSpPr>
        <p:spPr>
          <a:xfrm>
            <a:off x="3630168" y="4700016"/>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49040" y="4700016"/>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4 - mobile person-facing portal and the accessibility pass</a:t>
            </a:r>
          </a:p>
        </p:txBody>
      </p:sp>
      <p:sp>
        <p:nvSpPr>
          <p:cNvPr id="68" name="Rectangle 67"/>
          <p:cNvSpPr/>
          <p:nvPr/>
        </p:nvSpPr>
        <p:spPr>
          <a:xfrm>
            <a:off x="658368" y="5033772"/>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240" y="5033772"/>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Fri 28 Aug</a:t>
            </a:r>
          </a:p>
        </p:txBody>
      </p:sp>
      <p:sp>
        <p:nvSpPr>
          <p:cNvPr id="70" name="Rectangle 69"/>
          <p:cNvSpPr/>
          <p:nvPr/>
        </p:nvSpPr>
        <p:spPr>
          <a:xfrm>
            <a:off x="2075688" y="5033772"/>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94560" y="5033772"/>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Release</a:t>
            </a:r>
          </a:p>
        </p:txBody>
      </p:sp>
      <p:sp>
        <p:nvSpPr>
          <p:cNvPr id="72" name="Rectangle 71"/>
          <p:cNvSpPr/>
          <p:nvPr/>
        </p:nvSpPr>
        <p:spPr>
          <a:xfrm>
            <a:off x="3630168" y="5033772"/>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49040" y="5033772"/>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5 - CI pipeline and the front-end test harness</a:t>
            </a:r>
          </a:p>
        </p:txBody>
      </p:sp>
      <p:sp>
        <p:nvSpPr>
          <p:cNvPr id="74" name="Rectangle 73"/>
          <p:cNvSpPr/>
          <p:nvPr/>
        </p:nvSpPr>
        <p:spPr>
          <a:xfrm>
            <a:off x="658368" y="5367528"/>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77240" y="5367528"/>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Sat 29 Aug</a:t>
            </a:r>
          </a:p>
        </p:txBody>
      </p:sp>
      <p:sp>
        <p:nvSpPr>
          <p:cNvPr id="76" name="Rectangle 75"/>
          <p:cNvSpPr/>
          <p:nvPr/>
        </p:nvSpPr>
        <p:spPr>
          <a:xfrm>
            <a:off x="2075688" y="5367528"/>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194560" y="5367528"/>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Release</a:t>
            </a:r>
          </a:p>
        </p:txBody>
      </p:sp>
      <p:sp>
        <p:nvSpPr>
          <p:cNvPr id="78" name="Rectangle 77"/>
          <p:cNvSpPr/>
          <p:nvPr/>
        </p:nvSpPr>
        <p:spPr>
          <a:xfrm>
            <a:off x="3630168" y="5367528"/>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49040" y="5367528"/>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Load test at 5,000 items; close the two open privacy-impact risks</a:t>
            </a:r>
          </a:p>
        </p:txBody>
      </p:sp>
      <p:sp>
        <p:nvSpPr>
          <p:cNvPr id="80" name="Rectangle 79"/>
          <p:cNvSpPr/>
          <p:nvPr/>
        </p:nvSpPr>
        <p:spPr>
          <a:xfrm>
            <a:off x="658368" y="5701284"/>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77240" y="5701284"/>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Sun 30 Aug</a:t>
            </a:r>
          </a:p>
        </p:txBody>
      </p:sp>
      <p:sp>
        <p:nvSpPr>
          <p:cNvPr id="82" name="Rectangle 81"/>
          <p:cNvSpPr/>
          <p:nvPr/>
        </p:nvSpPr>
        <p:spPr>
          <a:xfrm>
            <a:off x="2075688" y="5701284"/>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194560" y="5701284"/>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Freeze</a:t>
            </a:r>
          </a:p>
        </p:txBody>
      </p:sp>
      <p:sp>
        <p:nvSpPr>
          <p:cNvPr id="84" name="Rectangle 83"/>
          <p:cNvSpPr/>
          <p:nvPr/>
        </p:nvSpPr>
        <p:spPr>
          <a:xfrm>
            <a:off x="3630168" y="5701284"/>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749040" y="5701284"/>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Full regression run, code freeze, demo dry run</a:t>
            </a:r>
          </a:p>
        </p:txBody>
      </p:sp>
      <p:sp>
        <p:nvSpPr>
          <p:cNvPr id="86" name="Rectangle 85"/>
          <p:cNvSpPr/>
          <p:nvPr/>
        </p:nvSpPr>
        <p:spPr>
          <a:xfrm>
            <a:off x="658368" y="6035040"/>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77240" y="6035040"/>
            <a:ext cx="1179576" cy="333756"/>
          </a:xfrm>
          <a:prstGeom prst="rect">
            <a:avLst/>
          </a:prstGeom>
          <a:noFill/>
        </p:spPr>
        <p:txBody>
          <a:bodyPr wrap="square" lIns="0" rIns="0" tIns="0" bIns="0" anchor="ctr">
            <a:spAutoFit/>
          </a:bodyPr>
          <a:lstStyle/>
          <a:p>
            <a:pPr algn="l">
              <a:lnSpc>
                <a:spcPct val="108000"/>
              </a:lnSpc>
            </a:pPr>
            <a:r>
              <a:rPr sz="1100" b="1">
                <a:solidFill>
                  <a:srgbClr val="A82A2A"/>
                </a:solidFill>
                <a:latin typeface="Segoe UI"/>
              </a:rPr>
              <a:t>Mon 31 Aug</a:t>
            </a:r>
          </a:p>
        </p:txBody>
      </p:sp>
      <p:sp>
        <p:nvSpPr>
          <p:cNvPr id="88" name="Rectangle 87"/>
          <p:cNvSpPr/>
          <p:nvPr/>
        </p:nvSpPr>
        <p:spPr>
          <a:xfrm>
            <a:off x="2075688" y="6035040"/>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194560" y="6035040"/>
            <a:ext cx="1316736" cy="333756"/>
          </a:xfrm>
          <a:prstGeom prst="rect">
            <a:avLst/>
          </a:prstGeom>
          <a:noFill/>
        </p:spPr>
        <p:txBody>
          <a:bodyPr wrap="square" lIns="0" rIns="0" tIns="0" bIns="0" anchor="ctr">
            <a:spAutoFit/>
          </a:bodyPr>
          <a:lstStyle/>
          <a:p>
            <a:pPr algn="l">
              <a:lnSpc>
                <a:spcPct val="108000"/>
              </a:lnSpc>
            </a:pPr>
            <a:r>
              <a:rPr sz="1100" b="1">
                <a:solidFill>
                  <a:srgbClr val="A82A2A"/>
                </a:solidFill>
                <a:latin typeface="Segoe UI"/>
              </a:rPr>
              <a:t>Deadline</a:t>
            </a:r>
          </a:p>
        </p:txBody>
      </p:sp>
      <p:sp>
        <p:nvSpPr>
          <p:cNvPr id="90" name="Rectangle 89"/>
          <p:cNvSpPr/>
          <p:nvPr/>
        </p:nvSpPr>
        <p:spPr>
          <a:xfrm>
            <a:off x="3630168" y="6035040"/>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749040" y="6035040"/>
            <a:ext cx="7671816" cy="333756"/>
          </a:xfrm>
          <a:prstGeom prst="rect">
            <a:avLst/>
          </a:prstGeom>
          <a:noFill/>
        </p:spPr>
        <p:txBody>
          <a:bodyPr wrap="square" lIns="0" rIns="0" tIns="0" bIns="0" anchor="ctr">
            <a:spAutoFit/>
          </a:bodyPr>
          <a:lstStyle/>
          <a:p>
            <a:pPr algn="l">
              <a:lnSpc>
                <a:spcPct val="108000"/>
              </a:lnSpc>
            </a:pPr>
            <a:r>
              <a:rPr sz="1100" b="1">
                <a:solidFill>
                  <a:srgbClr val="A82A2A"/>
                </a:solidFill>
                <a:latin typeface="Segoe UI"/>
              </a:rPr>
              <a:t>Final demo and submission</a:t>
            </a:r>
          </a:p>
        </p:txBody>
      </p:sp>
      <p:sp>
        <p:nvSpPr>
          <p:cNvPr id="92" name="TextBox 9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93" name="TextBox 9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2139696"/>
            <a:ext cx="2011680" cy="4114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377440"/>
            <a:ext cx="9692640" cy="1828800"/>
          </a:xfrm>
          <a:prstGeom prst="rect">
            <a:avLst/>
          </a:prstGeom>
          <a:noFill/>
        </p:spPr>
        <p:txBody>
          <a:bodyPr wrap="square" lIns="0" rIns="0" tIns="0" bIns="0" anchor="t">
            <a:spAutoFit/>
          </a:bodyPr>
          <a:lstStyle/>
          <a:p>
            <a:pPr algn="l">
              <a:lnSpc>
                <a:spcPct val="115000"/>
              </a:lnSpc>
            </a:pPr>
            <a:r>
              <a:rPr sz="4600" b="1">
                <a:solidFill>
                  <a:srgbClr val="FFFFFF"/>
                </a:solidFill>
                <a:latin typeface="Segoe UI"/>
              </a:rPr>
              <a:t>Thank you</a:t>
            </a:r>
          </a:p>
          <a:p>
            <a:pPr algn="l">
              <a:lnSpc>
                <a:spcPct val="115000"/>
              </a:lnSpc>
              <a:spcBef>
                <a:spcPts val="1400"/>
              </a:spcBef>
            </a:pPr>
            <a:r>
              <a:rPr sz="1700" b="0">
                <a:solidFill>
                  <a:srgbClr val="C3CDDF"/>
                </a:solidFill>
                <a:latin typeface="Segoe UI"/>
              </a:rPr>
              <a:t>Questions and feedback welcome.</a:t>
            </a:r>
          </a:p>
          <a:p>
            <a:pPr algn="l">
              <a:lnSpc>
                <a:spcPct val="115000"/>
              </a:lnSpc>
              <a:spcBef>
                <a:spcPts val="1800"/>
              </a:spcBef>
            </a:pPr>
            <a:r>
              <a:rPr sz="1250" b="0">
                <a:solidFill>
                  <a:srgbClr val="7E8BA3"/>
                </a:solidFill>
                <a:latin typeface="Segoe UI"/>
              </a:rPr>
              <a:t>PRISM - DPDP 2023 consent management and data-rights platform - monthly review,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