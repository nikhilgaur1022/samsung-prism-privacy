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595360" y="-1097280"/>
            <a:ext cx="5486400" cy="5486400"/>
          </a:xfrm>
          <a:prstGeom prst="ellipse">
            <a:avLst/>
          </a:prstGeom>
          <a:solidFill>
            <a:srgbClr val="162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1417320"/>
            <a:ext cx="9601200" cy="365760"/>
          </a:xfrm>
          <a:prstGeom prst="rect">
            <a:avLst/>
          </a:prstGeom>
          <a:noFill/>
        </p:spPr>
        <p:txBody>
          <a:bodyPr wrap="square" lIns="0" rIns="0" tIns="0" bIns="0" anchor="t">
            <a:spAutoFit/>
          </a:bodyPr>
          <a:lstStyle/>
          <a:p>
            <a:pPr algn="l">
              <a:lnSpc>
                <a:spcPct val="115000"/>
              </a:lnSpc>
            </a:pPr>
            <a:r>
              <a:rPr sz="1300" b="1">
                <a:solidFill>
                  <a:srgbClr val="7EA6F0"/>
                </a:solidFill>
                <a:latin typeface="Segoe UI"/>
              </a:rPr>
              <a:t>SAMSUNG PRISM  -  MONTHLY PROGRESS REVIEW</a:t>
            </a:r>
          </a:p>
        </p:txBody>
      </p:sp>
      <p:sp>
        <p:nvSpPr>
          <p:cNvPr id="6" name="TextBox 5"/>
          <p:cNvSpPr txBox="1"/>
          <p:nvPr/>
        </p:nvSpPr>
        <p:spPr>
          <a:xfrm>
            <a:off x="1051560" y="1920240"/>
            <a:ext cx="9692640" cy="1828800"/>
          </a:xfrm>
          <a:prstGeom prst="rect">
            <a:avLst/>
          </a:prstGeom>
          <a:noFill/>
        </p:spPr>
        <p:txBody>
          <a:bodyPr wrap="square" lIns="0" rIns="0" tIns="0" bIns="0" anchor="t">
            <a:spAutoFit/>
          </a:bodyPr>
          <a:lstStyle/>
          <a:p>
            <a:pPr algn="l">
              <a:lnSpc>
                <a:spcPct val="112000"/>
              </a:lnSpc>
            </a:pPr>
            <a:r>
              <a:rPr sz="6000" b="1">
                <a:solidFill>
                  <a:srgbClr val="FFFFFF"/>
                </a:solidFill>
                <a:latin typeface="Segoe UI"/>
              </a:rPr>
              <a:t>PRISM</a:t>
            </a:r>
          </a:p>
          <a:p>
            <a:pPr algn="l">
              <a:lnSpc>
                <a:spcPct val="112000"/>
              </a:lnSpc>
              <a:spcBef>
                <a:spcPts val="1400"/>
              </a:spcBef>
            </a:pPr>
            <a:r>
              <a:rPr sz="2000" b="0">
                <a:solidFill>
                  <a:srgbClr val="C3CDDF"/>
                </a:solidFill>
                <a:latin typeface="Segoe UI"/>
              </a:rPr>
              <a:t>A consent management and data-rights (DSAR) platform
built for India's DPDP Act, 2023</a:t>
            </a:r>
          </a:p>
        </p:txBody>
      </p:sp>
      <p:sp>
        <p:nvSpPr>
          <p:cNvPr id="7" name="Rectangle 6"/>
          <p:cNvSpPr/>
          <p:nvPr/>
        </p:nvSpPr>
        <p:spPr>
          <a:xfrm>
            <a:off x="1051560" y="4297680"/>
            <a:ext cx="2011680" cy="4114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4590288"/>
            <a:ext cx="9601200" cy="1097280"/>
          </a:xfrm>
          <a:prstGeom prst="rect">
            <a:avLst/>
          </a:prstGeom>
          <a:noFill/>
        </p:spPr>
        <p:txBody>
          <a:bodyPr wrap="square" lIns="0" rIns="0" tIns="0" bIns="0" anchor="t">
            <a:spAutoFit/>
          </a:bodyPr>
          <a:lstStyle/>
          <a:p>
            <a:pPr algn="l">
              <a:lnSpc>
                <a:spcPct val="120000"/>
              </a:lnSpc>
            </a:pPr>
            <a:r>
              <a:rPr sz="1500" b="1">
                <a:solidFill>
                  <a:srgbClr val="FFFFFF"/>
                </a:solidFill>
                <a:latin typeface="Segoe UI"/>
              </a:rPr>
              <a:t>Reporting period:  19 July 2026  -  19 August 2026</a:t>
            </a:r>
          </a:p>
          <a:p>
            <a:pPr algn="l">
              <a:lnSpc>
                <a:spcPct val="120000"/>
              </a:lnSpc>
              <a:spcBef>
                <a:spcPts val="800"/>
              </a:spcBef>
            </a:pPr>
            <a:r>
              <a:rPr sz="1250" b="0">
                <a:solidFill>
                  <a:srgbClr val="9FADC4"/>
                </a:solidFill>
                <a:latin typeface="Segoe UI"/>
              </a:rPr>
              <a:t>Progress  |  KPIs  |  Model choices  |  Challenges  |  Results  |  Observations  |  Next two weeks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CONTEXT</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What PRISM does, in plain words</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554480"/>
            <a:ext cx="68580" cy="68580"/>
          </a:xfrm>
          <a:prstGeom prst="ellipse">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481328"/>
            <a:ext cx="5614416" cy="365760"/>
          </a:xfrm>
          <a:prstGeom prst="rect">
            <a:avLst/>
          </a:prstGeom>
          <a:noFill/>
        </p:spPr>
        <p:txBody>
          <a:bodyPr wrap="square" lIns="0" rIns="0" tIns="0" bIns="0" anchor="t">
            <a:spAutoFit/>
          </a:bodyPr>
          <a:lstStyle/>
          <a:p>
            <a:pPr algn="l">
              <a:lnSpc>
                <a:spcPct val="118000"/>
              </a:lnSpc>
            </a:pPr>
            <a:r>
              <a:rPr sz="1450" b="1">
                <a:solidFill>
                  <a:srgbClr val="141B2B"/>
                </a:solidFill>
                <a:latin typeface="Segoe UI"/>
              </a:rPr>
              <a:t>The problem</a:t>
            </a:r>
          </a:p>
          <a:p>
            <a:pPr algn="l">
              <a:lnSpc>
                <a:spcPct val="118000"/>
              </a:lnSpc>
              <a:spcBef>
                <a:spcPts val="300"/>
              </a:spcBef>
            </a:pPr>
            <a:r>
              <a:rPr sz="1300" b="0">
                <a:solidFill>
                  <a:srgbClr val="5B6472"/>
                </a:solidFill>
                <a:latin typeface="Segoe UI"/>
              </a:rPr>
              <a:t>Samsung collects photographs, audio, video and written transcripts of real people. The law says a person may ask what is held about them, and may ask for it to be deleted.</a:t>
            </a:r>
          </a:p>
        </p:txBody>
      </p:sp>
      <p:sp>
        <p:nvSpPr>
          <p:cNvPr id="9" name="Oval 8"/>
          <p:cNvSpPr/>
          <p:nvPr/>
        </p:nvSpPr>
        <p:spPr>
          <a:xfrm>
            <a:off x="658368" y="2638552"/>
            <a:ext cx="68580" cy="68580"/>
          </a:xfrm>
          <a:prstGeom prst="ellipse">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565400"/>
            <a:ext cx="5614416" cy="365760"/>
          </a:xfrm>
          <a:prstGeom prst="rect">
            <a:avLst/>
          </a:prstGeom>
          <a:noFill/>
        </p:spPr>
        <p:txBody>
          <a:bodyPr wrap="square" lIns="0" rIns="0" tIns="0" bIns="0" anchor="t">
            <a:spAutoFit/>
          </a:bodyPr>
          <a:lstStyle/>
          <a:p>
            <a:pPr algn="l">
              <a:lnSpc>
                <a:spcPct val="118000"/>
              </a:lnSpc>
            </a:pPr>
            <a:r>
              <a:rPr sz="1450" b="1">
                <a:solidFill>
                  <a:srgbClr val="141B2B"/>
                </a:solidFill>
                <a:latin typeface="Segoe UI"/>
              </a:rPr>
              <a:t>What we built</a:t>
            </a:r>
          </a:p>
          <a:p>
            <a:pPr algn="l">
              <a:lnSpc>
                <a:spcPct val="118000"/>
              </a:lnSpc>
              <a:spcBef>
                <a:spcPts val="300"/>
              </a:spcBef>
            </a:pPr>
            <a:r>
              <a:rPr sz="1300" b="0">
                <a:solidFill>
                  <a:srgbClr val="5B6472"/>
                </a:solidFill>
                <a:latin typeface="Segoe UI"/>
              </a:rPr>
              <a:t>One platform that records consent before collection, hides anyone who did not consent, and can find and erase one person's data on request.</a:t>
            </a:r>
          </a:p>
        </p:txBody>
      </p:sp>
      <p:sp>
        <p:nvSpPr>
          <p:cNvPr id="11" name="Oval 10"/>
          <p:cNvSpPr/>
          <p:nvPr/>
        </p:nvSpPr>
        <p:spPr>
          <a:xfrm>
            <a:off x="658368" y="3507740"/>
            <a:ext cx="68580" cy="68580"/>
          </a:xfrm>
          <a:prstGeom prst="ellipse">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3434588"/>
            <a:ext cx="5614416" cy="365760"/>
          </a:xfrm>
          <a:prstGeom prst="rect">
            <a:avLst/>
          </a:prstGeom>
          <a:noFill/>
        </p:spPr>
        <p:txBody>
          <a:bodyPr wrap="square" lIns="0" rIns="0" tIns="0" bIns="0" anchor="t">
            <a:spAutoFit/>
          </a:bodyPr>
          <a:lstStyle/>
          <a:p>
            <a:pPr algn="l">
              <a:lnSpc>
                <a:spcPct val="118000"/>
              </a:lnSpc>
            </a:pPr>
            <a:r>
              <a:rPr sz="1450" b="1">
                <a:solidFill>
                  <a:srgbClr val="141B2B"/>
                </a:solidFill>
                <a:latin typeface="Segoe UI"/>
              </a:rPr>
              <a:t>Who uses it</a:t>
            </a:r>
          </a:p>
          <a:p>
            <a:pPr algn="l">
              <a:lnSpc>
                <a:spcPct val="118000"/>
              </a:lnSpc>
              <a:spcBef>
                <a:spcPts val="300"/>
              </a:spcBef>
            </a:pPr>
            <a:r>
              <a:rPr sz="1300" b="0">
                <a:solidFill>
                  <a:srgbClr val="5B6472"/>
                </a:solidFill>
                <a:latin typeface="Segoe UI"/>
              </a:rPr>
              <a:t>Five staff roles - DPO, Data Owner, Collection Agent, Data Admin, Platform Admin - and the person themselves, the Data Principal.</a:t>
            </a:r>
          </a:p>
        </p:txBody>
      </p:sp>
      <p:sp>
        <p:nvSpPr>
          <p:cNvPr id="13" name="Oval 12"/>
          <p:cNvSpPr/>
          <p:nvPr/>
        </p:nvSpPr>
        <p:spPr>
          <a:xfrm>
            <a:off x="658368" y="4376928"/>
            <a:ext cx="68580" cy="68580"/>
          </a:xfrm>
          <a:prstGeom prst="ellipse">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4303776"/>
            <a:ext cx="5614416" cy="365760"/>
          </a:xfrm>
          <a:prstGeom prst="rect">
            <a:avLst/>
          </a:prstGeom>
          <a:noFill/>
        </p:spPr>
        <p:txBody>
          <a:bodyPr wrap="square" lIns="0" rIns="0" tIns="0" bIns="0" anchor="t">
            <a:spAutoFit/>
          </a:bodyPr>
          <a:lstStyle/>
          <a:p>
            <a:pPr algn="l">
              <a:lnSpc>
                <a:spcPct val="118000"/>
              </a:lnSpc>
            </a:pPr>
            <a:r>
              <a:rPr sz="1450" b="1">
                <a:solidFill>
                  <a:srgbClr val="141B2B"/>
                </a:solidFill>
                <a:latin typeface="Segoe UI"/>
              </a:rPr>
              <a:t>Two apps</a:t>
            </a:r>
          </a:p>
          <a:p>
            <a:pPr algn="l">
              <a:lnSpc>
                <a:spcPct val="118000"/>
              </a:lnSpc>
              <a:spcBef>
                <a:spcPts val="300"/>
              </a:spcBef>
            </a:pPr>
            <a:r>
              <a:rPr sz="1300" b="0">
                <a:solidFill>
                  <a:srgbClr val="5B6472"/>
                </a:solidFill>
                <a:latin typeface="Segoe UI"/>
              </a:rPr>
              <a:t>An admin portal for staff, and a mobile-first portal so a person can see their own data and raise a request without asking anyone.</a:t>
            </a:r>
          </a:p>
        </p:txBody>
      </p:sp>
      <p:sp>
        <p:nvSpPr>
          <p:cNvPr id="15" name="Rectangle 14"/>
          <p:cNvSpPr/>
          <p:nvPr/>
        </p:nvSpPr>
        <p:spPr>
          <a:xfrm>
            <a:off x="6903720" y="1481328"/>
            <a:ext cx="4718304" cy="4443984"/>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60" y="1737360"/>
            <a:ext cx="4114800" cy="274320"/>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THE FLOW, END TO END</a:t>
            </a:r>
          </a:p>
        </p:txBody>
      </p:sp>
      <p:sp>
        <p:nvSpPr>
          <p:cNvPr id="17" name="Oval 16"/>
          <p:cNvSpPr/>
          <p:nvPr/>
        </p:nvSpPr>
        <p:spPr>
          <a:xfrm>
            <a:off x="7223760" y="2157984"/>
            <a:ext cx="274320" cy="274320"/>
          </a:xfrm>
          <a:prstGeom prst="ellipse">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60" y="2157984"/>
            <a:ext cx="274320" cy="274320"/>
          </a:xfrm>
          <a:prstGeom prst="rect">
            <a:avLst/>
          </a:prstGeom>
          <a:noFill/>
        </p:spPr>
        <p:txBody>
          <a:bodyPr wrap="square" lIns="0" rIns="0" tIns="0" bIns="0" anchor="ctr">
            <a:spAutoFit/>
          </a:bodyPr>
          <a:lstStyle/>
          <a:p>
            <a:pPr algn="ctr">
              <a:lnSpc>
                <a:spcPct val="115000"/>
              </a:lnSpc>
            </a:pPr>
            <a:r>
              <a:rPr sz="1050" b="1">
                <a:solidFill>
                  <a:srgbClr val="1D5BD6"/>
                </a:solidFill>
                <a:latin typeface="Segoe UI"/>
              </a:rPr>
              <a:t>1</a:t>
            </a:r>
          </a:p>
        </p:txBody>
      </p:sp>
      <p:sp>
        <p:nvSpPr>
          <p:cNvPr id="19" name="TextBox 18"/>
          <p:cNvSpPr txBox="1"/>
          <p:nvPr/>
        </p:nvSpPr>
        <p:spPr>
          <a:xfrm>
            <a:off x="7626096" y="2139696"/>
            <a:ext cx="3703320" cy="640080"/>
          </a:xfrm>
          <a:prstGeom prst="rect">
            <a:avLst/>
          </a:prstGeom>
          <a:noFill/>
        </p:spPr>
        <p:txBody>
          <a:bodyPr wrap="square" lIns="0" rIns="0" tIns="0" bIns="0" anchor="t">
            <a:spAutoFit/>
          </a:bodyPr>
          <a:lstStyle/>
          <a:p>
            <a:pPr algn="l">
              <a:lnSpc>
                <a:spcPct val="112000"/>
              </a:lnSpc>
            </a:pPr>
            <a:r>
              <a:rPr sz="1250" b="1">
                <a:solidFill>
                  <a:srgbClr val="141B2B"/>
                </a:solidFill>
                <a:latin typeface="Segoe UI"/>
              </a:rPr>
              <a:t>Approve</a:t>
            </a:r>
          </a:p>
          <a:p>
            <a:pPr algn="l">
              <a:lnSpc>
                <a:spcPct val="112000"/>
              </a:lnSpc>
              <a:spcBef>
                <a:spcPts val="200"/>
              </a:spcBef>
            </a:pPr>
            <a:r>
              <a:rPr sz="1050" b="0">
                <a:solidFill>
                  <a:srgbClr val="5B6472"/>
                </a:solidFill>
                <a:latin typeface="Segoe UI"/>
              </a:rPr>
              <a:t>The DPO approves the project and its consent notice</a:t>
            </a:r>
          </a:p>
        </p:txBody>
      </p:sp>
      <p:sp>
        <p:nvSpPr>
          <p:cNvPr id="20" name="Oval 19"/>
          <p:cNvSpPr/>
          <p:nvPr/>
        </p:nvSpPr>
        <p:spPr>
          <a:xfrm>
            <a:off x="7223760" y="2779776"/>
            <a:ext cx="274320" cy="274320"/>
          </a:xfrm>
          <a:prstGeom prst="ellipse">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23760" y="2779776"/>
            <a:ext cx="274320" cy="274320"/>
          </a:xfrm>
          <a:prstGeom prst="rect">
            <a:avLst/>
          </a:prstGeom>
          <a:noFill/>
        </p:spPr>
        <p:txBody>
          <a:bodyPr wrap="square" lIns="0" rIns="0" tIns="0" bIns="0" anchor="ctr">
            <a:spAutoFit/>
          </a:bodyPr>
          <a:lstStyle/>
          <a:p>
            <a:pPr algn="ctr">
              <a:lnSpc>
                <a:spcPct val="115000"/>
              </a:lnSpc>
            </a:pPr>
            <a:r>
              <a:rPr sz="1050" b="1">
                <a:solidFill>
                  <a:srgbClr val="1D5BD6"/>
                </a:solidFill>
                <a:latin typeface="Segoe UI"/>
              </a:rPr>
              <a:t>2</a:t>
            </a:r>
          </a:p>
        </p:txBody>
      </p:sp>
      <p:sp>
        <p:nvSpPr>
          <p:cNvPr id="22" name="TextBox 21"/>
          <p:cNvSpPr txBox="1"/>
          <p:nvPr/>
        </p:nvSpPr>
        <p:spPr>
          <a:xfrm>
            <a:off x="7626096" y="2761488"/>
            <a:ext cx="3703320" cy="640080"/>
          </a:xfrm>
          <a:prstGeom prst="rect">
            <a:avLst/>
          </a:prstGeom>
          <a:noFill/>
        </p:spPr>
        <p:txBody>
          <a:bodyPr wrap="square" lIns="0" rIns="0" tIns="0" bIns="0" anchor="t">
            <a:spAutoFit/>
          </a:bodyPr>
          <a:lstStyle/>
          <a:p>
            <a:pPr algn="l">
              <a:lnSpc>
                <a:spcPct val="112000"/>
              </a:lnSpc>
            </a:pPr>
            <a:r>
              <a:rPr sz="1250" b="1">
                <a:solidFill>
                  <a:srgbClr val="141B2B"/>
                </a:solidFill>
                <a:latin typeface="Segoe UI"/>
              </a:rPr>
              <a:t>Consent</a:t>
            </a:r>
          </a:p>
          <a:p>
            <a:pPr algn="l">
              <a:lnSpc>
                <a:spcPct val="112000"/>
              </a:lnSpc>
              <a:spcBef>
                <a:spcPts val="200"/>
              </a:spcBef>
            </a:pPr>
            <a:r>
              <a:rPr sz="1050" b="0">
                <a:solidFill>
                  <a:srgbClr val="5B6472"/>
                </a:solidFill>
                <a:latin typeface="Segoe UI"/>
              </a:rPr>
              <a:t>The person scans a QR code, reads the notice, signs consent</a:t>
            </a:r>
          </a:p>
        </p:txBody>
      </p:sp>
      <p:sp>
        <p:nvSpPr>
          <p:cNvPr id="23" name="Oval 22"/>
          <p:cNvSpPr/>
          <p:nvPr/>
        </p:nvSpPr>
        <p:spPr>
          <a:xfrm>
            <a:off x="7223760" y="3401568"/>
            <a:ext cx="274320" cy="274320"/>
          </a:xfrm>
          <a:prstGeom prst="ellipse">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23760" y="3401568"/>
            <a:ext cx="274320" cy="274320"/>
          </a:xfrm>
          <a:prstGeom prst="rect">
            <a:avLst/>
          </a:prstGeom>
          <a:noFill/>
        </p:spPr>
        <p:txBody>
          <a:bodyPr wrap="square" lIns="0" rIns="0" tIns="0" bIns="0" anchor="ctr">
            <a:spAutoFit/>
          </a:bodyPr>
          <a:lstStyle/>
          <a:p>
            <a:pPr algn="ctr">
              <a:lnSpc>
                <a:spcPct val="115000"/>
              </a:lnSpc>
            </a:pPr>
            <a:r>
              <a:rPr sz="1050" b="1">
                <a:solidFill>
                  <a:srgbClr val="1D5BD6"/>
                </a:solidFill>
                <a:latin typeface="Segoe UI"/>
              </a:rPr>
              <a:t>3</a:t>
            </a:r>
          </a:p>
        </p:txBody>
      </p:sp>
      <p:sp>
        <p:nvSpPr>
          <p:cNvPr id="25" name="TextBox 24"/>
          <p:cNvSpPr txBox="1"/>
          <p:nvPr/>
        </p:nvSpPr>
        <p:spPr>
          <a:xfrm>
            <a:off x="7626096" y="3383280"/>
            <a:ext cx="3703320" cy="640080"/>
          </a:xfrm>
          <a:prstGeom prst="rect">
            <a:avLst/>
          </a:prstGeom>
          <a:noFill/>
        </p:spPr>
        <p:txBody>
          <a:bodyPr wrap="square" lIns="0" rIns="0" tIns="0" bIns="0" anchor="t">
            <a:spAutoFit/>
          </a:bodyPr>
          <a:lstStyle/>
          <a:p>
            <a:pPr algn="l">
              <a:lnSpc>
                <a:spcPct val="112000"/>
              </a:lnSpc>
            </a:pPr>
            <a:r>
              <a:rPr sz="1250" b="1">
                <a:solidFill>
                  <a:srgbClr val="141B2B"/>
                </a:solidFill>
                <a:latin typeface="Segoe UI"/>
              </a:rPr>
              <a:t>Collect</a:t>
            </a:r>
          </a:p>
          <a:p>
            <a:pPr algn="l">
              <a:lnSpc>
                <a:spcPct val="112000"/>
              </a:lnSpc>
              <a:spcBef>
                <a:spcPts val="200"/>
              </a:spcBef>
            </a:pPr>
            <a:r>
              <a:rPr sz="1050" b="0">
                <a:solidFill>
                  <a:srgbClr val="5B6472"/>
                </a:solidFill>
                <a:latin typeface="Segoe UI"/>
              </a:rPr>
              <a:t>The agent captures images, audio or a written transcript</a:t>
            </a:r>
          </a:p>
        </p:txBody>
      </p:sp>
      <p:sp>
        <p:nvSpPr>
          <p:cNvPr id="26" name="Oval 25"/>
          <p:cNvSpPr/>
          <p:nvPr/>
        </p:nvSpPr>
        <p:spPr>
          <a:xfrm>
            <a:off x="7223760" y="4023360"/>
            <a:ext cx="274320" cy="274320"/>
          </a:xfrm>
          <a:prstGeom prst="ellipse">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23760" y="4023360"/>
            <a:ext cx="274320" cy="274320"/>
          </a:xfrm>
          <a:prstGeom prst="rect">
            <a:avLst/>
          </a:prstGeom>
          <a:noFill/>
        </p:spPr>
        <p:txBody>
          <a:bodyPr wrap="square" lIns="0" rIns="0" tIns="0" bIns="0" anchor="ctr">
            <a:spAutoFit/>
          </a:bodyPr>
          <a:lstStyle/>
          <a:p>
            <a:pPr algn="ctr">
              <a:lnSpc>
                <a:spcPct val="115000"/>
              </a:lnSpc>
            </a:pPr>
            <a:r>
              <a:rPr sz="1050" b="1">
                <a:solidFill>
                  <a:srgbClr val="1D5BD6"/>
                </a:solidFill>
                <a:latin typeface="Segoe UI"/>
              </a:rPr>
              <a:t>4</a:t>
            </a:r>
          </a:p>
        </p:txBody>
      </p:sp>
      <p:sp>
        <p:nvSpPr>
          <p:cNvPr id="28" name="TextBox 27"/>
          <p:cNvSpPr txBox="1"/>
          <p:nvPr/>
        </p:nvSpPr>
        <p:spPr>
          <a:xfrm>
            <a:off x="7626096" y="4005072"/>
            <a:ext cx="3703320" cy="640080"/>
          </a:xfrm>
          <a:prstGeom prst="rect">
            <a:avLst/>
          </a:prstGeom>
          <a:noFill/>
        </p:spPr>
        <p:txBody>
          <a:bodyPr wrap="square" lIns="0" rIns="0" tIns="0" bIns="0" anchor="t">
            <a:spAutoFit/>
          </a:bodyPr>
          <a:lstStyle/>
          <a:p>
            <a:pPr algn="l">
              <a:lnSpc>
                <a:spcPct val="112000"/>
              </a:lnSpc>
            </a:pPr>
            <a:r>
              <a:rPr sz="1250" b="1">
                <a:solidFill>
                  <a:srgbClr val="141B2B"/>
                </a:solidFill>
                <a:latin typeface="Segoe UI"/>
              </a:rPr>
              <a:t>Protect</a:t>
            </a:r>
          </a:p>
          <a:p>
            <a:pPr algn="l">
              <a:lnSpc>
                <a:spcPct val="112000"/>
              </a:lnSpc>
              <a:spcBef>
                <a:spcPts val="200"/>
              </a:spcBef>
            </a:pPr>
            <a:r>
              <a:rPr sz="1050" b="0">
                <a:solidFill>
                  <a:srgbClr val="5B6472"/>
                </a:solidFill>
                <a:latin typeface="Segoe UI"/>
              </a:rPr>
              <a:t>AI blurs faces, masks identity text, mutes unknown voices</a:t>
            </a:r>
          </a:p>
        </p:txBody>
      </p:sp>
      <p:sp>
        <p:nvSpPr>
          <p:cNvPr id="29" name="Oval 28"/>
          <p:cNvSpPr/>
          <p:nvPr/>
        </p:nvSpPr>
        <p:spPr>
          <a:xfrm>
            <a:off x="7223760" y="4645152"/>
            <a:ext cx="274320" cy="274320"/>
          </a:xfrm>
          <a:prstGeom prst="ellipse">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23760" y="4645152"/>
            <a:ext cx="274320" cy="274320"/>
          </a:xfrm>
          <a:prstGeom prst="rect">
            <a:avLst/>
          </a:prstGeom>
          <a:noFill/>
        </p:spPr>
        <p:txBody>
          <a:bodyPr wrap="square" lIns="0" rIns="0" tIns="0" bIns="0" anchor="ctr">
            <a:spAutoFit/>
          </a:bodyPr>
          <a:lstStyle/>
          <a:p>
            <a:pPr algn="ctr">
              <a:lnSpc>
                <a:spcPct val="115000"/>
              </a:lnSpc>
            </a:pPr>
            <a:r>
              <a:rPr sz="1050" b="1">
                <a:solidFill>
                  <a:srgbClr val="1D5BD6"/>
                </a:solidFill>
                <a:latin typeface="Segoe UI"/>
              </a:rPr>
              <a:t>5</a:t>
            </a:r>
          </a:p>
        </p:txBody>
      </p:sp>
      <p:sp>
        <p:nvSpPr>
          <p:cNvPr id="31" name="TextBox 30"/>
          <p:cNvSpPr txBox="1"/>
          <p:nvPr/>
        </p:nvSpPr>
        <p:spPr>
          <a:xfrm>
            <a:off x="7626096" y="4626864"/>
            <a:ext cx="3703320" cy="640080"/>
          </a:xfrm>
          <a:prstGeom prst="rect">
            <a:avLst/>
          </a:prstGeom>
          <a:noFill/>
        </p:spPr>
        <p:txBody>
          <a:bodyPr wrap="square" lIns="0" rIns="0" tIns="0" bIns="0" anchor="t">
            <a:spAutoFit/>
          </a:bodyPr>
          <a:lstStyle/>
          <a:p>
            <a:pPr algn="l">
              <a:lnSpc>
                <a:spcPct val="112000"/>
              </a:lnSpc>
            </a:pPr>
            <a:r>
              <a:rPr sz="1250" b="1">
                <a:solidFill>
                  <a:srgbClr val="141B2B"/>
                </a:solidFill>
                <a:latin typeface="Segoe UI"/>
              </a:rPr>
              <a:t>Prove</a:t>
            </a:r>
          </a:p>
          <a:p>
            <a:pPr algn="l">
              <a:lnSpc>
                <a:spcPct val="112000"/>
              </a:lnSpc>
              <a:spcBef>
                <a:spcPts val="200"/>
              </a:spcBef>
            </a:pPr>
            <a:r>
              <a:rPr sz="1050" b="0">
                <a:solidFill>
                  <a:srgbClr val="5B6472"/>
                </a:solidFill>
                <a:latin typeface="Segoe UI"/>
              </a:rPr>
              <a:t>Every action is written to a tamper-evident audit chain</a:t>
            </a:r>
          </a:p>
        </p:txBody>
      </p:sp>
      <p:sp>
        <p:nvSpPr>
          <p:cNvPr id="32" name="Oval 31"/>
          <p:cNvSpPr/>
          <p:nvPr/>
        </p:nvSpPr>
        <p:spPr>
          <a:xfrm>
            <a:off x="7223760" y="5266944"/>
            <a:ext cx="274320" cy="274320"/>
          </a:xfrm>
          <a:prstGeom prst="ellipse">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223760" y="5266944"/>
            <a:ext cx="274320" cy="274320"/>
          </a:xfrm>
          <a:prstGeom prst="rect">
            <a:avLst/>
          </a:prstGeom>
          <a:noFill/>
        </p:spPr>
        <p:txBody>
          <a:bodyPr wrap="square" lIns="0" rIns="0" tIns="0" bIns="0" anchor="ctr">
            <a:spAutoFit/>
          </a:bodyPr>
          <a:lstStyle/>
          <a:p>
            <a:pPr algn="ctr">
              <a:lnSpc>
                <a:spcPct val="115000"/>
              </a:lnSpc>
            </a:pPr>
            <a:r>
              <a:rPr sz="1050" b="1">
                <a:solidFill>
                  <a:srgbClr val="1D5BD6"/>
                </a:solidFill>
                <a:latin typeface="Segoe UI"/>
              </a:rPr>
              <a:t>6</a:t>
            </a:r>
          </a:p>
        </p:txBody>
      </p:sp>
      <p:sp>
        <p:nvSpPr>
          <p:cNvPr id="34" name="TextBox 33"/>
          <p:cNvSpPr txBox="1"/>
          <p:nvPr/>
        </p:nvSpPr>
        <p:spPr>
          <a:xfrm>
            <a:off x="7626096" y="5248656"/>
            <a:ext cx="3703320" cy="640080"/>
          </a:xfrm>
          <a:prstGeom prst="rect">
            <a:avLst/>
          </a:prstGeom>
          <a:noFill/>
        </p:spPr>
        <p:txBody>
          <a:bodyPr wrap="square" lIns="0" rIns="0" tIns="0" bIns="0" anchor="t">
            <a:spAutoFit/>
          </a:bodyPr>
          <a:lstStyle/>
          <a:p>
            <a:pPr algn="l">
              <a:lnSpc>
                <a:spcPct val="112000"/>
              </a:lnSpc>
            </a:pPr>
            <a:r>
              <a:rPr sz="1250" b="1">
                <a:solidFill>
                  <a:srgbClr val="141B2B"/>
                </a:solidFill>
                <a:latin typeface="Segoe UI"/>
              </a:rPr>
              <a:t>Erase</a:t>
            </a:r>
          </a:p>
          <a:p>
            <a:pPr algn="l">
              <a:lnSpc>
                <a:spcPct val="112000"/>
              </a:lnSpc>
              <a:spcBef>
                <a:spcPts val="200"/>
              </a:spcBef>
            </a:pPr>
            <a:r>
              <a:rPr sz="1050" b="0">
                <a:solidFill>
                  <a:srgbClr val="5B6472"/>
                </a:solidFill>
                <a:latin typeface="Segoe UI"/>
              </a:rPr>
              <a:t>A request finds the data, exports or deletes it, and signs a certificate</a:t>
            </a:r>
          </a:p>
        </p:txBody>
      </p:sp>
      <p:sp>
        <p:nvSpPr>
          <p:cNvPr id="35" name="TextBox 34"/>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36" name="TextBox 35"/>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1 - PROGRESS</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Last month's progress at a glance</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444752"/>
            <a:ext cx="1600200" cy="384048"/>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444752"/>
            <a:ext cx="1362456" cy="384048"/>
          </a:xfrm>
          <a:prstGeom prst="rect">
            <a:avLst/>
          </a:prstGeom>
          <a:noFill/>
        </p:spPr>
        <p:txBody>
          <a:bodyPr wrap="square" lIns="0" rIns="0" tIns="0" bIns="0" anchor="ctr">
            <a:spAutoFit/>
          </a:bodyPr>
          <a:lstStyle/>
          <a:p>
            <a:pPr algn="l">
              <a:lnSpc>
                <a:spcPct val="115000"/>
              </a:lnSpc>
            </a:pPr>
            <a:r>
              <a:rPr sz="1050" b="1">
                <a:solidFill>
                  <a:srgbClr val="FFFFFF"/>
                </a:solidFill>
                <a:latin typeface="Segoe UI"/>
              </a:rPr>
              <a:t>Dates</a:t>
            </a:r>
          </a:p>
        </p:txBody>
      </p:sp>
      <p:sp>
        <p:nvSpPr>
          <p:cNvPr id="9" name="Rectangle 8"/>
          <p:cNvSpPr/>
          <p:nvPr/>
        </p:nvSpPr>
        <p:spPr>
          <a:xfrm>
            <a:off x="2258568" y="1444752"/>
            <a:ext cx="2788920" cy="384048"/>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1444752"/>
            <a:ext cx="2551176" cy="384048"/>
          </a:xfrm>
          <a:prstGeom prst="rect">
            <a:avLst/>
          </a:prstGeom>
          <a:noFill/>
        </p:spPr>
        <p:txBody>
          <a:bodyPr wrap="square" lIns="0" rIns="0" tIns="0" bIns="0" anchor="ctr">
            <a:spAutoFit/>
          </a:bodyPr>
          <a:lstStyle/>
          <a:p>
            <a:pPr algn="l">
              <a:lnSpc>
                <a:spcPct val="115000"/>
              </a:lnSpc>
            </a:pPr>
            <a:r>
              <a:rPr sz="1050" b="1">
                <a:solidFill>
                  <a:srgbClr val="FFFFFF"/>
                </a:solidFill>
                <a:latin typeface="Segoe UI"/>
              </a:rPr>
              <a:t>Milestone</a:t>
            </a:r>
          </a:p>
        </p:txBody>
      </p:sp>
      <p:sp>
        <p:nvSpPr>
          <p:cNvPr id="11" name="Rectangle 10"/>
          <p:cNvSpPr/>
          <p:nvPr/>
        </p:nvSpPr>
        <p:spPr>
          <a:xfrm>
            <a:off x="5047488" y="1444752"/>
            <a:ext cx="6492240" cy="384048"/>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1444752"/>
            <a:ext cx="6254496" cy="384048"/>
          </a:xfrm>
          <a:prstGeom prst="rect">
            <a:avLst/>
          </a:prstGeom>
          <a:noFill/>
        </p:spPr>
        <p:txBody>
          <a:bodyPr wrap="square" lIns="0" rIns="0" tIns="0" bIns="0" anchor="ctr">
            <a:spAutoFit/>
          </a:bodyPr>
          <a:lstStyle/>
          <a:p>
            <a:pPr algn="l">
              <a:lnSpc>
                <a:spcPct val="115000"/>
              </a:lnSpc>
            </a:pPr>
            <a:r>
              <a:rPr sz="1050" b="1">
                <a:solidFill>
                  <a:srgbClr val="FFFFFF"/>
                </a:solidFill>
                <a:latin typeface="Segoe UI"/>
              </a:rPr>
              <a:t>What it means</a:t>
            </a:r>
          </a:p>
        </p:txBody>
      </p:sp>
      <p:sp>
        <p:nvSpPr>
          <p:cNvPr id="13" name="Rectangle 12"/>
          <p:cNvSpPr/>
          <p:nvPr/>
        </p:nvSpPr>
        <p:spPr>
          <a:xfrm>
            <a:off x="658368" y="1828800"/>
            <a:ext cx="1600200" cy="566928"/>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828800"/>
            <a:ext cx="1362456" cy="566928"/>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19 - 28 Jul</a:t>
            </a:r>
          </a:p>
        </p:txBody>
      </p:sp>
      <p:sp>
        <p:nvSpPr>
          <p:cNvPr id="15" name="Rectangle 14"/>
          <p:cNvSpPr/>
          <p:nvPr/>
        </p:nvSpPr>
        <p:spPr>
          <a:xfrm>
            <a:off x="2258568" y="1828800"/>
            <a:ext cx="2788920" cy="566928"/>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77440" y="1828800"/>
            <a:ext cx="2551176" cy="566928"/>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Core platform (waves 0-6)</a:t>
            </a:r>
          </a:p>
        </p:txBody>
      </p:sp>
      <p:sp>
        <p:nvSpPr>
          <p:cNvPr id="17" name="Rectangle 16"/>
          <p:cNvSpPr/>
          <p:nvPr/>
        </p:nvSpPr>
        <p:spPr>
          <a:xfrm>
            <a:off x="5047488" y="1828800"/>
            <a:ext cx="6492240" cy="566928"/>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1828800"/>
            <a:ext cx="6254496" cy="566928"/>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Projects, consent notices, capture sessions, face redaction, identity-text masking, audit chain, least-privilege database role</a:t>
            </a:r>
          </a:p>
        </p:txBody>
      </p:sp>
      <p:sp>
        <p:nvSpPr>
          <p:cNvPr id="19" name="Rectangle 18"/>
          <p:cNvSpPr/>
          <p:nvPr/>
        </p:nvSpPr>
        <p:spPr>
          <a:xfrm>
            <a:off x="658368" y="2395728"/>
            <a:ext cx="1600200" cy="566928"/>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2395728"/>
            <a:ext cx="1362456" cy="566928"/>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28 Jul - 1 Aug</a:t>
            </a:r>
          </a:p>
        </p:txBody>
      </p:sp>
      <p:sp>
        <p:nvSpPr>
          <p:cNvPr id="21" name="Rectangle 20"/>
          <p:cNvSpPr/>
          <p:nvPr/>
        </p:nvSpPr>
        <p:spPr>
          <a:xfrm>
            <a:off x="2258568" y="2395728"/>
            <a:ext cx="2788920" cy="566928"/>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77440" y="2395728"/>
            <a:ext cx="2551176" cy="566928"/>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DSAR system completed</a:t>
            </a:r>
          </a:p>
        </p:txBody>
      </p:sp>
      <p:sp>
        <p:nvSpPr>
          <p:cNvPr id="23" name="Rectangle 22"/>
          <p:cNvSpPr/>
          <p:nvPr/>
        </p:nvSpPr>
        <p:spPr>
          <a:xfrm>
            <a:off x="5047488" y="2395728"/>
            <a:ext cx="6492240" cy="566928"/>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2395728"/>
            <a:ext cx="6254496" cy="566928"/>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All 9 planned phases: item index, import path, per-item search and actions, scoped purge, export packages, request timeline</a:t>
            </a:r>
          </a:p>
        </p:txBody>
      </p:sp>
      <p:sp>
        <p:nvSpPr>
          <p:cNvPr id="25" name="Rectangle 24"/>
          <p:cNvSpPr/>
          <p:nvPr/>
        </p:nvSpPr>
        <p:spPr>
          <a:xfrm>
            <a:off x="658368" y="2962656"/>
            <a:ext cx="1600200" cy="566928"/>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2962656"/>
            <a:ext cx="1362456" cy="566928"/>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1 - 16 Aug</a:t>
            </a:r>
          </a:p>
        </p:txBody>
      </p:sp>
      <p:sp>
        <p:nvSpPr>
          <p:cNvPr id="27" name="Rectangle 26"/>
          <p:cNvSpPr/>
          <p:nvPr/>
        </p:nvSpPr>
        <p:spPr>
          <a:xfrm>
            <a:off x="2258568" y="2962656"/>
            <a:ext cx="2788920" cy="566928"/>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377440" y="2962656"/>
            <a:ext cx="2551176" cy="566928"/>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Audio pipeline and hardening</a:t>
            </a:r>
          </a:p>
        </p:txBody>
      </p:sp>
      <p:sp>
        <p:nvSpPr>
          <p:cNvPr id="29" name="Rectangle 28"/>
          <p:cNvSpPr/>
          <p:nvPr/>
        </p:nvSpPr>
        <p:spPr>
          <a:xfrm>
            <a:off x="5047488" y="2962656"/>
            <a:ext cx="6492240" cy="566928"/>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66360" y="2962656"/>
            <a:ext cx="6254496" cy="566928"/>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Audio worker built; production-readiness Phase 0 (security blockers) and Phase 1 (role model) closed</a:t>
            </a:r>
          </a:p>
        </p:txBody>
      </p:sp>
      <p:sp>
        <p:nvSpPr>
          <p:cNvPr id="31" name="Rectangle 30"/>
          <p:cNvSpPr/>
          <p:nvPr/>
        </p:nvSpPr>
        <p:spPr>
          <a:xfrm>
            <a:off x="658368" y="3529584"/>
            <a:ext cx="1600200" cy="566928"/>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3529584"/>
            <a:ext cx="1362456" cy="566928"/>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16 - 17 Aug</a:t>
            </a:r>
          </a:p>
        </p:txBody>
      </p:sp>
      <p:sp>
        <p:nvSpPr>
          <p:cNvPr id="33" name="Rectangle 32"/>
          <p:cNvSpPr/>
          <p:nvPr/>
        </p:nvSpPr>
        <p:spPr>
          <a:xfrm>
            <a:off x="2258568" y="3529584"/>
            <a:ext cx="2788920" cy="566928"/>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77440" y="3529584"/>
            <a:ext cx="2551176" cy="566928"/>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Voice made first-class</a:t>
            </a:r>
          </a:p>
        </p:txBody>
      </p:sp>
      <p:sp>
        <p:nvSpPr>
          <p:cNvPr id="35" name="Rectangle 34"/>
          <p:cNvSpPr/>
          <p:nvPr/>
        </p:nvSpPr>
        <p:spPr>
          <a:xfrm>
            <a:off x="5047488" y="3529584"/>
            <a:ext cx="6492240" cy="566928"/>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166360" y="3529584"/>
            <a:ext cx="6254496" cy="566928"/>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Voice enrollment stored and erasable, gallery-based speaker matching, audio wired into retention and purge</a:t>
            </a:r>
          </a:p>
        </p:txBody>
      </p:sp>
      <p:sp>
        <p:nvSpPr>
          <p:cNvPr id="37" name="Rectangle 36"/>
          <p:cNvSpPr/>
          <p:nvPr/>
        </p:nvSpPr>
        <p:spPr>
          <a:xfrm>
            <a:off x="658368" y="4096512"/>
            <a:ext cx="1600200" cy="566928"/>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7240" y="4096512"/>
            <a:ext cx="1362456" cy="566928"/>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18 - 19 Aug</a:t>
            </a:r>
          </a:p>
        </p:txBody>
      </p:sp>
      <p:sp>
        <p:nvSpPr>
          <p:cNvPr id="39" name="Rectangle 38"/>
          <p:cNvSpPr/>
          <p:nvPr/>
        </p:nvSpPr>
        <p:spPr>
          <a:xfrm>
            <a:off x="2258568" y="4096512"/>
            <a:ext cx="2788920" cy="566928"/>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377440" y="4096512"/>
            <a:ext cx="2551176" cy="566928"/>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Audio proved, text pipeline added</a:t>
            </a:r>
          </a:p>
        </p:txBody>
      </p:sp>
      <p:sp>
        <p:nvSpPr>
          <p:cNvPr id="41" name="Rectangle 40"/>
          <p:cNvSpPr/>
          <p:nvPr/>
        </p:nvSpPr>
        <p:spPr>
          <a:xfrm>
            <a:off x="5047488" y="4096512"/>
            <a:ext cx="6492240" cy="566928"/>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166360" y="4096512"/>
            <a:ext cx="6254496" cy="566928"/>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The audio pipeline run end to end on a real recording for the first time; a third capture type for written transcripts, redacted with Presidio and spaCy</a:t>
            </a:r>
          </a:p>
        </p:txBody>
      </p:sp>
      <p:sp>
        <p:nvSpPr>
          <p:cNvPr id="43" name="Rectangle 42"/>
          <p:cNvSpPr/>
          <p:nvPr/>
        </p:nvSpPr>
        <p:spPr>
          <a:xfrm>
            <a:off x="658368" y="4663440"/>
            <a:ext cx="1600200" cy="566928"/>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77240" y="4663440"/>
            <a:ext cx="1362456" cy="566928"/>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18 - 19 Aug</a:t>
            </a:r>
          </a:p>
        </p:txBody>
      </p:sp>
      <p:sp>
        <p:nvSpPr>
          <p:cNvPr id="45" name="Rectangle 44"/>
          <p:cNvSpPr/>
          <p:nvPr/>
        </p:nvSpPr>
        <p:spPr>
          <a:xfrm>
            <a:off x="2258568" y="4663440"/>
            <a:ext cx="2788920" cy="566928"/>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377440" y="4663440"/>
            <a:ext cx="2551176" cy="566928"/>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Video capture started</a:t>
            </a:r>
          </a:p>
        </p:txBody>
      </p:sp>
      <p:sp>
        <p:nvSpPr>
          <p:cNvPr id="47" name="Rectangle 46"/>
          <p:cNvSpPr/>
          <p:nvPr/>
        </p:nvSpPr>
        <p:spPr>
          <a:xfrm>
            <a:off x="5047488" y="4663440"/>
            <a:ext cx="6492240" cy="566928"/>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166360" y="4663440"/>
            <a:ext cx="6254496" cy="566928"/>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New video tables, upload route, and a worker that tracks faces across frames and blurs them</a:t>
            </a:r>
          </a:p>
        </p:txBody>
      </p:sp>
      <p:sp>
        <p:nvSpPr>
          <p:cNvPr id="49" name="Rectangle 48"/>
          <p:cNvSpPr/>
          <p:nvPr/>
        </p:nvSpPr>
        <p:spPr>
          <a:xfrm>
            <a:off x="658368" y="5486400"/>
            <a:ext cx="10881360" cy="731520"/>
          </a:xfrm>
          <a:prstGeom prst="rect">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60120" y="5486400"/>
            <a:ext cx="10332720" cy="731520"/>
          </a:xfrm>
          <a:prstGeom prst="rect">
            <a:avLst/>
          </a:prstGeom>
          <a:noFill/>
        </p:spPr>
        <p:txBody>
          <a:bodyPr wrap="square" lIns="0" rIns="0" tIns="0" bIns="0" anchor="ctr">
            <a:spAutoFit/>
          </a:bodyPr>
          <a:lstStyle/>
          <a:p>
            <a:pPr algn="l">
              <a:lnSpc>
                <a:spcPct val="115000"/>
              </a:lnSpc>
            </a:pPr>
            <a:r>
              <a:rPr sz="1250" b="1">
                <a:solidFill>
                  <a:srgbClr val="14398C"/>
                </a:solidFill>
                <a:latin typeface="Segoe UI"/>
              </a:rPr>
              <a:t>Headline: the platform now runs end to end for images, audio and written text - approve, consent, collect, protect, prove, erase. Video is the leg currently being built.</a:t>
            </a:r>
          </a:p>
        </p:txBody>
      </p:sp>
      <p:sp>
        <p:nvSpPr>
          <p:cNvPr id="51" name="TextBox 50"/>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52" name="TextBox 51"/>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1 - PROGRESS</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What we actually shipped</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554480"/>
            <a:ext cx="68580" cy="68580"/>
          </a:xfrm>
          <a:prstGeom prst="ellipse">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481328"/>
            <a:ext cx="5202936" cy="365760"/>
          </a:xfrm>
          <a:prstGeom prst="rect">
            <a:avLst/>
          </a:prstGeom>
          <a:noFill/>
        </p:spPr>
        <p:txBody>
          <a:bodyPr wrap="square" lIns="0" rIns="0" tIns="0" bIns="0" anchor="t">
            <a:spAutoFit/>
          </a:bodyPr>
          <a:lstStyle/>
          <a:p>
            <a:pPr algn="l">
              <a:lnSpc>
                <a:spcPct val="118000"/>
              </a:lnSpc>
            </a:pPr>
            <a:r>
              <a:rPr sz="1550" b="1">
                <a:solidFill>
                  <a:srgbClr val="141B2B"/>
                </a:solidFill>
                <a:latin typeface="Segoe UI"/>
              </a:rPr>
              <a:t>Bringing in a person's existing data</a:t>
            </a:r>
          </a:p>
          <a:p>
            <a:pPr algn="l">
              <a:lnSpc>
                <a:spcPct val="118000"/>
              </a:lnSpc>
              <a:spcBef>
                <a:spcPts val="300"/>
              </a:spcBef>
            </a:pPr>
            <a:r>
              <a:rPr sz="1400" b="0">
                <a:solidFill>
                  <a:srgbClr val="5B6472"/>
                </a:solidFill>
                <a:latin typeface="Segoe UI"/>
              </a:rPr>
              <a:t>Before, a photo could only enter through a live session, so older material was invisible to a data request. Admins can now import it, and the missing consent is recorded honestly rather than hidden.</a:t>
            </a:r>
          </a:p>
        </p:txBody>
      </p:sp>
      <p:sp>
        <p:nvSpPr>
          <p:cNvPr id="9" name="Oval 8"/>
          <p:cNvSpPr/>
          <p:nvPr/>
        </p:nvSpPr>
        <p:spPr>
          <a:xfrm>
            <a:off x="658368" y="2967736"/>
            <a:ext cx="68580" cy="68580"/>
          </a:xfrm>
          <a:prstGeom prst="ellipse">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894584"/>
            <a:ext cx="5202936" cy="365760"/>
          </a:xfrm>
          <a:prstGeom prst="rect">
            <a:avLst/>
          </a:prstGeom>
          <a:noFill/>
        </p:spPr>
        <p:txBody>
          <a:bodyPr wrap="square" lIns="0" rIns="0" tIns="0" bIns="0" anchor="t">
            <a:spAutoFit/>
          </a:bodyPr>
          <a:lstStyle/>
          <a:p>
            <a:pPr algn="l">
              <a:lnSpc>
                <a:spcPct val="118000"/>
              </a:lnSpc>
            </a:pPr>
            <a:r>
              <a:rPr sz="1550" b="1">
                <a:solidFill>
                  <a:srgbClr val="141B2B"/>
                </a:solidFill>
                <a:latin typeface="Segoe UI"/>
              </a:rPr>
              <a:t>Search and act on one item at a time</a:t>
            </a:r>
          </a:p>
          <a:p>
            <a:pPr algn="l">
              <a:lnSpc>
                <a:spcPct val="118000"/>
              </a:lnSpc>
              <a:spcBef>
                <a:spcPts val="300"/>
              </a:spcBef>
            </a:pPr>
            <a:r>
              <a:rPr sz="1400" b="0">
                <a:solidFill>
                  <a:srgbClr val="5B6472"/>
                </a:solidFill>
                <a:latin typeface="Segoe UI"/>
              </a:rPr>
              <a:t>A paged, filterable list of everything held about a person, with redact, delete or mark-for-export on a single item or on a whole selection.</a:t>
            </a:r>
          </a:p>
        </p:txBody>
      </p:sp>
      <p:sp>
        <p:nvSpPr>
          <p:cNvPr id="11" name="Oval 10"/>
          <p:cNvSpPr/>
          <p:nvPr/>
        </p:nvSpPr>
        <p:spPr>
          <a:xfrm>
            <a:off x="658368" y="4166108"/>
            <a:ext cx="68580" cy="68580"/>
          </a:xfrm>
          <a:prstGeom prst="ellipse">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4092956"/>
            <a:ext cx="5202936" cy="365760"/>
          </a:xfrm>
          <a:prstGeom prst="rect">
            <a:avLst/>
          </a:prstGeom>
          <a:noFill/>
        </p:spPr>
        <p:txBody>
          <a:bodyPr wrap="square" lIns="0" rIns="0" tIns="0" bIns="0" anchor="t">
            <a:spAutoFit/>
          </a:bodyPr>
          <a:lstStyle/>
          <a:p>
            <a:pPr algn="l">
              <a:lnSpc>
                <a:spcPct val="118000"/>
              </a:lnSpc>
            </a:pPr>
            <a:r>
              <a:rPr sz="1550" b="1">
                <a:solidFill>
                  <a:srgbClr val="141B2B"/>
                </a:solidFill>
                <a:latin typeface="Segoe UI"/>
              </a:rPr>
              <a:t>Erasure that can be proved</a:t>
            </a:r>
          </a:p>
          <a:p>
            <a:pPr algn="l">
              <a:lnSpc>
                <a:spcPct val="118000"/>
              </a:lnSpc>
              <a:spcBef>
                <a:spcPts val="300"/>
              </a:spcBef>
            </a:pPr>
            <a:r>
              <a:rPr sz="1400" b="0">
                <a:solidFill>
                  <a:srgbClr val="5B6472"/>
                </a:solidFill>
                <a:latin typeface="Segoe UI"/>
              </a:rPr>
              <a:t>Per-item deletes reuse the same purge engine as a full erasure, and the request closes with a signed deletion certificate.</a:t>
            </a:r>
          </a:p>
        </p:txBody>
      </p:sp>
      <p:sp>
        <p:nvSpPr>
          <p:cNvPr id="13" name="Oval 12"/>
          <p:cNvSpPr/>
          <p:nvPr/>
        </p:nvSpPr>
        <p:spPr>
          <a:xfrm>
            <a:off x="6355080" y="1554480"/>
            <a:ext cx="68580" cy="68580"/>
          </a:xfrm>
          <a:prstGeom prst="ellipse">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92824" y="1481328"/>
            <a:ext cx="5020056" cy="365760"/>
          </a:xfrm>
          <a:prstGeom prst="rect">
            <a:avLst/>
          </a:prstGeom>
          <a:noFill/>
        </p:spPr>
        <p:txBody>
          <a:bodyPr wrap="square" lIns="0" rIns="0" tIns="0" bIns="0" anchor="t">
            <a:spAutoFit/>
          </a:bodyPr>
          <a:lstStyle/>
          <a:p>
            <a:pPr algn="l">
              <a:lnSpc>
                <a:spcPct val="118000"/>
              </a:lnSpc>
            </a:pPr>
            <a:r>
              <a:rPr sz="1550" b="1">
                <a:solidFill>
                  <a:srgbClr val="141B2B"/>
                </a:solidFill>
                <a:latin typeface="Segoe UI"/>
              </a:rPr>
              <a:t>Audio, proved on a real recording</a:t>
            </a:r>
          </a:p>
          <a:p>
            <a:pPr algn="l">
              <a:lnSpc>
                <a:spcPct val="118000"/>
              </a:lnSpc>
              <a:spcBef>
                <a:spcPts val="300"/>
              </a:spcBef>
            </a:pPr>
            <a:r>
              <a:rPr sz="1400" b="0">
                <a:solidFill>
                  <a:srgbClr val="5B6472"/>
                </a:solidFill>
                <a:latin typeface="Segoe UI"/>
              </a:rPr>
              <a:t>A 1 minute 49 second clip: two speakers separated, the consented speaker kept, the unknown speaker muted, and ten spoken-PII spans muted automatically.</a:t>
            </a:r>
          </a:p>
        </p:txBody>
      </p:sp>
      <p:sp>
        <p:nvSpPr>
          <p:cNvPr id="15" name="Oval 14"/>
          <p:cNvSpPr/>
          <p:nvPr/>
        </p:nvSpPr>
        <p:spPr>
          <a:xfrm>
            <a:off x="6355080" y="2752852"/>
            <a:ext cx="68580" cy="68580"/>
          </a:xfrm>
          <a:prstGeom prst="ellipse">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92824" y="2679700"/>
            <a:ext cx="5020056" cy="365760"/>
          </a:xfrm>
          <a:prstGeom prst="rect">
            <a:avLst/>
          </a:prstGeom>
          <a:noFill/>
        </p:spPr>
        <p:txBody>
          <a:bodyPr wrap="square" lIns="0" rIns="0" tIns="0" bIns="0" anchor="t">
            <a:spAutoFit/>
          </a:bodyPr>
          <a:lstStyle/>
          <a:p>
            <a:pPr algn="l">
              <a:lnSpc>
                <a:spcPct val="118000"/>
              </a:lnSpc>
            </a:pPr>
            <a:r>
              <a:rPr sz="1550" b="1">
                <a:solidFill>
                  <a:srgbClr val="141B2B"/>
                </a:solidFill>
                <a:latin typeface="Segoe UI"/>
              </a:rPr>
              <a:t>Written text as a third capture type</a:t>
            </a:r>
          </a:p>
          <a:p>
            <a:pPr algn="l">
              <a:lnSpc>
                <a:spcPct val="118000"/>
              </a:lnSpc>
              <a:spcBef>
                <a:spcPts val="300"/>
              </a:spcBef>
            </a:pPr>
            <a:r>
              <a:rPr sz="1400" b="0">
                <a:solidFill>
                  <a:srgbClr val="5B6472"/>
                </a:solidFill>
                <a:latin typeface="Segoe UI"/>
              </a:rPr>
              <a:t>A transcript can now be pasted or uploaded, quotes tagged to the person who said them, and names, emails and numbers masked with Presidio and spaCy.</a:t>
            </a:r>
          </a:p>
        </p:txBody>
      </p:sp>
      <p:sp>
        <p:nvSpPr>
          <p:cNvPr id="17" name="Oval 16"/>
          <p:cNvSpPr/>
          <p:nvPr/>
        </p:nvSpPr>
        <p:spPr>
          <a:xfrm>
            <a:off x="6355080" y="3951224"/>
            <a:ext cx="68580" cy="68580"/>
          </a:xfrm>
          <a:prstGeom prst="ellipse">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92824" y="3878072"/>
            <a:ext cx="5020056" cy="365760"/>
          </a:xfrm>
          <a:prstGeom prst="rect">
            <a:avLst/>
          </a:prstGeom>
          <a:noFill/>
        </p:spPr>
        <p:txBody>
          <a:bodyPr wrap="square" lIns="0" rIns="0" tIns="0" bIns="0" anchor="t">
            <a:spAutoFit/>
          </a:bodyPr>
          <a:lstStyle/>
          <a:p>
            <a:pPr algn="l">
              <a:lnSpc>
                <a:spcPct val="118000"/>
              </a:lnSpc>
            </a:pPr>
            <a:r>
              <a:rPr sz="1550" b="1">
                <a:solidFill>
                  <a:srgbClr val="141B2B"/>
                </a:solidFill>
                <a:latin typeface="Segoe UI"/>
              </a:rPr>
              <a:t>Voice prints are now erasable</a:t>
            </a:r>
          </a:p>
          <a:p>
            <a:pPr algn="l">
              <a:lnSpc>
                <a:spcPct val="118000"/>
              </a:lnSpc>
              <a:spcBef>
                <a:spcPts val="300"/>
              </a:spcBef>
            </a:pPr>
            <a:r>
              <a:rPr sz="1400" b="0">
                <a:solidFill>
                  <a:srgbClr val="5B6472"/>
                </a:solidFill>
                <a:latin typeface="Segoe UI"/>
              </a:rPr>
              <a:t>Previously a voice print had no database row of its own, so an erasure had nothing to delete. It is now stored, encrypted and shredded like any other identifier.</a:t>
            </a:r>
          </a:p>
        </p:txBody>
      </p:sp>
      <p:sp>
        <p:nvSpPr>
          <p:cNvPr id="19" name="TextBox 18"/>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20" name="TextBox 19"/>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2 - KPIS</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KPIs against the milestones in the worklet</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408176"/>
            <a:ext cx="3840480" cy="384048"/>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408176"/>
            <a:ext cx="3602736" cy="384048"/>
          </a:xfrm>
          <a:prstGeom prst="rect">
            <a:avLst/>
          </a:prstGeom>
          <a:noFill/>
        </p:spPr>
        <p:txBody>
          <a:bodyPr wrap="square" lIns="0" rIns="0" tIns="0" bIns="0" anchor="ctr">
            <a:spAutoFit/>
          </a:bodyPr>
          <a:lstStyle/>
          <a:p>
            <a:pPr algn="l">
              <a:lnSpc>
                <a:spcPct val="115000"/>
              </a:lnSpc>
            </a:pPr>
            <a:r>
              <a:rPr sz="1100" b="1">
                <a:solidFill>
                  <a:srgbClr val="FFFFFF"/>
                </a:solidFill>
                <a:latin typeface="Segoe UI"/>
              </a:rPr>
              <a:t>KPI</a:t>
            </a:r>
          </a:p>
        </p:txBody>
      </p:sp>
      <p:sp>
        <p:nvSpPr>
          <p:cNvPr id="9" name="Rectangle 8"/>
          <p:cNvSpPr/>
          <p:nvPr/>
        </p:nvSpPr>
        <p:spPr>
          <a:xfrm>
            <a:off x="4498848" y="1408176"/>
            <a:ext cx="2286000" cy="384048"/>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1408176"/>
            <a:ext cx="2048256" cy="384048"/>
          </a:xfrm>
          <a:prstGeom prst="rect">
            <a:avLst/>
          </a:prstGeom>
          <a:noFill/>
        </p:spPr>
        <p:txBody>
          <a:bodyPr wrap="square" lIns="0" rIns="0" tIns="0" bIns="0" anchor="ctr">
            <a:spAutoFit/>
          </a:bodyPr>
          <a:lstStyle/>
          <a:p>
            <a:pPr algn="l">
              <a:lnSpc>
                <a:spcPct val="115000"/>
              </a:lnSpc>
            </a:pPr>
            <a:r>
              <a:rPr sz="1100" b="1">
                <a:solidFill>
                  <a:srgbClr val="FFFFFF"/>
                </a:solidFill>
                <a:latin typeface="Segoe UI"/>
              </a:rPr>
              <a:t>Milestone target</a:t>
            </a:r>
          </a:p>
        </p:txBody>
      </p:sp>
      <p:sp>
        <p:nvSpPr>
          <p:cNvPr id="11" name="Rectangle 10"/>
          <p:cNvSpPr/>
          <p:nvPr/>
        </p:nvSpPr>
        <p:spPr>
          <a:xfrm>
            <a:off x="6784848" y="1408176"/>
            <a:ext cx="4754880" cy="384048"/>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03720" y="1408176"/>
            <a:ext cx="4517136" cy="384048"/>
          </a:xfrm>
          <a:prstGeom prst="rect">
            <a:avLst/>
          </a:prstGeom>
          <a:noFill/>
        </p:spPr>
        <p:txBody>
          <a:bodyPr wrap="square" lIns="0" rIns="0" tIns="0" bIns="0" anchor="ctr">
            <a:spAutoFit/>
          </a:bodyPr>
          <a:lstStyle/>
          <a:p>
            <a:pPr algn="l">
              <a:lnSpc>
                <a:spcPct val="115000"/>
              </a:lnSpc>
            </a:pPr>
            <a:r>
              <a:rPr sz="1100" b="1">
                <a:solidFill>
                  <a:srgbClr val="FFFFFF"/>
                </a:solidFill>
                <a:latin typeface="Segoe UI"/>
              </a:rPr>
              <a:t>Achieved as of 19 August 2026</a:t>
            </a:r>
          </a:p>
        </p:txBody>
      </p:sp>
      <p:sp>
        <p:nvSpPr>
          <p:cNvPr id="13" name="Rectangle 12"/>
          <p:cNvSpPr/>
          <p:nvPr/>
        </p:nvSpPr>
        <p:spPr>
          <a:xfrm>
            <a:off x="658368" y="1792224"/>
            <a:ext cx="3840480" cy="35204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792224"/>
            <a:ext cx="360273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DSAR plan phases delivered</a:t>
            </a:r>
          </a:p>
        </p:txBody>
      </p:sp>
      <p:sp>
        <p:nvSpPr>
          <p:cNvPr id="15" name="Rectangle 14"/>
          <p:cNvSpPr/>
          <p:nvPr/>
        </p:nvSpPr>
        <p:spPr>
          <a:xfrm>
            <a:off x="4498848" y="1792224"/>
            <a:ext cx="2286000" cy="35204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7720" y="1792224"/>
            <a:ext cx="204825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9 of 9</a:t>
            </a:r>
          </a:p>
        </p:txBody>
      </p:sp>
      <p:sp>
        <p:nvSpPr>
          <p:cNvPr id="17" name="Rectangle 16"/>
          <p:cNvSpPr/>
          <p:nvPr/>
        </p:nvSpPr>
        <p:spPr>
          <a:xfrm>
            <a:off x="6784848" y="1792224"/>
            <a:ext cx="4754880" cy="35204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03720" y="1792224"/>
            <a:ext cx="4517136" cy="352044"/>
          </a:xfrm>
          <a:prstGeom prst="rect">
            <a:avLst/>
          </a:prstGeom>
          <a:noFill/>
        </p:spPr>
        <p:txBody>
          <a:bodyPr wrap="square" lIns="0" rIns="0" tIns="0" bIns="0" anchor="ctr">
            <a:spAutoFit/>
          </a:bodyPr>
          <a:lstStyle/>
          <a:p>
            <a:pPr algn="l">
              <a:lnSpc>
                <a:spcPct val="108000"/>
              </a:lnSpc>
            </a:pPr>
            <a:r>
              <a:rPr sz="1150" b="1">
                <a:solidFill>
                  <a:srgbClr val="0E7C54"/>
                </a:solidFill>
                <a:latin typeface="Segoe UI"/>
              </a:rPr>
              <a:t>9 of 9 - complete</a:t>
            </a:r>
          </a:p>
        </p:txBody>
      </p:sp>
      <p:sp>
        <p:nvSpPr>
          <p:cNvPr id="19" name="Rectangle 18"/>
          <p:cNvSpPr/>
          <p:nvPr/>
        </p:nvSpPr>
        <p:spPr>
          <a:xfrm>
            <a:off x="658368" y="2144268"/>
            <a:ext cx="3840480" cy="35204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2144268"/>
            <a:ext cx="360273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Production-readiness phases</a:t>
            </a:r>
          </a:p>
        </p:txBody>
      </p:sp>
      <p:sp>
        <p:nvSpPr>
          <p:cNvPr id="21" name="Rectangle 20"/>
          <p:cNvSpPr/>
          <p:nvPr/>
        </p:nvSpPr>
        <p:spPr>
          <a:xfrm>
            <a:off x="4498848" y="2144268"/>
            <a:ext cx="2286000" cy="35204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17720" y="2144268"/>
            <a:ext cx="204825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6 planned</a:t>
            </a:r>
          </a:p>
        </p:txBody>
      </p:sp>
      <p:sp>
        <p:nvSpPr>
          <p:cNvPr id="23" name="Rectangle 22"/>
          <p:cNvSpPr/>
          <p:nvPr/>
        </p:nvSpPr>
        <p:spPr>
          <a:xfrm>
            <a:off x="6784848" y="2144268"/>
            <a:ext cx="4754880" cy="35204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03720" y="2144268"/>
            <a:ext cx="4517136" cy="352044"/>
          </a:xfrm>
          <a:prstGeom prst="rect">
            <a:avLst/>
          </a:prstGeom>
          <a:noFill/>
        </p:spPr>
        <p:txBody>
          <a:bodyPr wrap="square" lIns="0" rIns="0" tIns="0" bIns="0" anchor="ctr">
            <a:spAutoFit/>
          </a:bodyPr>
          <a:lstStyle/>
          <a:p>
            <a:pPr algn="l">
              <a:lnSpc>
                <a:spcPct val="108000"/>
              </a:lnSpc>
            </a:pPr>
            <a:r>
              <a:rPr sz="1150" b="1">
                <a:solidFill>
                  <a:srgbClr val="0E7C54"/>
                </a:solidFill>
                <a:latin typeface="Segoe UI"/>
              </a:rPr>
              <a:t>3 done (0, 1, 2) - Phase 3 next</a:t>
            </a:r>
          </a:p>
        </p:txBody>
      </p:sp>
      <p:sp>
        <p:nvSpPr>
          <p:cNvPr id="25" name="Rectangle 24"/>
          <p:cNvSpPr/>
          <p:nvPr/>
        </p:nvSpPr>
        <p:spPr>
          <a:xfrm>
            <a:off x="658368" y="2496312"/>
            <a:ext cx="3840480" cy="35204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2496312"/>
            <a:ext cx="360273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Capture types delivered</a:t>
            </a:r>
          </a:p>
        </p:txBody>
      </p:sp>
      <p:sp>
        <p:nvSpPr>
          <p:cNvPr id="27" name="Rectangle 26"/>
          <p:cNvSpPr/>
          <p:nvPr/>
        </p:nvSpPr>
        <p:spPr>
          <a:xfrm>
            <a:off x="4498848" y="2496312"/>
            <a:ext cx="2286000" cy="35204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17720" y="2496312"/>
            <a:ext cx="204825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2 (image, audio)</a:t>
            </a:r>
          </a:p>
        </p:txBody>
      </p:sp>
      <p:sp>
        <p:nvSpPr>
          <p:cNvPr id="29" name="Rectangle 28"/>
          <p:cNvSpPr/>
          <p:nvPr/>
        </p:nvSpPr>
        <p:spPr>
          <a:xfrm>
            <a:off x="6784848" y="2496312"/>
            <a:ext cx="4754880" cy="35204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03720" y="2496312"/>
            <a:ext cx="4517136" cy="352044"/>
          </a:xfrm>
          <a:prstGeom prst="rect">
            <a:avLst/>
          </a:prstGeom>
          <a:noFill/>
        </p:spPr>
        <p:txBody>
          <a:bodyPr wrap="square" lIns="0" rIns="0" tIns="0" bIns="0" anchor="ctr">
            <a:spAutoFit/>
          </a:bodyPr>
          <a:lstStyle/>
          <a:p>
            <a:pPr algn="l">
              <a:lnSpc>
                <a:spcPct val="108000"/>
              </a:lnSpc>
            </a:pPr>
            <a:r>
              <a:rPr sz="1150" b="1">
                <a:solidFill>
                  <a:srgbClr val="0E7C54"/>
                </a:solidFill>
                <a:latin typeface="Segoe UI"/>
              </a:rPr>
              <a:t>3 live - image, audio, text - video in progress</a:t>
            </a:r>
          </a:p>
        </p:txBody>
      </p:sp>
      <p:sp>
        <p:nvSpPr>
          <p:cNvPr id="31" name="Rectangle 30"/>
          <p:cNvSpPr/>
          <p:nvPr/>
        </p:nvSpPr>
        <p:spPr>
          <a:xfrm>
            <a:off x="658368" y="2848356"/>
            <a:ext cx="3840480" cy="35204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2848356"/>
            <a:ext cx="360273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Audio pipeline verified</a:t>
            </a:r>
          </a:p>
        </p:txBody>
      </p:sp>
      <p:sp>
        <p:nvSpPr>
          <p:cNvPr id="33" name="Rectangle 32"/>
          <p:cNvSpPr/>
          <p:nvPr/>
        </p:nvSpPr>
        <p:spPr>
          <a:xfrm>
            <a:off x="4498848" y="2848356"/>
            <a:ext cx="2286000" cy="35204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17720" y="2848356"/>
            <a:ext cx="204825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Built</a:t>
            </a:r>
          </a:p>
        </p:txBody>
      </p:sp>
      <p:sp>
        <p:nvSpPr>
          <p:cNvPr id="35" name="Rectangle 34"/>
          <p:cNvSpPr/>
          <p:nvPr/>
        </p:nvSpPr>
        <p:spPr>
          <a:xfrm>
            <a:off x="6784848" y="2848356"/>
            <a:ext cx="4754880" cy="35204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903720" y="2848356"/>
            <a:ext cx="4517136" cy="352044"/>
          </a:xfrm>
          <a:prstGeom prst="rect">
            <a:avLst/>
          </a:prstGeom>
          <a:noFill/>
        </p:spPr>
        <p:txBody>
          <a:bodyPr wrap="square" lIns="0" rIns="0" tIns="0" bIns="0" anchor="ctr">
            <a:spAutoFit/>
          </a:bodyPr>
          <a:lstStyle/>
          <a:p>
            <a:pPr algn="l">
              <a:lnSpc>
                <a:spcPct val="108000"/>
              </a:lnSpc>
            </a:pPr>
            <a:r>
              <a:rPr sz="1150" b="1">
                <a:solidFill>
                  <a:srgbClr val="0E7C54"/>
                </a:solidFill>
                <a:latin typeface="Segoe UI"/>
              </a:rPr>
              <a:t>Verified on a real 1:49 recording</a:t>
            </a:r>
          </a:p>
        </p:txBody>
      </p:sp>
      <p:sp>
        <p:nvSpPr>
          <p:cNvPr id="37" name="Rectangle 36"/>
          <p:cNvSpPr/>
          <p:nvPr/>
        </p:nvSpPr>
        <p:spPr>
          <a:xfrm>
            <a:off x="658368" y="3200400"/>
            <a:ext cx="3840480" cy="35204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7240" y="3200400"/>
            <a:ext cx="360273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Automated tests passing</a:t>
            </a:r>
          </a:p>
        </p:txBody>
      </p:sp>
      <p:sp>
        <p:nvSpPr>
          <p:cNvPr id="39" name="Rectangle 38"/>
          <p:cNvSpPr/>
          <p:nvPr/>
        </p:nvSpPr>
        <p:spPr>
          <a:xfrm>
            <a:off x="4498848" y="3200400"/>
            <a:ext cx="2286000" cy="35204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617720" y="3200400"/>
            <a:ext cx="204825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No regression</a:t>
            </a:r>
          </a:p>
        </p:txBody>
      </p:sp>
      <p:sp>
        <p:nvSpPr>
          <p:cNvPr id="41" name="Rectangle 40"/>
          <p:cNvSpPr/>
          <p:nvPr/>
        </p:nvSpPr>
        <p:spPr>
          <a:xfrm>
            <a:off x="6784848" y="3200400"/>
            <a:ext cx="4754880" cy="35204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903720" y="3200400"/>
            <a:ext cx="4517136" cy="352044"/>
          </a:xfrm>
          <a:prstGeom prst="rect">
            <a:avLst/>
          </a:prstGeom>
          <a:noFill/>
        </p:spPr>
        <p:txBody>
          <a:bodyPr wrap="square" lIns="0" rIns="0" tIns="0" bIns="0" anchor="ctr">
            <a:spAutoFit/>
          </a:bodyPr>
          <a:lstStyle/>
          <a:p>
            <a:pPr algn="l">
              <a:lnSpc>
                <a:spcPct val="108000"/>
              </a:lnSpc>
            </a:pPr>
            <a:r>
              <a:rPr sz="1150" b="1">
                <a:solidFill>
                  <a:srgbClr val="0E7C54"/>
                </a:solidFill>
                <a:latin typeface="Segoe UI"/>
              </a:rPr>
              <a:t>123 / 123 - 0 failures</a:t>
            </a:r>
          </a:p>
        </p:txBody>
      </p:sp>
      <p:sp>
        <p:nvSpPr>
          <p:cNvPr id="43" name="Rectangle 42"/>
          <p:cNvSpPr/>
          <p:nvPr/>
        </p:nvSpPr>
        <p:spPr>
          <a:xfrm>
            <a:off x="658368" y="3552444"/>
            <a:ext cx="3840480" cy="35204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77240" y="3552444"/>
            <a:ext cx="360273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Model stacks benchmarked</a:t>
            </a:r>
          </a:p>
        </p:txBody>
      </p:sp>
      <p:sp>
        <p:nvSpPr>
          <p:cNvPr id="45" name="Rectangle 44"/>
          <p:cNvSpPr/>
          <p:nvPr/>
        </p:nvSpPr>
        <p:spPr>
          <a:xfrm>
            <a:off x="4498848" y="3552444"/>
            <a:ext cx="2286000" cy="35204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617720" y="3552444"/>
            <a:ext cx="204825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a:t>
            </a:r>
          </a:p>
        </p:txBody>
      </p:sp>
      <p:sp>
        <p:nvSpPr>
          <p:cNvPr id="47" name="Rectangle 46"/>
          <p:cNvSpPr/>
          <p:nvPr/>
        </p:nvSpPr>
        <p:spPr>
          <a:xfrm>
            <a:off x="6784848" y="3552444"/>
            <a:ext cx="4754880" cy="35204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903720" y="3552444"/>
            <a:ext cx="451713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3 - faces, text in images, audio</a:t>
            </a:r>
          </a:p>
        </p:txBody>
      </p:sp>
      <p:sp>
        <p:nvSpPr>
          <p:cNvPr id="49" name="Rectangle 48"/>
          <p:cNvSpPr/>
          <p:nvPr/>
        </p:nvSpPr>
        <p:spPr>
          <a:xfrm>
            <a:off x="658368" y="3904488"/>
            <a:ext cx="3840480" cy="35204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77240" y="3904488"/>
            <a:ext cx="360273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REST endpoints live</a:t>
            </a:r>
          </a:p>
        </p:txBody>
      </p:sp>
      <p:sp>
        <p:nvSpPr>
          <p:cNvPr id="51" name="Rectangle 50"/>
          <p:cNvSpPr/>
          <p:nvPr/>
        </p:nvSpPr>
        <p:spPr>
          <a:xfrm>
            <a:off x="4498848" y="3904488"/>
            <a:ext cx="2286000" cy="35204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617720" y="3904488"/>
            <a:ext cx="204825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a:t>
            </a:r>
          </a:p>
        </p:txBody>
      </p:sp>
      <p:sp>
        <p:nvSpPr>
          <p:cNvPr id="53" name="Rectangle 52"/>
          <p:cNvSpPr/>
          <p:nvPr/>
        </p:nvSpPr>
        <p:spPr>
          <a:xfrm>
            <a:off x="6784848" y="3904488"/>
            <a:ext cx="4754880" cy="35204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903720" y="3904488"/>
            <a:ext cx="451713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109 across 17 route modules</a:t>
            </a:r>
          </a:p>
        </p:txBody>
      </p:sp>
      <p:sp>
        <p:nvSpPr>
          <p:cNvPr id="55" name="Rectangle 54"/>
          <p:cNvSpPr/>
          <p:nvPr/>
        </p:nvSpPr>
        <p:spPr>
          <a:xfrm>
            <a:off x="658368" y="4256532"/>
            <a:ext cx="3840480" cy="35204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77240" y="4256532"/>
            <a:ext cx="360273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Database model</a:t>
            </a:r>
          </a:p>
        </p:txBody>
      </p:sp>
      <p:sp>
        <p:nvSpPr>
          <p:cNvPr id="57" name="Rectangle 56"/>
          <p:cNvSpPr/>
          <p:nvPr/>
        </p:nvSpPr>
        <p:spPr>
          <a:xfrm>
            <a:off x="4498848" y="4256532"/>
            <a:ext cx="2286000" cy="35204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617720" y="4256532"/>
            <a:ext cx="204825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a:t>
            </a:r>
          </a:p>
        </p:txBody>
      </p:sp>
      <p:sp>
        <p:nvSpPr>
          <p:cNvPr id="59" name="Rectangle 58"/>
          <p:cNvSpPr/>
          <p:nvPr/>
        </p:nvSpPr>
        <p:spPr>
          <a:xfrm>
            <a:off x="6784848" y="4256532"/>
            <a:ext cx="4754880" cy="35204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903720" y="4256532"/>
            <a:ext cx="451713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39 tables - 19 migrations - row-level security on</a:t>
            </a:r>
          </a:p>
        </p:txBody>
      </p:sp>
      <p:sp>
        <p:nvSpPr>
          <p:cNvPr id="61" name="Rectangle 60"/>
          <p:cNvSpPr/>
          <p:nvPr/>
        </p:nvSpPr>
        <p:spPr>
          <a:xfrm>
            <a:off x="658368" y="4608576"/>
            <a:ext cx="3840480" cy="35204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77240" y="4608576"/>
            <a:ext cx="360273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AI workers built</a:t>
            </a:r>
          </a:p>
        </p:txBody>
      </p:sp>
      <p:sp>
        <p:nvSpPr>
          <p:cNvPr id="63" name="Rectangle 62"/>
          <p:cNvSpPr/>
          <p:nvPr/>
        </p:nvSpPr>
        <p:spPr>
          <a:xfrm>
            <a:off x="4498848" y="4608576"/>
            <a:ext cx="2286000" cy="35204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617720" y="4608576"/>
            <a:ext cx="204825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4</a:t>
            </a:r>
          </a:p>
        </p:txBody>
      </p:sp>
      <p:sp>
        <p:nvSpPr>
          <p:cNvPr id="65" name="Rectangle 64"/>
          <p:cNvSpPr/>
          <p:nvPr/>
        </p:nvSpPr>
        <p:spPr>
          <a:xfrm>
            <a:off x="6784848" y="4608576"/>
            <a:ext cx="4754880" cy="35204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903720" y="4608576"/>
            <a:ext cx="4517136" cy="352044"/>
          </a:xfrm>
          <a:prstGeom prst="rect">
            <a:avLst/>
          </a:prstGeom>
          <a:noFill/>
        </p:spPr>
        <p:txBody>
          <a:bodyPr wrap="square" lIns="0" rIns="0" tIns="0" bIns="0" anchor="ctr">
            <a:spAutoFit/>
          </a:bodyPr>
          <a:lstStyle/>
          <a:p>
            <a:pPr algn="l">
              <a:lnSpc>
                <a:spcPct val="108000"/>
              </a:lnSpc>
            </a:pPr>
            <a:r>
              <a:rPr sz="1150" b="1">
                <a:solidFill>
                  <a:srgbClr val="0E7C54"/>
                </a:solidFill>
                <a:latin typeface="Segoe UI"/>
              </a:rPr>
              <a:t>4 - face, image-PII, audio, video</a:t>
            </a:r>
          </a:p>
        </p:txBody>
      </p:sp>
      <p:sp>
        <p:nvSpPr>
          <p:cNvPr id="67" name="Rectangle 66"/>
          <p:cNvSpPr/>
          <p:nvPr/>
        </p:nvSpPr>
        <p:spPr>
          <a:xfrm>
            <a:off x="658368" y="4960620"/>
            <a:ext cx="3840480" cy="35204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77240" y="4960620"/>
            <a:ext cx="360273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Admin screens delivered</a:t>
            </a:r>
          </a:p>
        </p:txBody>
      </p:sp>
      <p:sp>
        <p:nvSpPr>
          <p:cNvPr id="69" name="Rectangle 68"/>
          <p:cNvSpPr/>
          <p:nvPr/>
        </p:nvSpPr>
        <p:spPr>
          <a:xfrm>
            <a:off x="4498848" y="4960620"/>
            <a:ext cx="2286000" cy="35204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617720" y="4960620"/>
            <a:ext cx="204825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22</a:t>
            </a:r>
          </a:p>
        </p:txBody>
      </p:sp>
      <p:sp>
        <p:nvSpPr>
          <p:cNvPr id="71" name="Rectangle 70"/>
          <p:cNvSpPr/>
          <p:nvPr/>
        </p:nvSpPr>
        <p:spPr>
          <a:xfrm>
            <a:off x="6784848" y="4960620"/>
            <a:ext cx="4754880" cy="35204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903720" y="4960620"/>
            <a:ext cx="4517136" cy="352044"/>
          </a:xfrm>
          <a:prstGeom prst="rect">
            <a:avLst/>
          </a:prstGeom>
          <a:noFill/>
        </p:spPr>
        <p:txBody>
          <a:bodyPr wrap="square" lIns="0" rIns="0" tIns="0" bIns="0" anchor="ctr">
            <a:spAutoFit/>
          </a:bodyPr>
          <a:lstStyle/>
          <a:p>
            <a:pPr algn="l">
              <a:lnSpc>
                <a:spcPct val="108000"/>
              </a:lnSpc>
            </a:pPr>
            <a:r>
              <a:rPr sz="1150" b="1">
                <a:solidFill>
                  <a:srgbClr val="0E7C54"/>
                </a:solidFill>
                <a:latin typeface="Segoe UI"/>
              </a:rPr>
              <a:t>22 screens - 5 roles - plus the person-facing portal</a:t>
            </a:r>
          </a:p>
        </p:txBody>
      </p:sp>
      <p:sp>
        <p:nvSpPr>
          <p:cNvPr id="73" name="Rectangle 72"/>
          <p:cNvSpPr/>
          <p:nvPr/>
        </p:nvSpPr>
        <p:spPr>
          <a:xfrm>
            <a:off x="658368" y="5312664"/>
            <a:ext cx="3840480" cy="35204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77240" y="5312664"/>
            <a:ext cx="360273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Access events recorded</a:t>
            </a:r>
          </a:p>
        </p:txBody>
      </p:sp>
      <p:sp>
        <p:nvSpPr>
          <p:cNvPr id="75" name="Rectangle 74"/>
          <p:cNvSpPr/>
          <p:nvPr/>
        </p:nvSpPr>
        <p:spPr>
          <a:xfrm>
            <a:off x="4498848" y="5312664"/>
            <a:ext cx="2286000" cy="35204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617720" y="5312664"/>
            <a:ext cx="204825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100%</a:t>
            </a:r>
          </a:p>
        </p:txBody>
      </p:sp>
      <p:sp>
        <p:nvSpPr>
          <p:cNvPr id="77" name="Rectangle 76"/>
          <p:cNvSpPr/>
          <p:nvPr/>
        </p:nvSpPr>
        <p:spPr>
          <a:xfrm>
            <a:off x="6784848" y="5312664"/>
            <a:ext cx="4754880" cy="35204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6903720" y="5312664"/>
            <a:ext cx="4517136" cy="352044"/>
          </a:xfrm>
          <a:prstGeom prst="rect">
            <a:avLst/>
          </a:prstGeom>
          <a:noFill/>
        </p:spPr>
        <p:txBody>
          <a:bodyPr wrap="square" lIns="0" rIns="0" tIns="0" bIns="0" anchor="ctr">
            <a:spAutoFit/>
          </a:bodyPr>
          <a:lstStyle/>
          <a:p>
            <a:pPr algn="l">
              <a:lnSpc>
                <a:spcPct val="108000"/>
              </a:lnSpc>
            </a:pPr>
            <a:r>
              <a:rPr sz="1150" b="1">
                <a:solidFill>
                  <a:srgbClr val="0E7C54"/>
                </a:solidFill>
                <a:latin typeface="Segoe UI"/>
              </a:rPr>
              <a:t>2,525 recorded - 0 break-glass reads</a:t>
            </a:r>
          </a:p>
        </p:txBody>
      </p:sp>
      <p:sp>
        <p:nvSpPr>
          <p:cNvPr id="79" name="Rectangle 78"/>
          <p:cNvSpPr/>
          <p:nvPr/>
        </p:nvSpPr>
        <p:spPr>
          <a:xfrm>
            <a:off x="658368" y="5664708"/>
            <a:ext cx="3840480" cy="35204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777240" y="5664708"/>
            <a:ext cx="360273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Frames released without redaction</a:t>
            </a:r>
          </a:p>
        </p:txBody>
      </p:sp>
      <p:sp>
        <p:nvSpPr>
          <p:cNvPr id="81" name="Rectangle 80"/>
          <p:cNvSpPr/>
          <p:nvPr/>
        </p:nvSpPr>
        <p:spPr>
          <a:xfrm>
            <a:off x="4498848" y="5664708"/>
            <a:ext cx="2286000" cy="35204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617720" y="5664708"/>
            <a:ext cx="2048256" cy="35204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0</a:t>
            </a:r>
          </a:p>
        </p:txBody>
      </p:sp>
      <p:sp>
        <p:nvSpPr>
          <p:cNvPr id="83" name="Rectangle 82"/>
          <p:cNvSpPr/>
          <p:nvPr/>
        </p:nvSpPr>
        <p:spPr>
          <a:xfrm>
            <a:off x="6784848" y="5664708"/>
            <a:ext cx="4754880" cy="35204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903720" y="5664708"/>
            <a:ext cx="4517136" cy="352044"/>
          </a:xfrm>
          <a:prstGeom prst="rect">
            <a:avLst/>
          </a:prstGeom>
          <a:noFill/>
        </p:spPr>
        <p:txBody>
          <a:bodyPr wrap="square" lIns="0" rIns="0" tIns="0" bIns="0" anchor="ctr">
            <a:spAutoFit/>
          </a:bodyPr>
          <a:lstStyle/>
          <a:p>
            <a:pPr algn="l">
              <a:lnSpc>
                <a:spcPct val="108000"/>
              </a:lnSpc>
            </a:pPr>
            <a:r>
              <a:rPr sz="1150" b="1">
                <a:solidFill>
                  <a:srgbClr val="0E7C54"/>
                </a:solidFill>
                <a:latin typeface="Segoe UI"/>
              </a:rPr>
              <a:t>0 - the fail-closed rule held</a:t>
            </a:r>
          </a:p>
        </p:txBody>
      </p:sp>
      <p:sp>
        <p:nvSpPr>
          <p:cNvPr id="85" name="TextBox 84"/>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86" name="TextBox 85"/>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51560" y="2788920"/>
            <a:ext cx="1463040" cy="45720"/>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3035808"/>
            <a:ext cx="10058400" cy="1280160"/>
          </a:xfrm>
          <a:prstGeom prst="rect">
            <a:avLst/>
          </a:prstGeom>
          <a:noFill/>
        </p:spPr>
        <p:txBody>
          <a:bodyPr wrap="square" lIns="0" rIns="0" tIns="0" bIns="0" anchor="t">
            <a:spAutoFit/>
          </a:bodyPr>
          <a:lstStyle/>
          <a:p>
            <a:pPr algn="l">
              <a:lnSpc>
                <a:spcPct val="115000"/>
              </a:lnSpc>
            </a:pPr>
            <a:r>
              <a:rPr sz="4000" b="1">
                <a:solidFill>
                  <a:srgbClr val="FFFFFF"/>
                </a:solidFill>
                <a:latin typeface="Segoe UI"/>
              </a:rPr>
              <a:t>The working system</a:t>
            </a:r>
          </a:p>
          <a:p>
            <a:pPr algn="l">
              <a:lnSpc>
                <a:spcPct val="115000"/>
              </a:lnSpc>
              <a:spcBef>
                <a:spcPts val="1200"/>
              </a:spcBef>
            </a:pPr>
            <a:r>
              <a:rPr sz="1500" b="0">
                <a:solidFill>
                  <a:srgbClr val="9FADC4"/>
                </a:solidFill>
                <a:latin typeface="Segoe UI"/>
              </a:rPr>
              <a:t>Screenshots taken from the running platform on 19 August 2026 - real data, not mock-ups</a:t>
            </a:r>
          </a:p>
        </p:txBody>
      </p:sp>
      <p:sp>
        <p:nvSpPr>
          <p:cNvPr id="6" name="TextBox 5"/>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7" name="TextBox 6"/>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SCREENS - ADMIN PORTAL</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Platform overview and the request queue</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9224" y="1472184"/>
            <a:ext cx="5367528" cy="3379252"/>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dmin-02-dashboard.png"/>
          <p:cNvPicPr>
            <a:picLocks noChangeAspect="1"/>
          </p:cNvPicPr>
          <p:nvPr/>
        </p:nvPicPr>
        <p:blipFill>
          <a:blip r:embed="rId2"/>
          <a:stretch>
            <a:fillRect/>
          </a:stretch>
        </p:blipFill>
        <p:spPr>
          <a:xfrm>
            <a:off x="658368" y="1481328"/>
            <a:ext cx="5349240" cy="3360964"/>
          </a:xfrm>
          <a:prstGeom prst="rect">
            <a:avLst/>
          </a:prstGeom>
        </p:spPr>
      </p:pic>
      <p:sp>
        <p:nvSpPr>
          <p:cNvPr id="9" name="TextBox 8"/>
          <p:cNvSpPr txBox="1"/>
          <p:nvPr/>
        </p:nvSpPr>
        <p:spPr>
          <a:xfrm>
            <a:off x="658368" y="4952020"/>
            <a:ext cx="5349240" cy="603504"/>
          </a:xfrm>
          <a:prstGeom prst="rect">
            <a:avLst/>
          </a:prstGeom>
          <a:noFill/>
        </p:spPr>
        <p:txBody>
          <a:bodyPr wrap="square" lIns="0" rIns="0" tIns="0" bIns="0" anchor="t">
            <a:spAutoFit/>
          </a:bodyPr>
          <a:lstStyle/>
          <a:p>
            <a:pPr algn="ctr">
              <a:lnSpc>
                <a:spcPct val="110000"/>
              </a:lnSpc>
            </a:pPr>
            <a:r>
              <a:rPr sz="1050" b="0">
                <a:solidFill>
                  <a:srgbClr val="5B6472"/>
                </a:solidFill>
                <a:latin typeface="Segoe UI"/>
              </a:rPr>
              <a:t>Platform Administration - live counts of accounts, projects, people and open requests</a:t>
            </a:r>
          </a:p>
        </p:txBody>
      </p:sp>
      <p:sp>
        <p:nvSpPr>
          <p:cNvPr id="10" name="Rectangle 9"/>
          <p:cNvSpPr/>
          <p:nvPr/>
        </p:nvSpPr>
        <p:spPr>
          <a:xfrm>
            <a:off x="6345936" y="1472184"/>
            <a:ext cx="5276088" cy="3321799"/>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admin-14-dsar-queue.png"/>
          <p:cNvPicPr>
            <a:picLocks noChangeAspect="1"/>
          </p:cNvPicPr>
          <p:nvPr/>
        </p:nvPicPr>
        <p:blipFill>
          <a:blip r:embed="rId3"/>
          <a:stretch>
            <a:fillRect/>
          </a:stretch>
        </p:blipFill>
        <p:spPr>
          <a:xfrm>
            <a:off x="6355080" y="1481328"/>
            <a:ext cx="5257800" cy="3303511"/>
          </a:xfrm>
          <a:prstGeom prst="rect">
            <a:avLst/>
          </a:prstGeom>
        </p:spPr>
      </p:pic>
      <p:sp>
        <p:nvSpPr>
          <p:cNvPr id="12" name="TextBox 11"/>
          <p:cNvSpPr txBox="1"/>
          <p:nvPr/>
        </p:nvSpPr>
        <p:spPr>
          <a:xfrm>
            <a:off x="6355080" y="4894567"/>
            <a:ext cx="5257800" cy="603504"/>
          </a:xfrm>
          <a:prstGeom prst="rect">
            <a:avLst/>
          </a:prstGeom>
          <a:noFill/>
        </p:spPr>
        <p:txBody>
          <a:bodyPr wrap="square" lIns="0" rIns="0" tIns="0" bIns="0" anchor="t">
            <a:spAutoFit/>
          </a:bodyPr>
          <a:lstStyle/>
          <a:p>
            <a:pPr algn="ctr">
              <a:lnSpc>
                <a:spcPct val="110000"/>
              </a:lnSpc>
            </a:pPr>
            <a:r>
              <a:rPr sz="1050" b="0">
                <a:solidFill>
                  <a:srgbClr val="5B6472"/>
                </a:solidFill>
                <a:latin typeface="Segoe UI"/>
              </a:rPr>
              <a:t>DSAR Dashboard - every request, the stage it is at, and its legal deadline</a:t>
            </a:r>
          </a:p>
        </p:txBody>
      </p:sp>
      <p:sp>
        <p:nvSpPr>
          <p:cNvPr id="13" name="TextBox 12"/>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14" name="TextBox 13"/>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SCREENS - ADMIN PORTAL</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Governance - nothing is collected before it is approved</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9224" y="1472184"/>
            <a:ext cx="5367528" cy="3379252"/>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dmin-03-project-approvals.png"/>
          <p:cNvPicPr>
            <a:picLocks noChangeAspect="1"/>
          </p:cNvPicPr>
          <p:nvPr/>
        </p:nvPicPr>
        <p:blipFill>
          <a:blip r:embed="rId2"/>
          <a:stretch>
            <a:fillRect/>
          </a:stretch>
        </p:blipFill>
        <p:spPr>
          <a:xfrm>
            <a:off x="658368" y="1481328"/>
            <a:ext cx="5349240" cy="3360964"/>
          </a:xfrm>
          <a:prstGeom prst="rect">
            <a:avLst/>
          </a:prstGeom>
        </p:spPr>
      </p:pic>
      <p:sp>
        <p:nvSpPr>
          <p:cNvPr id="9" name="TextBox 8"/>
          <p:cNvSpPr txBox="1"/>
          <p:nvPr/>
        </p:nvSpPr>
        <p:spPr>
          <a:xfrm>
            <a:off x="658368" y="4952020"/>
            <a:ext cx="5349240" cy="603504"/>
          </a:xfrm>
          <a:prstGeom prst="rect">
            <a:avLst/>
          </a:prstGeom>
          <a:noFill/>
        </p:spPr>
        <p:txBody>
          <a:bodyPr wrap="square" lIns="0" rIns="0" tIns="0" bIns="0" anchor="t">
            <a:spAutoFit/>
          </a:bodyPr>
          <a:lstStyle/>
          <a:p>
            <a:pPr algn="ctr">
              <a:lnSpc>
                <a:spcPct val="110000"/>
              </a:lnSpc>
            </a:pPr>
            <a:r>
              <a:rPr sz="1050" b="0">
                <a:solidFill>
                  <a:srgbClr val="5B6472"/>
                </a:solidFill>
                <a:latin typeface="Segoe UI"/>
              </a:rPr>
              <a:t>Project Approvals - the DPO approves a project and its purpose before any collection can start</a:t>
            </a:r>
          </a:p>
        </p:txBody>
      </p:sp>
      <p:sp>
        <p:nvSpPr>
          <p:cNvPr id="10" name="Rectangle 9"/>
          <p:cNvSpPr/>
          <p:nvPr/>
        </p:nvSpPr>
        <p:spPr>
          <a:xfrm>
            <a:off x="6345936" y="1472184"/>
            <a:ext cx="5276088" cy="3321799"/>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admin-04-consent-templates.png"/>
          <p:cNvPicPr>
            <a:picLocks noChangeAspect="1"/>
          </p:cNvPicPr>
          <p:nvPr/>
        </p:nvPicPr>
        <p:blipFill>
          <a:blip r:embed="rId3"/>
          <a:stretch>
            <a:fillRect/>
          </a:stretch>
        </p:blipFill>
        <p:spPr>
          <a:xfrm>
            <a:off x="6355080" y="1481328"/>
            <a:ext cx="5257800" cy="3303511"/>
          </a:xfrm>
          <a:prstGeom prst="rect">
            <a:avLst/>
          </a:prstGeom>
        </p:spPr>
      </p:pic>
      <p:sp>
        <p:nvSpPr>
          <p:cNvPr id="12" name="TextBox 11"/>
          <p:cNvSpPr txBox="1"/>
          <p:nvPr/>
        </p:nvSpPr>
        <p:spPr>
          <a:xfrm>
            <a:off x="6355080" y="4894567"/>
            <a:ext cx="5257800" cy="603504"/>
          </a:xfrm>
          <a:prstGeom prst="rect">
            <a:avLst/>
          </a:prstGeom>
          <a:noFill/>
        </p:spPr>
        <p:txBody>
          <a:bodyPr wrap="square" lIns="0" rIns="0" tIns="0" bIns="0" anchor="t">
            <a:spAutoFit/>
          </a:bodyPr>
          <a:lstStyle/>
          <a:p>
            <a:pPr algn="ctr">
              <a:lnSpc>
                <a:spcPct val="110000"/>
              </a:lnSpc>
            </a:pPr>
            <a:r>
              <a:rPr sz="1050" b="0">
                <a:solidFill>
                  <a:srgbClr val="5B6472"/>
                </a:solidFill>
                <a:latin typeface="Segoe UI"/>
              </a:rPr>
              <a:t>Consent Templates - the exact notice a person reads, versioned and frozen once published</a:t>
            </a:r>
          </a:p>
        </p:txBody>
      </p:sp>
      <p:sp>
        <p:nvSpPr>
          <p:cNvPr id="13" name="TextBox 12"/>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14" name="TextBox 13"/>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SCREENS - COLLECTION AGENT</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Three kinds of data, one set of rules</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7924" y="1545336"/>
            <a:ext cx="5930208" cy="3995927"/>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5.png"/>
          <p:cNvPicPr>
            <a:picLocks noChangeAspect="1"/>
          </p:cNvPicPr>
          <p:nvPr/>
        </p:nvPicPr>
        <p:blipFill>
          <a:blip r:embed="rId2"/>
          <a:stretch>
            <a:fillRect/>
          </a:stretch>
        </p:blipFill>
        <p:spPr>
          <a:xfrm>
            <a:off x="697068" y="1554480"/>
            <a:ext cx="5911920" cy="3977639"/>
          </a:xfrm>
          <a:prstGeom prst="rect">
            <a:avLst/>
          </a:prstGeom>
        </p:spPr>
      </p:pic>
      <p:sp>
        <p:nvSpPr>
          <p:cNvPr id="9" name="TextBox 8"/>
          <p:cNvSpPr txBox="1"/>
          <p:nvPr/>
        </p:nvSpPr>
        <p:spPr>
          <a:xfrm>
            <a:off x="658368" y="5641847"/>
            <a:ext cx="5989320" cy="603504"/>
          </a:xfrm>
          <a:prstGeom prst="rect">
            <a:avLst/>
          </a:prstGeom>
          <a:noFill/>
        </p:spPr>
        <p:txBody>
          <a:bodyPr wrap="square" lIns="0" rIns="0" tIns="0" bIns="0" anchor="t">
            <a:spAutoFit/>
          </a:bodyPr>
          <a:lstStyle/>
          <a:p>
            <a:pPr algn="ctr">
              <a:lnSpc>
                <a:spcPct val="110000"/>
              </a:lnSpc>
            </a:pPr>
            <a:r>
              <a:rPr sz="1050" b="0">
                <a:solidFill>
                  <a:srgbClr val="5B6472"/>
                </a:solidFill>
                <a:latin typeface="Segoe UI"/>
              </a:rPr>
              <a:t>Starting a session - the agent picks the kind of data being collected</a:t>
            </a:r>
          </a:p>
        </p:txBody>
      </p:sp>
      <p:sp>
        <p:nvSpPr>
          <p:cNvPr id="10" name="Rectangle 9"/>
          <p:cNvSpPr/>
          <p:nvPr/>
        </p:nvSpPr>
        <p:spPr>
          <a:xfrm>
            <a:off x="7086600" y="1554480"/>
            <a:ext cx="4544568" cy="3977639"/>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60920" y="1810512"/>
            <a:ext cx="3995928" cy="274320"/>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ONE PLATFORM, THREE PIPELINES</a:t>
            </a:r>
          </a:p>
        </p:txBody>
      </p:sp>
      <p:sp>
        <p:nvSpPr>
          <p:cNvPr id="12" name="TextBox 11"/>
          <p:cNvSpPr txBox="1"/>
          <p:nvPr/>
        </p:nvSpPr>
        <p:spPr>
          <a:xfrm>
            <a:off x="7360920" y="2176272"/>
            <a:ext cx="3995928" cy="3099815"/>
          </a:xfrm>
          <a:prstGeom prst="rect">
            <a:avLst/>
          </a:prstGeom>
          <a:noFill/>
        </p:spPr>
        <p:txBody>
          <a:bodyPr wrap="square" lIns="0" rIns="0" tIns="0" bIns="0" anchor="t">
            <a:spAutoFit/>
          </a:bodyPr>
          <a:lstStyle/>
          <a:p>
            <a:pPr algn="l">
              <a:lnSpc>
                <a:spcPct val="122000"/>
              </a:lnSpc>
            </a:pPr>
            <a:r>
              <a:rPr sz="1350" b="1">
                <a:solidFill>
                  <a:srgbClr val="141B2B"/>
                </a:solidFill>
                <a:latin typeface="Segoe UI"/>
              </a:rPr>
              <a:t>Image</a:t>
            </a:r>
          </a:p>
          <a:p>
            <a:pPr algn="l">
              <a:lnSpc>
                <a:spcPct val="122000"/>
              </a:lnSpc>
              <a:spcBef>
                <a:spcPts val="300"/>
              </a:spcBef>
            </a:pPr>
            <a:r>
              <a:rPr sz="1150" b="0">
                <a:solidFill>
                  <a:srgbClr val="5B6472"/>
                </a:solidFill>
                <a:latin typeface="Segoe UI"/>
              </a:rPr>
              <a:t>Faces detected, matched against the people who consented, and blurred if they did not. Identity text in the frame is masked separately.</a:t>
            </a:r>
          </a:p>
          <a:p>
            <a:pPr algn="l">
              <a:lnSpc>
                <a:spcPct val="122000"/>
              </a:lnSpc>
              <a:spcBef>
                <a:spcPts val="1200"/>
              </a:spcBef>
            </a:pPr>
            <a:r>
              <a:rPr sz="1350" b="1">
                <a:solidFill>
                  <a:srgbClr val="141B2B"/>
                </a:solidFill>
                <a:latin typeface="Segoe UI"/>
              </a:rPr>
              <a:t>Audio</a:t>
            </a:r>
          </a:p>
          <a:p>
            <a:pPr algn="l">
              <a:lnSpc>
                <a:spcPct val="122000"/>
              </a:lnSpc>
              <a:spcBef>
                <a:spcPts val="300"/>
              </a:spcBef>
            </a:pPr>
            <a:r>
              <a:rPr sz="1150" b="0">
                <a:solidFill>
                  <a:srgbClr val="5B6472"/>
                </a:solidFill>
                <a:latin typeface="Segoe UI"/>
              </a:rPr>
              <a:t>The recording is split by speaker, each speaker is matched to a consented person, and unknown voices are muted. Spoken names, numbers and card details are muted too.</a:t>
            </a:r>
          </a:p>
          <a:p>
            <a:pPr algn="l">
              <a:lnSpc>
                <a:spcPct val="122000"/>
              </a:lnSpc>
              <a:spcBef>
                <a:spcPts val="1200"/>
              </a:spcBef>
            </a:pPr>
            <a:r>
              <a:rPr sz="1350" b="1">
                <a:solidFill>
                  <a:srgbClr val="141B2B"/>
                </a:solidFill>
                <a:latin typeface="Segoe UI"/>
              </a:rPr>
              <a:t>Text</a:t>
            </a:r>
          </a:p>
          <a:p>
            <a:pPr algn="l">
              <a:lnSpc>
                <a:spcPct val="122000"/>
              </a:lnSpc>
              <a:spcBef>
                <a:spcPts val="300"/>
              </a:spcBef>
            </a:pPr>
            <a:r>
              <a:rPr sz="1150" b="0">
                <a:solidFill>
                  <a:srgbClr val="5B6472"/>
                </a:solidFill>
                <a:latin typeface="Segoe UI"/>
              </a:rPr>
              <a:t>Quotes are tagged to the person who said them. Anything not tagged to a consented person is redacted, and names, emails and phone numbers are masked automatically.</a:t>
            </a:r>
          </a:p>
          <a:p>
            <a:pPr algn="l">
              <a:lnSpc>
                <a:spcPct val="122000"/>
              </a:lnSpc>
              <a:spcBef>
                <a:spcPts val="1200"/>
              </a:spcBef>
            </a:pPr>
            <a:r>
              <a:rPr sz="1150" b="1">
                <a:solidFill>
                  <a:srgbClr val="14398C"/>
                </a:solidFill>
                <a:latin typeface="Segoe UI"/>
              </a:rPr>
              <a:t>The same consent record, the same audit chain and the same erasure engine sit behind all three.</a:t>
            </a:r>
          </a:p>
        </p:txBody>
      </p:sp>
      <p:sp>
        <p:nvSpPr>
          <p:cNvPr id="13" name="TextBox 12"/>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14" name="TextBox 13"/>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SCREENS - ADMIN PORTAL</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Collection and hand-off</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9224" y="1472184"/>
            <a:ext cx="5367528" cy="3379252"/>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dmin-10-sessions.png"/>
          <p:cNvPicPr>
            <a:picLocks noChangeAspect="1"/>
          </p:cNvPicPr>
          <p:nvPr/>
        </p:nvPicPr>
        <p:blipFill>
          <a:blip r:embed="rId2"/>
          <a:stretch>
            <a:fillRect/>
          </a:stretch>
        </p:blipFill>
        <p:spPr>
          <a:xfrm>
            <a:off x="658368" y="1481328"/>
            <a:ext cx="5349240" cy="3360964"/>
          </a:xfrm>
          <a:prstGeom prst="rect">
            <a:avLst/>
          </a:prstGeom>
        </p:spPr>
      </p:pic>
      <p:sp>
        <p:nvSpPr>
          <p:cNvPr id="9" name="TextBox 8"/>
          <p:cNvSpPr txBox="1"/>
          <p:nvPr/>
        </p:nvSpPr>
        <p:spPr>
          <a:xfrm>
            <a:off x="658368" y="4952020"/>
            <a:ext cx="5349240" cy="603504"/>
          </a:xfrm>
          <a:prstGeom prst="rect">
            <a:avLst/>
          </a:prstGeom>
          <a:noFill/>
        </p:spPr>
        <p:txBody>
          <a:bodyPr wrap="square" lIns="0" rIns="0" tIns="0" bIns="0" anchor="t">
            <a:spAutoFit/>
          </a:bodyPr>
          <a:lstStyle/>
          <a:p>
            <a:pPr algn="ctr">
              <a:lnSpc>
                <a:spcPct val="110000"/>
              </a:lnSpc>
            </a:pPr>
            <a:r>
              <a:rPr sz="1050" b="0">
                <a:solidFill>
                  <a:srgbClr val="5B6472"/>
                </a:solidFill>
                <a:latin typeface="Segoe UI"/>
              </a:rPr>
              <a:t>Sessions - every capture session an agent has run, and the stage it has reached</a:t>
            </a:r>
          </a:p>
        </p:txBody>
      </p:sp>
      <p:sp>
        <p:nvSpPr>
          <p:cNvPr id="10" name="Rectangle 9"/>
          <p:cNvSpPr/>
          <p:nvPr/>
        </p:nvSpPr>
        <p:spPr>
          <a:xfrm>
            <a:off x="6345936" y="1472184"/>
            <a:ext cx="5276088" cy="3321799"/>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admin-16-discovery-workspace.png"/>
          <p:cNvPicPr>
            <a:picLocks noChangeAspect="1"/>
          </p:cNvPicPr>
          <p:nvPr/>
        </p:nvPicPr>
        <p:blipFill>
          <a:blip r:embed="rId3"/>
          <a:stretch>
            <a:fillRect/>
          </a:stretch>
        </p:blipFill>
        <p:spPr>
          <a:xfrm>
            <a:off x="6355080" y="1481328"/>
            <a:ext cx="5257800" cy="3303511"/>
          </a:xfrm>
          <a:prstGeom prst="rect">
            <a:avLst/>
          </a:prstGeom>
        </p:spPr>
      </p:pic>
      <p:sp>
        <p:nvSpPr>
          <p:cNvPr id="12" name="TextBox 11"/>
          <p:cNvSpPr txBox="1"/>
          <p:nvPr/>
        </p:nvSpPr>
        <p:spPr>
          <a:xfrm>
            <a:off x="6355080" y="4894567"/>
            <a:ext cx="5257800" cy="603504"/>
          </a:xfrm>
          <a:prstGeom prst="rect">
            <a:avLst/>
          </a:prstGeom>
          <a:noFill/>
        </p:spPr>
        <p:txBody>
          <a:bodyPr wrap="square" lIns="0" rIns="0" tIns="0" bIns="0" anchor="t">
            <a:spAutoFit/>
          </a:bodyPr>
          <a:lstStyle/>
          <a:p>
            <a:pPr algn="ctr">
              <a:lnSpc>
                <a:spcPct val="110000"/>
              </a:lnSpc>
            </a:pPr>
            <a:r>
              <a:rPr sz="1050" b="0">
                <a:solidFill>
                  <a:srgbClr val="5B6472"/>
                </a:solidFill>
                <a:latin typeface="Segoe UI"/>
              </a:rPr>
              <a:t>Hand-off queue - a session only moves on once its frames are redacted and linked to consent</a:t>
            </a:r>
          </a:p>
        </p:txBody>
      </p:sp>
      <p:sp>
        <p:nvSpPr>
          <p:cNvPr id="13" name="TextBox 12"/>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14" name="TextBox 13"/>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SCREENS - ADMIN PORTAL</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Fail-closed, seen in the product</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6569" y="1472184"/>
            <a:ext cx="6567317" cy="4133088"/>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detail-session-photos.png"/>
          <p:cNvPicPr>
            <a:picLocks noChangeAspect="1"/>
          </p:cNvPicPr>
          <p:nvPr/>
        </p:nvPicPr>
        <p:blipFill>
          <a:blip r:embed="rId2"/>
          <a:stretch>
            <a:fillRect/>
          </a:stretch>
        </p:blipFill>
        <p:spPr>
          <a:xfrm>
            <a:off x="835713" y="1481328"/>
            <a:ext cx="6549029" cy="4114800"/>
          </a:xfrm>
          <a:prstGeom prst="rect">
            <a:avLst/>
          </a:prstGeom>
        </p:spPr>
      </p:pic>
      <p:sp>
        <p:nvSpPr>
          <p:cNvPr id="9" name="Rectangle 8"/>
          <p:cNvSpPr/>
          <p:nvPr/>
        </p:nvSpPr>
        <p:spPr>
          <a:xfrm>
            <a:off x="7818120" y="1481328"/>
            <a:ext cx="3813048" cy="4114800"/>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92440" y="1737360"/>
            <a:ext cx="3264408" cy="274320"/>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WHAT THIS SCREEN PROVES</a:t>
            </a:r>
          </a:p>
        </p:txBody>
      </p:sp>
      <p:sp>
        <p:nvSpPr>
          <p:cNvPr id="11" name="TextBox 10"/>
          <p:cNvSpPr txBox="1"/>
          <p:nvPr/>
        </p:nvSpPr>
        <p:spPr>
          <a:xfrm>
            <a:off x="8092440" y="2103120"/>
            <a:ext cx="3264408" cy="3236976"/>
          </a:xfrm>
          <a:prstGeom prst="rect">
            <a:avLst/>
          </a:prstGeom>
          <a:noFill/>
        </p:spPr>
        <p:txBody>
          <a:bodyPr wrap="square" lIns="0" rIns="0" tIns="0" bIns="0" anchor="t">
            <a:spAutoFit/>
          </a:bodyPr>
          <a:lstStyle/>
          <a:p>
            <a:pPr algn="l">
              <a:lnSpc>
                <a:spcPct val="122000"/>
              </a:lnSpc>
            </a:pPr>
            <a:r>
              <a:rPr sz="1300" b="1">
                <a:solidFill>
                  <a:srgbClr val="141B2B"/>
                </a:solidFill>
                <a:latin typeface="Segoe UI"/>
              </a:rPr>
              <a:t>The AI redaction workers were switched off when this screenshot was taken.</a:t>
            </a:r>
          </a:p>
          <a:p>
            <a:pPr algn="l">
              <a:lnSpc>
                <a:spcPct val="122000"/>
              </a:lnSpc>
              <a:spcBef>
                <a:spcPts val="900"/>
              </a:spcBef>
            </a:pPr>
            <a:r>
              <a:rPr sz="1200" b="0">
                <a:solidFill>
                  <a:srgbClr val="5B6472"/>
                </a:solidFill>
                <a:latin typeface="Segoe UI"/>
              </a:rPr>
              <a:t>The platform did not fall back to showing the original photographs. It refused to show anything, and it blocked the session from moving forward.</a:t>
            </a:r>
          </a:p>
          <a:p>
            <a:pPr algn="l">
              <a:lnSpc>
                <a:spcPct val="122000"/>
              </a:lnSpc>
              <a:spcBef>
                <a:spcPts val="900"/>
              </a:spcBef>
            </a:pPr>
            <a:r>
              <a:rPr sz="1200" b="0">
                <a:solidFill>
                  <a:srgbClr val="5B6472"/>
                </a:solidFill>
                <a:latin typeface="Segoe UI"/>
              </a:rPr>
              <a:t>"The worker is down" and "the worker found nothing" must never lead to the same outcome. That rule is enforced in the pipeline, in the queue, and here in the interface.</a:t>
            </a:r>
          </a:p>
        </p:txBody>
      </p:sp>
      <p:sp>
        <p:nvSpPr>
          <p:cNvPr id="12" name="TextBox 11"/>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13" name="TextBox 12"/>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SCREENS - AUDIO PIPELINE</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Audio - capture and analysis</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9224" y="1545336"/>
            <a:ext cx="7562088" cy="3566336"/>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6m.png"/>
          <p:cNvPicPr>
            <a:picLocks noChangeAspect="1"/>
          </p:cNvPicPr>
          <p:nvPr/>
        </p:nvPicPr>
        <p:blipFill>
          <a:blip r:embed="rId2"/>
          <a:stretch>
            <a:fillRect/>
          </a:stretch>
        </p:blipFill>
        <p:spPr>
          <a:xfrm>
            <a:off x="658368" y="1554480"/>
            <a:ext cx="7543800" cy="3548048"/>
          </a:xfrm>
          <a:prstGeom prst="rect">
            <a:avLst/>
          </a:prstGeom>
        </p:spPr>
      </p:pic>
      <p:sp>
        <p:nvSpPr>
          <p:cNvPr id="9" name="Rectangle 8"/>
          <p:cNvSpPr/>
          <p:nvPr/>
        </p:nvSpPr>
        <p:spPr>
          <a:xfrm>
            <a:off x="8458200" y="1554480"/>
            <a:ext cx="3172968" cy="3886200"/>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32520" y="1810512"/>
            <a:ext cx="2624328" cy="274320"/>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WHAT HAPPENS HERE</a:t>
            </a:r>
          </a:p>
        </p:txBody>
      </p:sp>
      <p:sp>
        <p:nvSpPr>
          <p:cNvPr id="11" name="TextBox 10"/>
          <p:cNvSpPr txBox="1"/>
          <p:nvPr/>
        </p:nvSpPr>
        <p:spPr>
          <a:xfrm>
            <a:off x="8732520" y="2176272"/>
            <a:ext cx="2624328" cy="3008376"/>
          </a:xfrm>
          <a:prstGeom prst="rect">
            <a:avLst/>
          </a:prstGeom>
          <a:noFill/>
        </p:spPr>
        <p:txBody>
          <a:bodyPr wrap="square" lIns="0" rIns="0" tIns="0" bIns="0" anchor="t">
            <a:spAutoFit/>
          </a:bodyPr>
          <a:lstStyle/>
          <a:p>
            <a:pPr algn="l">
              <a:lnSpc>
                <a:spcPct val="122000"/>
              </a:lnSpc>
            </a:pPr>
            <a:r>
              <a:rPr sz="1250" b="1">
                <a:solidFill>
                  <a:srgbClr val="141B2B"/>
                </a:solidFill>
                <a:latin typeface="Segoe UI"/>
              </a:rPr>
              <a:t>The agent records live, or uploads a multi-speaker file.</a:t>
            </a:r>
          </a:p>
          <a:p>
            <a:pPr algn="l">
              <a:lnSpc>
                <a:spcPct val="122000"/>
              </a:lnSpc>
              <a:spcBef>
                <a:spcPts val="800"/>
              </a:spcBef>
            </a:pPr>
            <a:r>
              <a:rPr sz="1150" b="0">
                <a:solidFill>
                  <a:srgbClr val="5B6472"/>
                </a:solidFill>
                <a:latin typeface="Segoe UI"/>
              </a:rPr>
              <a:t>Everyone in the room joins the session roster by scanning the QR code and giving consent on their own phone.</a:t>
            </a:r>
          </a:p>
          <a:p>
            <a:pPr algn="l">
              <a:lnSpc>
                <a:spcPct val="122000"/>
              </a:lnSpc>
              <a:spcBef>
                <a:spcPts val="800"/>
              </a:spcBef>
            </a:pPr>
            <a:r>
              <a:rPr sz="1150" b="0">
                <a:solidFill>
                  <a:srgbClr val="5B6472"/>
                </a:solidFill>
                <a:latin typeface="Segoe UI"/>
              </a:rPr>
              <a:t>Nothing is analysed automatically. Until the pipeline is run, the recording is marked Pending and is playable only as the unredacted original, which is access-logged.</a:t>
            </a:r>
          </a:p>
        </p:txBody>
      </p:sp>
      <p:sp>
        <p:nvSpPr>
          <p:cNvPr id="12" name="TextBox 11"/>
          <p:cNvSpPr txBox="1"/>
          <p:nvPr/>
        </p:nvSpPr>
        <p:spPr>
          <a:xfrm>
            <a:off x="658368" y="5632704"/>
            <a:ext cx="10881360" cy="365760"/>
          </a:xfrm>
          <a:prstGeom prst="rect">
            <a:avLst/>
          </a:prstGeom>
          <a:noFill/>
        </p:spPr>
        <p:txBody>
          <a:bodyPr wrap="square" lIns="0" rIns="0" tIns="0" bIns="0" anchor="t">
            <a:spAutoFit/>
          </a:bodyPr>
          <a:lstStyle/>
          <a:p>
            <a:pPr algn="ctr">
              <a:lnSpc>
                <a:spcPct val="115000"/>
              </a:lnSpc>
            </a:pPr>
            <a:r>
              <a:rPr sz="1050" b="0">
                <a:solidFill>
                  <a:srgbClr val="5B6472"/>
                </a:solidFill>
                <a:latin typeface="Segoe UI"/>
              </a:rPr>
              <a:t>Audio session AUD-9466 - one recording pending analysis, one consented participant on the roster</a:t>
            </a:r>
          </a:p>
        </p:txBody>
      </p:sp>
      <p:sp>
        <p:nvSpPr>
          <p:cNvPr id="13" name="TextBox 12"/>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14" name="TextBox 13"/>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SCREENS - AUDIO PIPELINE</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Audio - every turn is decided, and the reason is recorded</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04314" y="1472184"/>
            <a:ext cx="5057347" cy="3721608"/>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8.png"/>
          <p:cNvPicPr>
            <a:picLocks noChangeAspect="1"/>
          </p:cNvPicPr>
          <p:nvPr/>
        </p:nvPicPr>
        <p:blipFill>
          <a:blip r:embed="rId2"/>
          <a:stretch>
            <a:fillRect/>
          </a:stretch>
        </p:blipFill>
        <p:spPr>
          <a:xfrm>
            <a:off x="813458" y="1481328"/>
            <a:ext cx="5039059" cy="3703320"/>
          </a:xfrm>
          <a:prstGeom prst="rect">
            <a:avLst/>
          </a:prstGeom>
        </p:spPr>
      </p:pic>
      <p:sp>
        <p:nvSpPr>
          <p:cNvPr id="9" name="TextBox 8"/>
          <p:cNvSpPr txBox="1"/>
          <p:nvPr/>
        </p:nvSpPr>
        <p:spPr>
          <a:xfrm>
            <a:off x="658368" y="5294376"/>
            <a:ext cx="5349240" cy="603504"/>
          </a:xfrm>
          <a:prstGeom prst="rect">
            <a:avLst/>
          </a:prstGeom>
          <a:noFill/>
        </p:spPr>
        <p:txBody>
          <a:bodyPr wrap="square" lIns="0" rIns="0" tIns="0" bIns="0" anchor="t">
            <a:spAutoFit/>
          </a:bodyPr>
          <a:lstStyle/>
          <a:p>
            <a:pPr algn="ctr">
              <a:lnSpc>
                <a:spcPct val="110000"/>
              </a:lnSpc>
            </a:pPr>
            <a:r>
              <a:rPr sz="1050" b="0">
                <a:solidFill>
                  <a:srgbClr val="5B6472"/>
                </a:solidFill>
                <a:latin typeface="Segoe UI"/>
              </a:rPr>
              <a:t>Speaker turns - SPEAKER_00 matched the consented person and was kept; SPEAKER_01 did not match anyone and was muted</a:t>
            </a:r>
          </a:p>
        </p:txBody>
      </p:sp>
      <p:sp>
        <p:nvSpPr>
          <p:cNvPr id="10" name="Rectangle 9"/>
          <p:cNvSpPr/>
          <p:nvPr/>
        </p:nvSpPr>
        <p:spPr>
          <a:xfrm>
            <a:off x="6543467" y="1472184"/>
            <a:ext cx="4881026" cy="3721608"/>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10.png"/>
          <p:cNvPicPr>
            <a:picLocks noChangeAspect="1"/>
          </p:cNvPicPr>
          <p:nvPr/>
        </p:nvPicPr>
        <p:blipFill>
          <a:blip r:embed="rId3"/>
          <a:stretch>
            <a:fillRect/>
          </a:stretch>
        </p:blipFill>
        <p:spPr>
          <a:xfrm>
            <a:off x="6552611" y="1481328"/>
            <a:ext cx="4862738" cy="3703320"/>
          </a:xfrm>
          <a:prstGeom prst="rect">
            <a:avLst/>
          </a:prstGeom>
        </p:spPr>
      </p:pic>
      <p:sp>
        <p:nvSpPr>
          <p:cNvPr id="12" name="TextBox 11"/>
          <p:cNvSpPr txBox="1"/>
          <p:nvPr/>
        </p:nvSpPr>
        <p:spPr>
          <a:xfrm>
            <a:off x="6355080" y="5294376"/>
            <a:ext cx="5257800" cy="603504"/>
          </a:xfrm>
          <a:prstGeom prst="rect">
            <a:avLst/>
          </a:prstGeom>
          <a:noFill/>
        </p:spPr>
        <p:txBody>
          <a:bodyPr wrap="square" lIns="0" rIns="0" tIns="0" bIns="0" anchor="t">
            <a:spAutoFit/>
          </a:bodyPr>
          <a:lstStyle/>
          <a:p>
            <a:pPr algn="ctr">
              <a:lnSpc>
                <a:spcPct val="110000"/>
              </a:lnSpc>
            </a:pPr>
            <a:r>
              <a:rPr sz="1050" b="0">
                <a:solidFill>
                  <a:srgbClr val="5B6472"/>
                </a:solidFill>
                <a:latin typeface="Segoe UI"/>
              </a:rPr>
              <a:t>Spoken PII - names, locations, dates, a phone number and a card number, each muted with the reason stored</a:t>
            </a:r>
          </a:p>
        </p:txBody>
      </p:sp>
      <p:sp>
        <p:nvSpPr>
          <p:cNvPr id="13" name="TextBox 12"/>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14" name="TextBox 13"/>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SCREENS - AUDIO PIPELINE</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Audio - original and redacted, side by side</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04314" y="1472184"/>
            <a:ext cx="5057347" cy="3721608"/>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7.png"/>
          <p:cNvPicPr>
            <a:picLocks noChangeAspect="1"/>
          </p:cNvPicPr>
          <p:nvPr/>
        </p:nvPicPr>
        <p:blipFill>
          <a:blip r:embed="rId2"/>
          <a:stretch>
            <a:fillRect/>
          </a:stretch>
        </p:blipFill>
        <p:spPr>
          <a:xfrm>
            <a:off x="813458" y="1481328"/>
            <a:ext cx="5039059" cy="3703320"/>
          </a:xfrm>
          <a:prstGeom prst="rect">
            <a:avLst/>
          </a:prstGeom>
        </p:spPr>
      </p:pic>
      <p:sp>
        <p:nvSpPr>
          <p:cNvPr id="9" name="TextBox 8"/>
          <p:cNvSpPr txBox="1"/>
          <p:nvPr/>
        </p:nvSpPr>
        <p:spPr>
          <a:xfrm>
            <a:off x="658368" y="5294376"/>
            <a:ext cx="5349240" cy="603504"/>
          </a:xfrm>
          <a:prstGeom prst="rect">
            <a:avLst/>
          </a:prstGeom>
          <a:noFill/>
        </p:spPr>
        <p:txBody>
          <a:bodyPr wrap="square" lIns="0" rIns="0" tIns="0" bIns="0" anchor="t">
            <a:spAutoFit/>
          </a:bodyPr>
          <a:lstStyle/>
          <a:p>
            <a:pPr algn="ctr">
              <a:lnSpc>
                <a:spcPct val="110000"/>
              </a:lnSpc>
            </a:pPr>
            <a:r>
              <a:rPr sz="1050" b="0">
                <a:solidFill>
                  <a:srgbClr val="5B6472"/>
                </a:solidFill>
                <a:latin typeface="Segoe UI"/>
              </a:rPr>
              <a:t>Before - the original recording, played only with an access log entry</a:t>
            </a:r>
          </a:p>
        </p:txBody>
      </p:sp>
      <p:sp>
        <p:nvSpPr>
          <p:cNvPr id="10" name="Rectangle 9"/>
          <p:cNvSpPr/>
          <p:nvPr/>
        </p:nvSpPr>
        <p:spPr>
          <a:xfrm>
            <a:off x="6543467" y="1472184"/>
            <a:ext cx="4881026" cy="3721608"/>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9.png"/>
          <p:cNvPicPr>
            <a:picLocks noChangeAspect="1"/>
          </p:cNvPicPr>
          <p:nvPr/>
        </p:nvPicPr>
        <p:blipFill>
          <a:blip r:embed="rId3"/>
          <a:stretch>
            <a:fillRect/>
          </a:stretch>
        </p:blipFill>
        <p:spPr>
          <a:xfrm>
            <a:off x="6552611" y="1481328"/>
            <a:ext cx="4862738" cy="3703320"/>
          </a:xfrm>
          <a:prstGeom prst="rect">
            <a:avLst/>
          </a:prstGeom>
        </p:spPr>
      </p:pic>
      <p:sp>
        <p:nvSpPr>
          <p:cNvPr id="12" name="TextBox 11"/>
          <p:cNvSpPr txBox="1"/>
          <p:nvPr/>
        </p:nvSpPr>
        <p:spPr>
          <a:xfrm>
            <a:off x="6355080" y="5294376"/>
            <a:ext cx="5257800" cy="603504"/>
          </a:xfrm>
          <a:prstGeom prst="rect">
            <a:avLst/>
          </a:prstGeom>
          <a:noFill/>
        </p:spPr>
        <p:txBody>
          <a:bodyPr wrap="square" lIns="0" rIns="0" tIns="0" bIns="0" anchor="t">
            <a:spAutoFit/>
          </a:bodyPr>
          <a:lstStyle/>
          <a:p>
            <a:pPr algn="ctr">
              <a:lnSpc>
                <a:spcPct val="110000"/>
              </a:lnSpc>
            </a:pPr>
            <a:r>
              <a:rPr sz="1050" b="0">
                <a:solidFill>
                  <a:srgbClr val="5B6472"/>
                </a:solidFill>
                <a:latin typeface="Segoe UI"/>
              </a:rPr>
              <a:t>After - the redacted copy: green is consented speech, red is an unknown voice, amber is spoken PII</a:t>
            </a:r>
          </a:p>
        </p:txBody>
      </p:sp>
      <p:sp>
        <p:nvSpPr>
          <p:cNvPr id="13" name="TextBox 12"/>
          <p:cNvSpPr txBox="1"/>
          <p:nvPr/>
        </p:nvSpPr>
        <p:spPr>
          <a:xfrm>
            <a:off x="658368" y="5815584"/>
            <a:ext cx="10881360" cy="457200"/>
          </a:xfrm>
          <a:prstGeom prst="rect">
            <a:avLst/>
          </a:prstGeom>
          <a:noFill/>
        </p:spPr>
        <p:txBody>
          <a:bodyPr wrap="square" lIns="0" rIns="0" tIns="0" bIns="0" anchor="t">
            <a:spAutoFit/>
          </a:bodyPr>
          <a:lstStyle/>
          <a:p>
            <a:pPr algn="ctr">
              <a:lnSpc>
                <a:spcPct val="115000"/>
              </a:lnSpc>
            </a:pPr>
            <a:r>
              <a:rPr sz="1200" b="1">
                <a:solidFill>
                  <a:srgbClr val="14398C"/>
                </a:solidFill>
                <a:latin typeface="Segoe UI"/>
              </a:rPr>
              <a:t>4 turns kept  ·  1 unconsented speaker muted  ·  10 spoken-PII spans muted  ·  redacted copy saved to the database as a separate object</a:t>
            </a:r>
          </a:p>
        </p:txBody>
      </p:sp>
      <p:sp>
        <p:nvSpPr>
          <p:cNvPr id="14" name="TextBox 13"/>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15" name="TextBox 14"/>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SCREENS - TEXT PIPELINE</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Text - ingest, tag and detect</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9224" y="1545336"/>
            <a:ext cx="6739128" cy="3214177"/>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11m.png"/>
          <p:cNvPicPr>
            <a:picLocks noChangeAspect="1"/>
          </p:cNvPicPr>
          <p:nvPr/>
        </p:nvPicPr>
        <p:blipFill>
          <a:blip r:embed="rId2"/>
          <a:stretch>
            <a:fillRect/>
          </a:stretch>
        </p:blipFill>
        <p:spPr>
          <a:xfrm>
            <a:off x="658368" y="1554480"/>
            <a:ext cx="6720840" cy="3195889"/>
          </a:xfrm>
          <a:prstGeom prst="rect">
            <a:avLst/>
          </a:prstGeom>
        </p:spPr>
      </p:pic>
      <p:sp>
        <p:nvSpPr>
          <p:cNvPr id="9" name="TextBox 8"/>
          <p:cNvSpPr txBox="1"/>
          <p:nvPr/>
        </p:nvSpPr>
        <p:spPr>
          <a:xfrm>
            <a:off x="658368" y="4860097"/>
            <a:ext cx="6720840" cy="603504"/>
          </a:xfrm>
          <a:prstGeom prst="rect">
            <a:avLst/>
          </a:prstGeom>
          <a:noFill/>
        </p:spPr>
        <p:txBody>
          <a:bodyPr wrap="square" lIns="0" rIns="0" tIns="0" bIns="0" anchor="t">
            <a:spAutoFit/>
          </a:bodyPr>
          <a:lstStyle/>
          <a:p>
            <a:pPr algn="ctr">
              <a:lnSpc>
                <a:spcPct val="110000"/>
              </a:lnSpc>
            </a:pPr>
            <a:r>
              <a:rPr sz="1050" b="0">
                <a:solidFill>
                  <a:srgbClr val="5B6472"/>
                </a:solidFill>
                <a:latin typeface="Segoe UI"/>
              </a:rPr>
              <a:t>A text session: paste or upload a transcript, then tag each quote to the person who said it</a:t>
            </a:r>
          </a:p>
        </p:txBody>
      </p:sp>
      <p:sp>
        <p:nvSpPr>
          <p:cNvPr id="10" name="Rectangle 9"/>
          <p:cNvSpPr/>
          <p:nvPr/>
        </p:nvSpPr>
        <p:spPr>
          <a:xfrm>
            <a:off x="7922397" y="1545336"/>
            <a:ext cx="3485621" cy="3310128"/>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13.png"/>
          <p:cNvPicPr>
            <a:picLocks noChangeAspect="1"/>
          </p:cNvPicPr>
          <p:nvPr/>
        </p:nvPicPr>
        <p:blipFill>
          <a:blip r:embed="rId3"/>
          <a:stretch>
            <a:fillRect/>
          </a:stretch>
        </p:blipFill>
        <p:spPr>
          <a:xfrm>
            <a:off x="7931541" y="1554480"/>
            <a:ext cx="3467333" cy="3291840"/>
          </a:xfrm>
          <a:prstGeom prst="rect">
            <a:avLst/>
          </a:prstGeom>
        </p:spPr>
      </p:pic>
      <p:sp>
        <p:nvSpPr>
          <p:cNvPr id="12" name="TextBox 11"/>
          <p:cNvSpPr txBox="1"/>
          <p:nvPr/>
        </p:nvSpPr>
        <p:spPr>
          <a:xfrm>
            <a:off x="7699248" y="4956048"/>
            <a:ext cx="3931920" cy="603504"/>
          </a:xfrm>
          <a:prstGeom prst="rect">
            <a:avLst/>
          </a:prstGeom>
          <a:noFill/>
        </p:spPr>
        <p:txBody>
          <a:bodyPr wrap="square" lIns="0" rIns="0" tIns="0" bIns="0" anchor="t">
            <a:spAutoFit/>
          </a:bodyPr>
          <a:lstStyle/>
          <a:p>
            <a:pPr algn="ctr">
              <a:lnSpc>
                <a:spcPct val="110000"/>
              </a:lnSpc>
            </a:pPr>
            <a:r>
              <a:rPr sz="1050" b="0">
                <a:solidFill>
                  <a:srgbClr val="5B6472"/>
                </a:solidFill>
                <a:latin typeface="Segoe UI"/>
              </a:rPr>
              <a:t>Auto-detect finds the PII; a human assigns quotes to a consented participant</a:t>
            </a:r>
          </a:p>
        </p:txBody>
      </p:sp>
      <p:sp>
        <p:nvSpPr>
          <p:cNvPr id="13" name="Rectangle 12"/>
          <p:cNvSpPr/>
          <p:nvPr/>
        </p:nvSpPr>
        <p:spPr>
          <a:xfrm>
            <a:off x="658368" y="5413248"/>
            <a:ext cx="10881360" cy="731520"/>
          </a:xfrm>
          <a:prstGeom prst="rect">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5413248"/>
            <a:ext cx="10332720" cy="731520"/>
          </a:xfrm>
          <a:prstGeom prst="rect">
            <a:avLst/>
          </a:prstGeom>
          <a:noFill/>
        </p:spPr>
        <p:txBody>
          <a:bodyPr wrap="square" lIns="0" rIns="0" tIns="0" bIns="0" anchor="ctr">
            <a:spAutoFit/>
          </a:bodyPr>
          <a:lstStyle/>
          <a:p>
            <a:pPr algn="l">
              <a:lnSpc>
                <a:spcPct val="115000"/>
              </a:lnSpc>
            </a:pPr>
            <a:r>
              <a:rPr sz="1250" b="1">
                <a:solidFill>
                  <a:srgbClr val="14398C"/>
                </a:solidFill>
                <a:latin typeface="Segoe UI"/>
              </a:rPr>
              <a:t>The default is redaction, not disclosure: any text not tagged to a person who consented is redacted in full, so forgetting to tag someone hides them rather than exposing them.</a:t>
            </a:r>
          </a:p>
        </p:txBody>
      </p:sp>
      <p:sp>
        <p:nvSpPr>
          <p:cNvPr id="15" name="TextBox 14"/>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16" name="TextBox 15"/>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SCREENS - TEXT PIPELINE</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Text - before and after</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73549" y="1545336"/>
            <a:ext cx="4207982" cy="3995927"/>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12.png"/>
          <p:cNvPicPr>
            <a:picLocks noChangeAspect="1"/>
          </p:cNvPicPr>
          <p:nvPr/>
        </p:nvPicPr>
        <p:blipFill>
          <a:blip r:embed="rId2"/>
          <a:stretch>
            <a:fillRect/>
          </a:stretch>
        </p:blipFill>
        <p:spPr>
          <a:xfrm>
            <a:off x="1082693" y="1554480"/>
            <a:ext cx="4189694" cy="3977639"/>
          </a:xfrm>
          <a:prstGeom prst="rect">
            <a:avLst/>
          </a:prstGeom>
        </p:spPr>
      </p:pic>
      <p:sp>
        <p:nvSpPr>
          <p:cNvPr id="9" name="Rectangle 8"/>
          <p:cNvSpPr/>
          <p:nvPr/>
        </p:nvSpPr>
        <p:spPr>
          <a:xfrm>
            <a:off x="5989320" y="1554480"/>
            <a:ext cx="5641848" cy="3977639"/>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1810512"/>
            <a:ext cx="5093208" cy="274320"/>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WHAT THE MODEL FOUND</a:t>
            </a:r>
          </a:p>
        </p:txBody>
      </p:sp>
      <p:sp>
        <p:nvSpPr>
          <p:cNvPr id="11" name="TextBox 10"/>
          <p:cNvSpPr txBox="1"/>
          <p:nvPr/>
        </p:nvSpPr>
        <p:spPr>
          <a:xfrm>
            <a:off x="6263640" y="2176272"/>
            <a:ext cx="5093208" cy="3099815"/>
          </a:xfrm>
          <a:prstGeom prst="rect">
            <a:avLst/>
          </a:prstGeom>
          <a:noFill/>
        </p:spPr>
        <p:txBody>
          <a:bodyPr wrap="square" lIns="0" rIns="0" tIns="0" bIns="0" anchor="t">
            <a:spAutoFit/>
          </a:bodyPr>
          <a:lstStyle/>
          <a:p>
            <a:pPr algn="l">
              <a:lnSpc>
                <a:spcPct val="122000"/>
              </a:lnSpc>
            </a:pPr>
            <a:r>
              <a:rPr sz="1300" b="1">
                <a:solidFill>
                  <a:srgbClr val="141B2B"/>
                </a:solidFill>
                <a:latin typeface="Segoe UI"/>
              </a:rPr>
              <a:t>Three entities were detected and masked in a 104-character transcript.</a:t>
            </a:r>
          </a:p>
          <a:p>
            <a:pPr algn="l">
              <a:lnSpc>
                <a:spcPct val="122000"/>
              </a:lnSpc>
              <a:spcBef>
                <a:spcPts val="800"/>
              </a:spcBef>
            </a:pPr>
            <a:r>
              <a:rPr sz="1200" b="0">
                <a:solidFill>
                  <a:srgbClr val="5B6472"/>
                </a:solidFill>
                <a:latin typeface="Segoe UI"/>
              </a:rPr>
              <a:t>A person's name became &lt;REDACTED_PERSON&gt;, an email address became &lt;REDACTED_EMAIL_ADDRESS&gt;, and a phone number became &lt;REDACTED_PHONE_NUMBER&gt;.</a:t>
            </a:r>
          </a:p>
          <a:p>
            <a:pPr algn="l">
              <a:lnSpc>
                <a:spcPct val="122000"/>
              </a:lnSpc>
              <a:spcBef>
                <a:spcPts val="800"/>
              </a:spcBef>
            </a:pPr>
            <a:r>
              <a:rPr sz="1200" b="0">
                <a:solidFill>
                  <a:srgbClr val="5B6472"/>
                </a:solidFill>
                <a:latin typeface="Segoe UI"/>
              </a:rPr>
              <a:t>The original is kept as the protected source and the masked version as the lawful package. Only the masked copy travels; the original stays sealed and every read of it is logged.</a:t>
            </a:r>
          </a:p>
          <a:p>
            <a:pPr algn="l">
              <a:lnSpc>
                <a:spcPct val="122000"/>
              </a:lnSpc>
              <a:spcBef>
                <a:spcPts val="800"/>
              </a:spcBef>
            </a:pPr>
            <a:r>
              <a:rPr sz="1200" b="0">
                <a:solidFill>
                  <a:srgbClr val="5B6472"/>
                </a:solidFill>
                <a:latin typeface="Segoe UI"/>
              </a:rPr>
              <a:t>Note what was not redacted: "our internal secret is topsecret" is a company secret, not personal data. The model is deliberately scoped to identity, because over-redaction destroys the usefulness of the record without protecting anybody.</a:t>
            </a:r>
          </a:p>
        </p:txBody>
      </p:sp>
      <p:sp>
        <p:nvSpPr>
          <p:cNvPr id="12" name="TextBox 11"/>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13" name="TextBox 12"/>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SCREENS - ADMIN PORTAL</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Traceability - every photo and every read is accounted for</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9224" y="1472184"/>
            <a:ext cx="5367528" cy="3379252"/>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dmin-17-data-lineage.png"/>
          <p:cNvPicPr>
            <a:picLocks noChangeAspect="1"/>
          </p:cNvPicPr>
          <p:nvPr/>
        </p:nvPicPr>
        <p:blipFill>
          <a:blip r:embed="rId2"/>
          <a:stretch>
            <a:fillRect/>
          </a:stretch>
        </p:blipFill>
        <p:spPr>
          <a:xfrm>
            <a:off x="658368" y="1481328"/>
            <a:ext cx="5349240" cy="3360964"/>
          </a:xfrm>
          <a:prstGeom prst="rect">
            <a:avLst/>
          </a:prstGeom>
        </p:spPr>
      </p:pic>
      <p:sp>
        <p:nvSpPr>
          <p:cNvPr id="9" name="TextBox 8"/>
          <p:cNvSpPr txBox="1"/>
          <p:nvPr/>
        </p:nvSpPr>
        <p:spPr>
          <a:xfrm>
            <a:off x="658368" y="4952020"/>
            <a:ext cx="5349240" cy="603504"/>
          </a:xfrm>
          <a:prstGeom prst="rect">
            <a:avLst/>
          </a:prstGeom>
          <a:noFill/>
        </p:spPr>
        <p:txBody>
          <a:bodyPr wrap="square" lIns="0" rIns="0" tIns="0" bIns="0" anchor="t">
            <a:spAutoFit/>
          </a:bodyPr>
          <a:lstStyle/>
          <a:p>
            <a:pPr algn="ctr">
              <a:lnSpc>
                <a:spcPct val="110000"/>
              </a:lnSpc>
            </a:pPr>
            <a:r>
              <a:rPr sz="1050" b="0">
                <a:solidFill>
                  <a:srgbClr val="5B6472"/>
                </a:solidFill>
                <a:latin typeface="Segoe UI"/>
              </a:rPr>
              <a:t>Data Lineage - each photo traced back to its session, person, consent record and project</a:t>
            </a:r>
          </a:p>
        </p:txBody>
      </p:sp>
      <p:sp>
        <p:nvSpPr>
          <p:cNvPr id="10" name="Rectangle 9"/>
          <p:cNvSpPr/>
          <p:nvPr/>
        </p:nvSpPr>
        <p:spPr>
          <a:xfrm>
            <a:off x="6345936" y="1472184"/>
            <a:ext cx="5276088" cy="3321799"/>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admin-23-audit-logs.png"/>
          <p:cNvPicPr>
            <a:picLocks noChangeAspect="1"/>
          </p:cNvPicPr>
          <p:nvPr/>
        </p:nvPicPr>
        <p:blipFill>
          <a:blip r:embed="rId3"/>
          <a:stretch>
            <a:fillRect/>
          </a:stretch>
        </p:blipFill>
        <p:spPr>
          <a:xfrm>
            <a:off x="6355080" y="1481328"/>
            <a:ext cx="5257800" cy="3303511"/>
          </a:xfrm>
          <a:prstGeom prst="rect">
            <a:avLst/>
          </a:prstGeom>
        </p:spPr>
      </p:pic>
      <p:sp>
        <p:nvSpPr>
          <p:cNvPr id="12" name="TextBox 11"/>
          <p:cNvSpPr txBox="1"/>
          <p:nvPr/>
        </p:nvSpPr>
        <p:spPr>
          <a:xfrm>
            <a:off x="6355080" y="4894567"/>
            <a:ext cx="5257800" cy="603504"/>
          </a:xfrm>
          <a:prstGeom prst="rect">
            <a:avLst/>
          </a:prstGeom>
          <a:noFill/>
        </p:spPr>
        <p:txBody>
          <a:bodyPr wrap="square" lIns="0" rIns="0" tIns="0" bIns="0" anchor="t">
            <a:spAutoFit/>
          </a:bodyPr>
          <a:lstStyle/>
          <a:p>
            <a:pPr algn="ctr">
              <a:lnSpc>
                <a:spcPct val="110000"/>
              </a:lnSpc>
            </a:pPr>
            <a:r>
              <a:rPr sz="1050" b="0">
                <a:solidFill>
                  <a:srgbClr val="5B6472"/>
                </a:solidFill>
                <a:latin typeface="Segoe UI"/>
              </a:rPr>
              <a:t>Audit Logs - an append-only, hash-chained record of every privacy-relevant action</a:t>
            </a:r>
          </a:p>
        </p:txBody>
      </p:sp>
      <p:sp>
        <p:nvSpPr>
          <p:cNvPr id="13" name="TextBox 12"/>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14" name="TextBox 13"/>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SCREENS - ADMIN PORTAL</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Evidence and deadlines</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9224" y="1472184"/>
            <a:ext cx="5367528" cy="3379252"/>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dmin-20-evidence-vault.png"/>
          <p:cNvPicPr>
            <a:picLocks noChangeAspect="1"/>
          </p:cNvPicPr>
          <p:nvPr/>
        </p:nvPicPr>
        <p:blipFill>
          <a:blip r:embed="rId2"/>
          <a:stretch>
            <a:fillRect/>
          </a:stretch>
        </p:blipFill>
        <p:spPr>
          <a:xfrm>
            <a:off x="658368" y="1481328"/>
            <a:ext cx="5349240" cy="3360964"/>
          </a:xfrm>
          <a:prstGeom prst="rect">
            <a:avLst/>
          </a:prstGeom>
        </p:spPr>
      </p:pic>
      <p:sp>
        <p:nvSpPr>
          <p:cNvPr id="9" name="TextBox 8"/>
          <p:cNvSpPr txBox="1"/>
          <p:nvPr/>
        </p:nvSpPr>
        <p:spPr>
          <a:xfrm>
            <a:off x="658368" y="4952020"/>
            <a:ext cx="5349240" cy="603504"/>
          </a:xfrm>
          <a:prstGeom prst="rect">
            <a:avLst/>
          </a:prstGeom>
          <a:noFill/>
        </p:spPr>
        <p:txBody>
          <a:bodyPr wrap="square" lIns="0" rIns="0" tIns="0" bIns="0" anchor="t">
            <a:spAutoFit/>
          </a:bodyPr>
          <a:lstStyle/>
          <a:p>
            <a:pPr algn="ctr">
              <a:lnSpc>
                <a:spcPct val="110000"/>
              </a:lnSpc>
            </a:pPr>
            <a:r>
              <a:rPr sz="1050" b="0">
                <a:solidFill>
                  <a:srgbClr val="5B6472"/>
                </a:solidFill>
                <a:latin typeface="Segoe UI"/>
              </a:rPr>
              <a:t>Evidence Vault - the proof bundle for each request: discovery results, export packages, purge reports</a:t>
            </a:r>
          </a:p>
        </p:txBody>
      </p:sp>
      <p:sp>
        <p:nvSpPr>
          <p:cNvPr id="10" name="Rectangle 9"/>
          <p:cNvSpPr/>
          <p:nvPr/>
        </p:nvSpPr>
        <p:spPr>
          <a:xfrm>
            <a:off x="6345936" y="1472184"/>
            <a:ext cx="5276088" cy="3321799"/>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admin-21-sla-monitoring.png"/>
          <p:cNvPicPr>
            <a:picLocks noChangeAspect="1"/>
          </p:cNvPicPr>
          <p:nvPr/>
        </p:nvPicPr>
        <p:blipFill>
          <a:blip r:embed="rId3"/>
          <a:stretch>
            <a:fillRect/>
          </a:stretch>
        </p:blipFill>
        <p:spPr>
          <a:xfrm>
            <a:off x="6355080" y="1481328"/>
            <a:ext cx="5257800" cy="3303511"/>
          </a:xfrm>
          <a:prstGeom prst="rect">
            <a:avLst/>
          </a:prstGeom>
        </p:spPr>
      </p:pic>
      <p:sp>
        <p:nvSpPr>
          <p:cNvPr id="12" name="TextBox 11"/>
          <p:cNvSpPr txBox="1"/>
          <p:nvPr/>
        </p:nvSpPr>
        <p:spPr>
          <a:xfrm>
            <a:off x="6355080" y="4894567"/>
            <a:ext cx="5257800" cy="603504"/>
          </a:xfrm>
          <a:prstGeom prst="rect">
            <a:avLst/>
          </a:prstGeom>
          <a:noFill/>
        </p:spPr>
        <p:txBody>
          <a:bodyPr wrap="square" lIns="0" rIns="0" tIns="0" bIns="0" anchor="t">
            <a:spAutoFit/>
          </a:bodyPr>
          <a:lstStyle/>
          <a:p>
            <a:pPr algn="ctr">
              <a:lnSpc>
                <a:spcPct val="110000"/>
              </a:lnSpc>
            </a:pPr>
            <a:r>
              <a:rPr sz="1050" b="0">
                <a:solidFill>
                  <a:srgbClr val="5B6472"/>
                </a:solidFill>
                <a:latin typeface="Segoe UI"/>
              </a:rPr>
              <a:t>SLA Monitoring - the legal clock on every open request, with an earlier internal target</a:t>
            </a:r>
          </a:p>
        </p:txBody>
      </p:sp>
      <p:sp>
        <p:nvSpPr>
          <p:cNvPr id="13" name="TextBox 12"/>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14" name="TextBox 13"/>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SCREENS - ADMIN PORTAL</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The report a regulator would ask for</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871216" y="1435608"/>
            <a:ext cx="6419088" cy="4039954"/>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dmin-22-compliance-reports.png"/>
          <p:cNvPicPr>
            <a:picLocks noChangeAspect="1"/>
          </p:cNvPicPr>
          <p:nvPr/>
        </p:nvPicPr>
        <p:blipFill>
          <a:blip r:embed="rId2"/>
          <a:stretch>
            <a:fillRect/>
          </a:stretch>
        </p:blipFill>
        <p:spPr>
          <a:xfrm>
            <a:off x="2880360" y="1444752"/>
            <a:ext cx="6400800" cy="4021666"/>
          </a:xfrm>
          <a:prstGeom prst="rect">
            <a:avLst/>
          </a:prstGeom>
        </p:spPr>
      </p:pic>
      <p:sp>
        <p:nvSpPr>
          <p:cNvPr id="9" name="TextBox 8"/>
          <p:cNvSpPr txBox="1"/>
          <p:nvPr/>
        </p:nvSpPr>
        <p:spPr>
          <a:xfrm>
            <a:off x="2880360" y="5576146"/>
            <a:ext cx="6400800" cy="603504"/>
          </a:xfrm>
          <a:prstGeom prst="rect">
            <a:avLst/>
          </a:prstGeom>
          <a:noFill/>
        </p:spPr>
        <p:txBody>
          <a:bodyPr wrap="square" lIns="0" rIns="0" tIns="0" bIns="0" anchor="t">
            <a:spAutoFit/>
          </a:bodyPr>
          <a:lstStyle/>
          <a:p>
            <a:pPr algn="ctr">
              <a:lnSpc>
                <a:spcPct val="110000"/>
              </a:lnSpc>
            </a:pPr>
            <a:r>
              <a:rPr sz="1050" b="0">
                <a:solidFill>
                  <a:srgbClr val="5B6472"/>
                </a:solidFill>
                <a:latin typeface="Segoe UI"/>
              </a:rPr>
              <a:t>Compliance Reports - governance, consent, requests, access, data minimisation and breaches for a chosen period, plus a button that recomputes the audit hash chain and reports whether it still holds</a:t>
            </a:r>
          </a:p>
        </p:txBody>
      </p:sp>
      <p:sp>
        <p:nvSpPr>
          <p:cNvPr id="10" name="TextBox 9"/>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11" name="TextBox 10"/>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SCREENS - DATA PRINCIPAL</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The person's own portal - built for a phone</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1710" y="1453896"/>
            <a:ext cx="1831340" cy="3813048"/>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user-05-consent-hub.png"/>
          <p:cNvPicPr>
            <a:picLocks noChangeAspect="1"/>
          </p:cNvPicPr>
          <p:nvPr/>
        </p:nvPicPr>
        <p:blipFill>
          <a:blip r:embed="rId2"/>
          <a:stretch>
            <a:fillRect/>
          </a:stretch>
        </p:blipFill>
        <p:spPr>
          <a:xfrm>
            <a:off x="990854" y="1463040"/>
            <a:ext cx="1813052" cy="3794760"/>
          </a:xfrm>
          <a:prstGeom prst="rect">
            <a:avLst/>
          </a:prstGeom>
        </p:spPr>
      </p:pic>
      <p:sp>
        <p:nvSpPr>
          <p:cNvPr id="9" name="TextBox 8"/>
          <p:cNvSpPr txBox="1"/>
          <p:nvPr/>
        </p:nvSpPr>
        <p:spPr>
          <a:xfrm>
            <a:off x="731520" y="5367528"/>
            <a:ext cx="2331720" cy="603504"/>
          </a:xfrm>
          <a:prstGeom prst="rect">
            <a:avLst/>
          </a:prstGeom>
          <a:noFill/>
        </p:spPr>
        <p:txBody>
          <a:bodyPr wrap="square" lIns="0" rIns="0" tIns="0" bIns="0" anchor="t">
            <a:spAutoFit/>
          </a:bodyPr>
          <a:lstStyle/>
          <a:p>
            <a:pPr algn="ctr">
              <a:lnSpc>
                <a:spcPct val="110000"/>
              </a:lnSpc>
            </a:pPr>
            <a:r>
              <a:rPr sz="1000" b="0">
                <a:solidFill>
                  <a:srgbClr val="5B6472"/>
                </a:solidFill>
                <a:latin typeface="Segoe UI"/>
              </a:rPr>
              <a:t>Consent - face and voice matching,
and a switch to pause everything</a:t>
            </a:r>
          </a:p>
        </p:txBody>
      </p:sp>
      <p:sp>
        <p:nvSpPr>
          <p:cNvPr id="10" name="Rectangle 9"/>
          <p:cNvSpPr/>
          <p:nvPr/>
        </p:nvSpPr>
        <p:spPr>
          <a:xfrm>
            <a:off x="3816350" y="1453896"/>
            <a:ext cx="1831340" cy="3813048"/>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user-07-my-data.png"/>
          <p:cNvPicPr>
            <a:picLocks noChangeAspect="1"/>
          </p:cNvPicPr>
          <p:nvPr/>
        </p:nvPicPr>
        <p:blipFill>
          <a:blip r:embed="rId3"/>
          <a:stretch>
            <a:fillRect/>
          </a:stretch>
        </p:blipFill>
        <p:spPr>
          <a:xfrm>
            <a:off x="3825494" y="1463040"/>
            <a:ext cx="1813052" cy="3794760"/>
          </a:xfrm>
          <a:prstGeom prst="rect">
            <a:avLst/>
          </a:prstGeom>
        </p:spPr>
      </p:pic>
      <p:sp>
        <p:nvSpPr>
          <p:cNvPr id="12" name="TextBox 11"/>
          <p:cNvSpPr txBox="1"/>
          <p:nvPr/>
        </p:nvSpPr>
        <p:spPr>
          <a:xfrm>
            <a:off x="3566160" y="5367528"/>
            <a:ext cx="2331720" cy="603504"/>
          </a:xfrm>
          <a:prstGeom prst="rect">
            <a:avLst/>
          </a:prstGeom>
          <a:noFill/>
        </p:spPr>
        <p:txBody>
          <a:bodyPr wrap="square" lIns="0" rIns="0" tIns="0" bIns="0" anchor="t">
            <a:spAutoFit/>
          </a:bodyPr>
          <a:lstStyle/>
          <a:p>
            <a:pPr algn="ctr">
              <a:lnSpc>
                <a:spcPct val="110000"/>
              </a:lnSpc>
            </a:pPr>
            <a:r>
              <a:rPr sz="1000" b="0">
                <a:solidFill>
                  <a:srgbClr val="5B6472"/>
                </a:solidFill>
                <a:latin typeface="Segoe UI"/>
              </a:rPr>
              <a:t>My Data - exactly what is held,
and on what legal basis</a:t>
            </a:r>
          </a:p>
        </p:txBody>
      </p:sp>
      <p:sp>
        <p:nvSpPr>
          <p:cNvPr id="13" name="Rectangle 12"/>
          <p:cNvSpPr/>
          <p:nvPr/>
        </p:nvSpPr>
        <p:spPr>
          <a:xfrm>
            <a:off x="6650990" y="1453896"/>
            <a:ext cx="1831340" cy="3813048"/>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user-08-data-rights.png"/>
          <p:cNvPicPr>
            <a:picLocks noChangeAspect="1"/>
          </p:cNvPicPr>
          <p:nvPr/>
        </p:nvPicPr>
        <p:blipFill>
          <a:blip r:embed="rId4"/>
          <a:stretch>
            <a:fillRect/>
          </a:stretch>
        </p:blipFill>
        <p:spPr>
          <a:xfrm>
            <a:off x="6660134" y="1463040"/>
            <a:ext cx="1813052" cy="3794760"/>
          </a:xfrm>
          <a:prstGeom prst="rect">
            <a:avLst/>
          </a:prstGeom>
        </p:spPr>
      </p:pic>
      <p:sp>
        <p:nvSpPr>
          <p:cNvPr id="15" name="TextBox 14"/>
          <p:cNvSpPr txBox="1"/>
          <p:nvPr/>
        </p:nvSpPr>
        <p:spPr>
          <a:xfrm>
            <a:off x="6400800" y="5367528"/>
            <a:ext cx="2331720" cy="603504"/>
          </a:xfrm>
          <a:prstGeom prst="rect">
            <a:avLst/>
          </a:prstGeom>
          <a:noFill/>
        </p:spPr>
        <p:txBody>
          <a:bodyPr wrap="square" lIns="0" rIns="0" tIns="0" bIns="0" anchor="t">
            <a:spAutoFit/>
          </a:bodyPr>
          <a:lstStyle/>
          <a:p>
            <a:pPr algn="ctr">
              <a:lnSpc>
                <a:spcPct val="110000"/>
              </a:lnSpc>
            </a:pPr>
            <a:r>
              <a:rPr sz="1000" b="0">
                <a:solidFill>
                  <a:srgbClr val="5B6472"/>
                </a:solidFill>
                <a:latin typeface="Segoe UI"/>
              </a:rPr>
              <a:t>Data Rights - access, correction,
erasure, grievance, nomination</a:t>
            </a:r>
          </a:p>
        </p:txBody>
      </p:sp>
      <p:sp>
        <p:nvSpPr>
          <p:cNvPr id="16" name="Rectangle 15"/>
          <p:cNvSpPr/>
          <p:nvPr/>
        </p:nvSpPr>
        <p:spPr>
          <a:xfrm>
            <a:off x="9485630" y="1453896"/>
            <a:ext cx="1831340" cy="3813048"/>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user-10-request-new.png"/>
          <p:cNvPicPr>
            <a:picLocks noChangeAspect="1"/>
          </p:cNvPicPr>
          <p:nvPr/>
        </p:nvPicPr>
        <p:blipFill>
          <a:blip r:embed="rId5"/>
          <a:stretch>
            <a:fillRect/>
          </a:stretch>
        </p:blipFill>
        <p:spPr>
          <a:xfrm>
            <a:off x="9494774" y="1463040"/>
            <a:ext cx="1813052" cy="3794760"/>
          </a:xfrm>
          <a:prstGeom prst="rect">
            <a:avLst/>
          </a:prstGeom>
        </p:spPr>
      </p:pic>
      <p:sp>
        <p:nvSpPr>
          <p:cNvPr id="18" name="TextBox 17"/>
          <p:cNvSpPr txBox="1"/>
          <p:nvPr/>
        </p:nvSpPr>
        <p:spPr>
          <a:xfrm>
            <a:off x="9235440" y="5367528"/>
            <a:ext cx="2331720" cy="603504"/>
          </a:xfrm>
          <a:prstGeom prst="rect">
            <a:avLst/>
          </a:prstGeom>
          <a:noFill/>
        </p:spPr>
        <p:txBody>
          <a:bodyPr wrap="square" lIns="0" rIns="0" tIns="0" bIns="0" anchor="t">
            <a:spAutoFit/>
          </a:bodyPr>
          <a:lstStyle/>
          <a:p>
            <a:pPr algn="ctr">
              <a:lnSpc>
                <a:spcPct val="110000"/>
              </a:lnSpc>
            </a:pPr>
            <a:r>
              <a:rPr sz="1000" b="0">
                <a:solidFill>
                  <a:srgbClr val="5B6472"/>
                </a:solidFill>
                <a:latin typeface="Segoe UI"/>
              </a:rPr>
              <a:t>Raise a Request - the person asks
for their rights themselves</a:t>
            </a:r>
          </a:p>
        </p:txBody>
      </p:sp>
      <p:sp>
        <p:nvSpPr>
          <p:cNvPr id="19" name="TextBox 18"/>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20" name="TextBox 19"/>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51560" y="2788920"/>
            <a:ext cx="1463040" cy="45720"/>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3035808"/>
            <a:ext cx="10058400" cy="1280160"/>
          </a:xfrm>
          <a:prstGeom prst="rect">
            <a:avLst/>
          </a:prstGeom>
          <a:noFill/>
        </p:spPr>
        <p:txBody>
          <a:bodyPr wrap="square" lIns="0" rIns="0" tIns="0" bIns="0" anchor="t">
            <a:spAutoFit/>
          </a:bodyPr>
          <a:lstStyle/>
          <a:p>
            <a:pPr algn="l">
              <a:lnSpc>
                <a:spcPct val="115000"/>
              </a:lnSpc>
            </a:pPr>
            <a:r>
              <a:rPr sz="4000" b="1">
                <a:solidFill>
                  <a:srgbClr val="FFFFFF"/>
                </a:solidFill>
                <a:latin typeface="Segoe UI"/>
              </a:rPr>
              <a:t>Why we chose these models</a:t>
            </a:r>
          </a:p>
          <a:p>
            <a:pPr algn="l">
              <a:lnSpc>
                <a:spcPct val="115000"/>
              </a:lnSpc>
              <a:spcBef>
                <a:spcPts val="1200"/>
              </a:spcBef>
            </a:pPr>
            <a:r>
              <a:rPr sz="1500" b="0">
                <a:solidFill>
                  <a:srgbClr val="9FADC4"/>
                </a:solidFill>
                <a:latin typeface="Segoe UI"/>
              </a:rPr>
              <a:t>Every stack was picked to run accurately on a CPU, on our own machines, with nothing sent off-premise</a:t>
            </a:r>
          </a:p>
        </p:txBody>
      </p:sp>
      <p:sp>
        <p:nvSpPr>
          <p:cNvPr id="6" name="TextBox 5"/>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7" name="TextBox 6"/>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MODEL COMPARISON</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Model choice - detecting and recognising faces</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316736"/>
            <a:ext cx="10881360" cy="274320"/>
          </a:xfrm>
          <a:prstGeom prst="rect">
            <a:avLst/>
          </a:prstGeom>
          <a:noFill/>
        </p:spPr>
        <p:txBody>
          <a:bodyPr wrap="square" lIns="0" rIns="0" tIns="0" bIns="0" anchor="t">
            <a:spAutoFit/>
          </a:bodyPr>
          <a:lstStyle/>
          <a:p>
            <a:pPr algn="l">
              <a:lnSpc>
                <a:spcPct val="115000"/>
              </a:lnSpc>
            </a:pPr>
            <a:r>
              <a:rPr sz="1200" b="0">
                <a:solidFill>
                  <a:srgbClr val="5B6472"/>
                </a:solidFill>
                <a:latin typeface="Segoe UI"/>
              </a:rPr>
              <a:t>Used by the image pipeline and the video worker to find faces and tell people apart.</a:t>
            </a:r>
          </a:p>
        </p:txBody>
      </p:sp>
      <p:sp>
        <p:nvSpPr>
          <p:cNvPr id="8" name="Rectangle 7"/>
          <p:cNvSpPr/>
          <p:nvPr/>
        </p:nvSpPr>
        <p:spPr>
          <a:xfrm>
            <a:off x="658368" y="1719072"/>
            <a:ext cx="3017520" cy="512064"/>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719072"/>
            <a:ext cx="2779776" cy="512064"/>
          </a:xfrm>
          <a:prstGeom prst="rect">
            <a:avLst/>
          </a:prstGeom>
          <a:noFill/>
        </p:spPr>
        <p:txBody>
          <a:bodyPr wrap="square" lIns="0" rIns="0" tIns="0" bIns="0" anchor="ctr">
            <a:spAutoFit/>
          </a:bodyPr>
          <a:lstStyle/>
          <a:p>
            <a:pPr algn="l">
              <a:lnSpc>
                <a:spcPct val="115000"/>
              </a:lnSpc>
            </a:pPr>
            <a:r>
              <a:rPr sz="1100" b="1">
                <a:solidFill>
                  <a:srgbClr val="FFFFFF"/>
                </a:solidFill>
                <a:latin typeface="Segoe UI"/>
              </a:rPr>
              <a:t>Model stack</a:t>
            </a:r>
          </a:p>
        </p:txBody>
      </p:sp>
      <p:sp>
        <p:nvSpPr>
          <p:cNvPr id="10" name="Rectangle 9"/>
          <p:cNvSpPr/>
          <p:nvPr/>
        </p:nvSpPr>
        <p:spPr>
          <a:xfrm>
            <a:off x="3675888" y="1719072"/>
            <a:ext cx="1920240" cy="512064"/>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94760" y="1719072"/>
            <a:ext cx="1682496" cy="512064"/>
          </a:xfrm>
          <a:prstGeom prst="rect">
            <a:avLst/>
          </a:prstGeom>
          <a:noFill/>
        </p:spPr>
        <p:txBody>
          <a:bodyPr wrap="square" lIns="0" rIns="0" tIns="0" bIns="0" anchor="ctr">
            <a:spAutoFit/>
          </a:bodyPr>
          <a:lstStyle/>
          <a:p>
            <a:pPr algn="l">
              <a:lnSpc>
                <a:spcPct val="115000"/>
              </a:lnSpc>
            </a:pPr>
            <a:r>
              <a:rPr sz="1100" b="1">
                <a:solidFill>
                  <a:srgbClr val="FFFFFF"/>
                </a:solidFill>
                <a:latin typeface="Segoe UI"/>
              </a:rPr>
              <a:t>Detection accuracy</a:t>
            </a:r>
          </a:p>
        </p:txBody>
      </p:sp>
      <p:sp>
        <p:nvSpPr>
          <p:cNvPr id="12" name="Rectangle 11"/>
          <p:cNvSpPr/>
          <p:nvPr/>
        </p:nvSpPr>
        <p:spPr>
          <a:xfrm>
            <a:off x="5596128" y="1719072"/>
            <a:ext cx="1920240" cy="512064"/>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15000" y="1719072"/>
            <a:ext cx="1682496" cy="512064"/>
          </a:xfrm>
          <a:prstGeom prst="rect">
            <a:avLst/>
          </a:prstGeom>
          <a:noFill/>
        </p:spPr>
        <p:txBody>
          <a:bodyPr wrap="square" lIns="0" rIns="0" tIns="0" bIns="0" anchor="ctr">
            <a:spAutoFit/>
          </a:bodyPr>
          <a:lstStyle/>
          <a:p>
            <a:pPr algn="l">
              <a:lnSpc>
                <a:spcPct val="115000"/>
              </a:lnSpc>
            </a:pPr>
            <a:r>
              <a:rPr sz="1100" b="1">
                <a:solidFill>
                  <a:srgbClr val="FFFFFF"/>
                </a:solidFill>
                <a:latin typeface="Segoe UI"/>
              </a:rPr>
              <a:t>Recognition accuracy</a:t>
            </a:r>
          </a:p>
        </p:txBody>
      </p:sp>
      <p:sp>
        <p:nvSpPr>
          <p:cNvPr id="14" name="Rectangle 13"/>
          <p:cNvSpPr/>
          <p:nvPr/>
        </p:nvSpPr>
        <p:spPr>
          <a:xfrm>
            <a:off x="7516368" y="1719072"/>
            <a:ext cx="2011680" cy="512064"/>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719072"/>
            <a:ext cx="1773936" cy="512064"/>
          </a:xfrm>
          <a:prstGeom prst="rect">
            <a:avLst/>
          </a:prstGeom>
          <a:noFill/>
        </p:spPr>
        <p:txBody>
          <a:bodyPr wrap="square" lIns="0" rIns="0" tIns="0" bIns="0" anchor="ctr">
            <a:spAutoFit/>
          </a:bodyPr>
          <a:lstStyle/>
          <a:p>
            <a:pPr algn="l">
              <a:lnSpc>
                <a:spcPct val="115000"/>
              </a:lnSpc>
            </a:pPr>
            <a:r>
              <a:rPr sz="1100" b="1">
                <a:solidFill>
                  <a:srgbClr val="FFFFFF"/>
                </a:solidFill>
                <a:latin typeface="Segoe UI"/>
              </a:rPr>
              <a:t>CPU execution speed</a:t>
            </a:r>
          </a:p>
        </p:txBody>
      </p:sp>
      <p:sp>
        <p:nvSpPr>
          <p:cNvPr id="16" name="Rectangle 15"/>
          <p:cNvSpPr/>
          <p:nvPr/>
        </p:nvSpPr>
        <p:spPr>
          <a:xfrm>
            <a:off x="9528048" y="1719072"/>
            <a:ext cx="2011680" cy="512064"/>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46920" y="1719072"/>
            <a:ext cx="1773936" cy="512064"/>
          </a:xfrm>
          <a:prstGeom prst="rect">
            <a:avLst/>
          </a:prstGeom>
          <a:noFill/>
        </p:spPr>
        <p:txBody>
          <a:bodyPr wrap="square" lIns="0" rIns="0" tIns="0" bIns="0" anchor="ctr">
            <a:spAutoFit/>
          </a:bodyPr>
          <a:lstStyle/>
          <a:p>
            <a:pPr algn="l">
              <a:lnSpc>
                <a:spcPct val="115000"/>
              </a:lnSpc>
            </a:pPr>
            <a:r>
              <a:rPr sz="1100" b="1">
                <a:solidFill>
                  <a:srgbClr val="FFFFFF"/>
                </a:solidFill>
                <a:latin typeface="Segoe UI"/>
              </a:rPr>
              <a:t>Packaging &amp; portability</a:t>
            </a:r>
          </a:p>
        </p:txBody>
      </p:sp>
      <p:sp>
        <p:nvSpPr>
          <p:cNvPr id="18" name="Rectangle 17"/>
          <p:cNvSpPr/>
          <p:nvPr/>
        </p:nvSpPr>
        <p:spPr>
          <a:xfrm>
            <a:off x="658368" y="2231136"/>
            <a:ext cx="3017520" cy="713232"/>
          </a:xfrm>
          <a:prstGeom prst="rect">
            <a:avLst/>
          </a:prstGeom>
          <a:solidFill>
            <a:srgbClr val="E8EFFC"/>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2231136"/>
            <a:ext cx="2779776" cy="713232"/>
          </a:xfrm>
          <a:prstGeom prst="rect">
            <a:avLst/>
          </a:prstGeom>
          <a:noFill/>
        </p:spPr>
        <p:txBody>
          <a:bodyPr wrap="square" lIns="0" rIns="0" tIns="0" bIns="0" anchor="ctr">
            <a:spAutoFit/>
          </a:bodyPr>
          <a:lstStyle/>
          <a:p>
            <a:pPr algn="l">
              <a:lnSpc>
                <a:spcPct val="108000"/>
              </a:lnSpc>
            </a:pPr>
            <a:r>
              <a:rPr sz="1150" b="1">
                <a:solidFill>
                  <a:srgbClr val="141B2B"/>
                </a:solidFill>
                <a:latin typeface="Segoe UI"/>
              </a:rPr>
              <a:t>InsightFace (buffalo_l - SCRFD + ArcFace)</a:t>
            </a:r>
          </a:p>
        </p:txBody>
      </p:sp>
      <p:sp>
        <p:nvSpPr>
          <p:cNvPr id="20" name="Rectangle 19"/>
          <p:cNvSpPr/>
          <p:nvPr/>
        </p:nvSpPr>
        <p:spPr>
          <a:xfrm>
            <a:off x="3675888" y="2231136"/>
            <a:ext cx="1920240" cy="713232"/>
          </a:xfrm>
          <a:prstGeom prst="rect">
            <a:avLst/>
          </a:prstGeom>
          <a:solidFill>
            <a:srgbClr val="E8EFFC"/>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94760" y="2231136"/>
            <a:ext cx="1682496" cy="713232"/>
          </a:xfrm>
          <a:prstGeom prst="rect">
            <a:avLst/>
          </a:prstGeom>
          <a:noFill/>
        </p:spPr>
        <p:txBody>
          <a:bodyPr wrap="square" lIns="0" rIns="0" tIns="0" bIns="0" anchor="ctr">
            <a:spAutoFit/>
          </a:bodyPr>
          <a:lstStyle/>
          <a:p>
            <a:pPr algn="l">
              <a:lnSpc>
                <a:spcPct val="108000"/>
              </a:lnSpc>
            </a:pPr>
            <a:r>
              <a:rPr sz="1150" b="1">
                <a:solidFill>
                  <a:srgbClr val="141B2B"/>
                </a:solidFill>
                <a:latin typeface="Segoe UI"/>
              </a:rPr>
              <a:t>High</a:t>
            </a:r>
          </a:p>
        </p:txBody>
      </p:sp>
      <p:sp>
        <p:nvSpPr>
          <p:cNvPr id="22" name="Rectangle 21"/>
          <p:cNvSpPr/>
          <p:nvPr/>
        </p:nvSpPr>
        <p:spPr>
          <a:xfrm>
            <a:off x="5596128" y="2231136"/>
            <a:ext cx="1920240" cy="713232"/>
          </a:xfrm>
          <a:prstGeom prst="rect">
            <a:avLst/>
          </a:prstGeom>
          <a:solidFill>
            <a:srgbClr val="E8EFFC"/>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15000" y="2231136"/>
            <a:ext cx="1682496" cy="713232"/>
          </a:xfrm>
          <a:prstGeom prst="rect">
            <a:avLst/>
          </a:prstGeom>
          <a:noFill/>
        </p:spPr>
        <p:txBody>
          <a:bodyPr wrap="square" lIns="0" rIns="0" tIns="0" bIns="0" anchor="ctr">
            <a:spAutoFit/>
          </a:bodyPr>
          <a:lstStyle/>
          <a:p>
            <a:pPr algn="l">
              <a:lnSpc>
                <a:spcPct val="108000"/>
              </a:lnSpc>
            </a:pPr>
            <a:r>
              <a:rPr sz="1150" b="1">
                <a:solidFill>
                  <a:srgbClr val="141B2B"/>
                </a:solidFill>
                <a:latin typeface="Segoe UI"/>
              </a:rPr>
              <a:t>State-of-the-Art</a:t>
            </a:r>
          </a:p>
        </p:txBody>
      </p:sp>
      <p:sp>
        <p:nvSpPr>
          <p:cNvPr id="24" name="Rectangle 23"/>
          <p:cNvSpPr/>
          <p:nvPr/>
        </p:nvSpPr>
        <p:spPr>
          <a:xfrm>
            <a:off x="7516368" y="2231136"/>
            <a:ext cx="2011680" cy="713232"/>
          </a:xfrm>
          <a:prstGeom prst="rect">
            <a:avLst/>
          </a:prstGeom>
          <a:solidFill>
            <a:srgbClr val="E8EFFC"/>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35240" y="2231136"/>
            <a:ext cx="1773936" cy="713232"/>
          </a:xfrm>
          <a:prstGeom prst="rect">
            <a:avLst/>
          </a:prstGeom>
          <a:noFill/>
        </p:spPr>
        <p:txBody>
          <a:bodyPr wrap="square" lIns="0" rIns="0" tIns="0" bIns="0" anchor="ctr">
            <a:spAutoFit/>
          </a:bodyPr>
          <a:lstStyle/>
          <a:p>
            <a:pPr algn="l">
              <a:lnSpc>
                <a:spcPct val="108000"/>
              </a:lnSpc>
            </a:pPr>
            <a:r>
              <a:rPr sz="1150" b="1">
                <a:solidFill>
                  <a:srgbClr val="141B2B"/>
                </a:solidFill>
                <a:latin typeface="Segoe UI"/>
              </a:rPr>
              <a:t>Very Fast (ONNX)</a:t>
            </a:r>
          </a:p>
        </p:txBody>
      </p:sp>
      <p:sp>
        <p:nvSpPr>
          <p:cNvPr id="26" name="Rectangle 25"/>
          <p:cNvSpPr/>
          <p:nvPr/>
        </p:nvSpPr>
        <p:spPr>
          <a:xfrm>
            <a:off x="9528048" y="2231136"/>
            <a:ext cx="2011680" cy="713232"/>
          </a:xfrm>
          <a:prstGeom prst="rect">
            <a:avLst/>
          </a:prstGeom>
          <a:solidFill>
            <a:srgbClr val="E8EFFC"/>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46920" y="2231136"/>
            <a:ext cx="1773936" cy="713232"/>
          </a:xfrm>
          <a:prstGeom prst="rect">
            <a:avLst/>
          </a:prstGeom>
          <a:noFill/>
        </p:spPr>
        <p:txBody>
          <a:bodyPr wrap="square" lIns="0" rIns="0" tIns="0" bIns="0" anchor="ctr">
            <a:spAutoFit/>
          </a:bodyPr>
          <a:lstStyle/>
          <a:p>
            <a:pPr algn="l">
              <a:lnSpc>
                <a:spcPct val="108000"/>
              </a:lnSpc>
            </a:pPr>
            <a:r>
              <a:rPr sz="1150" b="1">
                <a:solidFill>
                  <a:srgbClr val="141B2B"/>
                </a:solidFill>
                <a:latin typeface="Segoe UI"/>
              </a:rPr>
              <a:t>Easy (ONNX wheel)</a:t>
            </a:r>
          </a:p>
        </p:txBody>
      </p:sp>
      <p:sp>
        <p:nvSpPr>
          <p:cNvPr id="28" name="Rectangle 27"/>
          <p:cNvSpPr/>
          <p:nvPr/>
        </p:nvSpPr>
        <p:spPr>
          <a:xfrm>
            <a:off x="658368" y="2231136"/>
            <a:ext cx="50292" cy="713232"/>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58368" y="2944368"/>
            <a:ext cx="3017520" cy="713232"/>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2944368"/>
            <a:ext cx="2779776" cy="71323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Dlib (ResNet-34) / OpenFace</a:t>
            </a:r>
          </a:p>
        </p:txBody>
      </p:sp>
      <p:sp>
        <p:nvSpPr>
          <p:cNvPr id="31" name="Rectangle 30"/>
          <p:cNvSpPr/>
          <p:nvPr/>
        </p:nvSpPr>
        <p:spPr>
          <a:xfrm>
            <a:off x="3675888" y="2944368"/>
            <a:ext cx="1920240" cy="713232"/>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794760" y="2944368"/>
            <a:ext cx="1682496" cy="71323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Medium</a:t>
            </a:r>
          </a:p>
        </p:txBody>
      </p:sp>
      <p:sp>
        <p:nvSpPr>
          <p:cNvPr id="33" name="Rectangle 32"/>
          <p:cNvSpPr/>
          <p:nvPr/>
        </p:nvSpPr>
        <p:spPr>
          <a:xfrm>
            <a:off x="5596128" y="2944368"/>
            <a:ext cx="1920240" cy="713232"/>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715000" y="2944368"/>
            <a:ext cx="1682496" cy="71323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Medium-Low</a:t>
            </a:r>
          </a:p>
        </p:txBody>
      </p:sp>
      <p:sp>
        <p:nvSpPr>
          <p:cNvPr id="35" name="Rectangle 34"/>
          <p:cNvSpPr/>
          <p:nvPr/>
        </p:nvSpPr>
        <p:spPr>
          <a:xfrm>
            <a:off x="7516368" y="2944368"/>
            <a:ext cx="2011680" cy="713232"/>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35240" y="2944368"/>
            <a:ext cx="1773936" cy="71323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Slow</a:t>
            </a:r>
          </a:p>
        </p:txBody>
      </p:sp>
      <p:sp>
        <p:nvSpPr>
          <p:cNvPr id="37" name="Rectangle 36"/>
          <p:cNvSpPr/>
          <p:nvPr/>
        </p:nvSpPr>
        <p:spPr>
          <a:xfrm>
            <a:off x="9528048" y="2944368"/>
            <a:ext cx="2011680" cy="713232"/>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646920" y="2944368"/>
            <a:ext cx="1773936" cy="71323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Complex OS dependencies</a:t>
            </a:r>
          </a:p>
        </p:txBody>
      </p:sp>
      <p:sp>
        <p:nvSpPr>
          <p:cNvPr id="39" name="Rectangle 38"/>
          <p:cNvSpPr/>
          <p:nvPr/>
        </p:nvSpPr>
        <p:spPr>
          <a:xfrm>
            <a:off x="658368" y="3657600"/>
            <a:ext cx="3017520" cy="713232"/>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7240" y="3657600"/>
            <a:ext cx="2779776" cy="71323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MTCNN + FaceNet</a:t>
            </a:r>
          </a:p>
        </p:txBody>
      </p:sp>
      <p:sp>
        <p:nvSpPr>
          <p:cNvPr id="41" name="Rectangle 40"/>
          <p:cNvSpPr/>
          <p:nvPr/>
        </p:nvSpPr>
        <p:spPr>
          <a:xfrm>
            <a:off x="3675888" y="3657600"/>
            <a:ext cx="1920240" cy="713232"/>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794760" y="3657600"/>
            <a:ext cx="1682496" cy="71323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Low (struggles with pose / yaw)</a:t>
            </a:r>
          </a:p>
        </p:txBody>
      </p:sp>
      <p:sp>
        <p:nvSpPr>
          <p:cNvPr id="43" name="Rectangle 42"/>
          <p:cNvSpPr/>
          <p:nvPr/>
        </p:nvSpPr>
        <p:spPr>
          <a:xfrm>
            <a:off x="5596128" y="3657600"/>
            <a:ext cx="1920240" cy="713232"/>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715000" y="3657600"/>
            <a:ext cx="1682496" cy="71323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Medium</a:t>
            </a:r>
          </a:p>
        </p:txBody>
      </p:sp>
      <p:sp>
        <p:nvSpPr>
          <p:cNvPr id="45" name="Rectangle 44"/>
          <p:cNvSpPr/>
          <p:nvPr/>
        </p:nvSpPr>
        <p:spPr>
          <a:xfrm>
            <a:off x="7516368" y="3657600"/>
            <a:ext cx="2011680" cy="713232"/>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35240" y="3657600"/>
            <a:ext cx="1773936" cy="71323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Medium</a:t>
            </a:r>
          </a:p>
        </p:txBody>
      </p:sp>
      <p:sp>
        <p:nvSpPr>
          <p:cNvPr id="47" name="Rectangle 46"/>
          <p:cNvSpPr/>
          <p:nvPr/>
        </p:nvSpPr>
        <p:spPr>
          <a:xfrm>
            <a:off x="9528048" y="3657600"/>
            <a:ext cx="2011680" cy="713232"/>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646920" y="3657600"/>
            <a:ext cx="1773936" cy="71323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Medium</a:t>
            </a:r>
          </a:p>
        </p:txBody>
      </p:sp>
      <p:sp>
        <p:nvSpPr>
          <p:cNvPr id="49" name="Rectangle 48"/>
          <p:cNvSpPr/>
          <p:nvPr/>
        </p:nvSpPr>
        <p:spPr>
          <a:xfrm>
            <a:off x="658368" y="4370832"/>
            <a:ext cx="3017520" cy="713232"/>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77240" y="4370832"/>
            <a:ext cx="2779776" cy="71323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RetinaFace (ResNet-50)</a:t>
            </a:r>
          </a:p>
        </p:txBody>
      </p:sp>
      <p:sp>
        <p:nvSpPr>
          <p:cNvPr id="51" name="Rectangle 50"/>
          <p:cNvSpPr/>
          <p:nvPr/>
        </p:nvSpPr>
        <p:spPr>
          <a:xfrm>
            <a:off x="3675888" y="4370832"/>
            <a:ext cx="1920240" cy="713232"/>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794760" y="4370832"/>
            <a:ext cx="1682496" cy="71323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Extremely High</a:t>
            </a:r>
          </a:p>
        </p:txBody>
      </p:sp>
      <p:sp>
        <p:nvSpPr>
          <p:cNvPr id="53" name="Rectangle 52"/>
          <p:cNvSpPr/>
          <p:nvPr/>
        </p:nvSpPr>
        <p:spPr>
          <a:xfrm>
            <a:off x="5596128" y="4370832"/>
            <a:ext cx="1920240" cy="713232"/>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715000" y="4370832"/>
            <a:ext cx="1682496" cy="71323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High</a:t>
            </a:r>
          </a:p>
        </p:txBody>
      </p:sp>
      <p:sp>
        <p:nvSpPr>
          <p:cNvPr id="55" name="Rectangle 54"/>
          <p:cNvSpPr/>
          <p:nvPr/>
        </p:nvSpPr>
        <p:spPr>
          <a:xfrm>
            <a:off x="7516368" y="4370832"/>
            <a:ext cx="2011680" cy="713232"/>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635240" y="4370832"/>
            <a:ext cx="1773936" cy="71323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Very Slow on CPU</a:t>
            </a:r>
          </a:p>
        </p:txBody>
      </p:sp>
      <p:sp>
        <p:nvSpPr>
          <p:cNvPr id="57" name="Rectangle 56"/>
          <p:cNvSpPr/>
          <p:nvPr/>
        </p:nvSpPr>
        <p:spPr>
          <a:xfrm>
            <a:off x="9528048" y="4370832"/>
            <a:ext cx="2011680" cy="713232"/>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646920" y="4370832"/>
            <a:ext cx="1773936" cy="71323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Heavy</a:t>
            </a:r>
          </a:p>
        </p:txBody>
      </p:sp>
      <p:sp>
        <p:nvSpPr>
          <p:cNvPr id="59" name="Rectangle 58"/>
          <p:cNvSpPr/>
          <p:nvPr/>
        </p:nvSpPr>
        <p:spPr>
          <a:xfrm>
            <a:off x="658368" y="5394960"/>
            <a:ext cx="10881360" cy="731520"/>
          </a:xfrm>
          <a:prstGeom prst="rect">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60120" y="5394960"/>
            <a:ext cx="10332720" cy="731520"/>
          </a:xfrm>
          <a:prstGeom prst="rect">
            <a:avLst/>
          </a:prstGeom>
          <a:noFill/>
        </p:spPr>
        <p:txBody>
          <a:bodyPr wrap="square" lIns="0" rIns="0" tIns="0" bIns="0" anchor="ctr">
            <a:spAutoFit/>
          </a:bodyPr>
          <a:lstStyle/>
          <a:p>
            <a:pPr algn="l">
              <a:lnSpc>
                <a:spcPct val="115000"/>
              </a:lnSpc>
            </a:pPr>
            <a:r>
              <a:rPr sz="1250" b="1">
                <a:solidFill>
                  <a:srgbClr val="14398C"/>
                </a:solidFill>
                <a:latin typeface="Segoe UI"/>
              </a:rPr>
              <a:t>Chosen because it is the only stack that is both accurate and fast enough to run on a CPU - there is no GPU in the collection environment. RetinaFace detects slightly better but is far too slow, and ONNX packaging means the same wheel installs on every machine.</a:t>
            </a:r>
          </a:p>
        </p:txBody>
      </p:sp>
      <p:sp>
        <p:nvSpPr>
          <p:cNvPr id="61" name="TextBox 60"/>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62" name="TextBox 61"/>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MODEL COMPARISON</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Model choice - reading and masking text in images</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316736"/>
            <a:ext cx="10881360" cy="274320"/>
          </a:xfrm>
          <a:prstGeom prst="rect">
            <a:avLst/>
          </a:prstGeom>
          <a:noFill/>
        </p:spPr>
        <p:txBody>
          <a:bodyPr wrap="square" lIns="0" rIns="0" tIns="0" bIns="0" anchor="t">
            <a:spAutoFit/>
          </a:bodyPr>
          <a:lstStyle/>
          <a:p>
            <a:pPr algn="l">
              <a:lnSpc>
                <a:spcPct val="115000"/>
              </a:lnSpc>
            </a:pPr>
            <a:r>
              <a:rPr sz="1200" b="0">
                <a:solidFill>
                  <a:srgbClr val="5B6472"/>
                </a:solidFill>
                <a:latin typeface="Segoe UI"/>
              </a:rPr>
              <a:t>Used to find identity documents, badges and screens inside a photograph and mask what they say.</a:t>
            </a:r>
          </a:p>
        </p:txBody>
      </p:sp>
      <p:sp>
        <p:nvSpPr>
          <p:cNvPr id="8" name="Rectangle 7"/>
          <p:cNvSpPr/>
          <p:nvPr/>
        </p:nvSpPr>
        <p:spPr>
          <a:xfrm>
            <a:off x="658368" y="1719072"/>
            <a:ext cx="3017520" cy="457200"/>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719072"/>
            <a:ext cx="2779776" cy="457200"/>
          </a:xfrm>
          <a:prstGeom prst="rect">
            <a:avLst/>
          </a:prstGeom>
          <a:noFill/>
        </p:spPr>
        <p:txBody>
          <a:bodyPr wrap="square" lIns="0" rIns="0" tIns="0" bIns="0" anchor="ctr">
            <a:spAutoFit/>
          </a:bodyPr>
          <a:lstStyle/>
          <a:p>
            <a:pPr algn="l">
              <a:lnSpc>
                <a:spcPct val="115000"/>
              </a:lnSpc>
            </a:pPr>
            <a:r>
              <a:rPr sz="1100" b="1">
                <a:solidFill>
                  <a:srgbClr val="FFFFFF"/>
                </a:solidFill>
                <a:latin typeface="Segoe UI"/>
              </a:rPr>
              <a:t>Model / tool</a:t>
            </a:r>
          </a:p>
        </p:txBody>
      </p:sp>
      <p:sp>
        <p:nvSpPr>
          <p:cNvPr id="10" name="Rectangle 9"/>
          <p:cNvSpPr/>
          <p:nvPr/>
        </p:nvSpPr>
        <p:spPr>
          <a:xfrm>
            <a:off x="3675888" y="1719072"/>
            <a:ext cx="1828800" cy="457200"/>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94760" y="1719072"/>
            <a:ext cx="1591056" cy="457200"/>
          </a:xfrm>
          <a:prstGeom prst="rect">
            <a:avLst/>
          </a:prstGeom>
          <a:noFill/>
        </p:spPr>
        <p:txBody>
          <a:bodyPr wrap="square" lIns="0" rIns="0" tIns="0" bIns="0" anchor="ctr">
            <a:spAutoFit/>
          </a:bodyPr>
          <a:lstStyle/>
          <a:p>
            <a:pPr algn="l">
              <a:lnSpc>
                <a:spcPct val="115000"/>
              </a:lnSpc>
            </a:pPr>
            <a:r>
              <a:rPr sz="1100" b="1">
                <a:solidFill>
                  <a:srgbClr val="FFFFFF"/>
                </a:solidFill>
                <a:latin typeface="Segoe UI"/>
              </a:rPr>
              <a:t>Accuracy</a:t>
            </a:r>
          </a:p>
        </p:txBody>
      </p:sp>
      <p:sp>
        <p:nvSpPr>
          <p:cNvPr id="12" name="Rectangle 11"/>
          <p:cNvSpPr/>
          <p:nvPr/>
        </p:nvSpPr>
        <p:spPr>
          <a:xfrm>
            <a:off x="5504688" y="1719072"/>
            <a:ext cx="1554480" cy="457200"/>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23560" y="1719072"/>
            <a:ext cx="1316736" cy="457200"/>
          </a:xfrm>
          <a:prstGeom prst="rect">
            <a:avLst/>
          </a:prstGeom>
          <a:noFill/>
        </p:spPr>
        <p:txBody>
          <a:bodyPr wrap="square" lIns="0" rIns="0" tIns="0" bIns="0" anchor="ctr">
            <a:spAutoFit/>
          </a:bodyPr>
          <a:lstStyle/>
          <a:p>
            <a:pPr algn="l">
              <a:lnSpc>
                <a:spcPct val="115000"/>
              </a:lnSpc>
            </a:pPr>
            <a:r>
              <a:rPr sz="1100" b="1">
                <a:solidFill>
                  <a:srgbClr val="FFFFFF"/>
                </a:solidFill>
                <a:latin typeface="Segoe UI"/>
              </a:rPr>
              <a:t>CPU speed</a:t>
            </a:r>
          </a:p>
        </p:txBody>
      </p:sp>
      <p:sp>
        <p:nvSpPr>
          <p:cNvPr id="14" name="Rectangle 13"/>
          <p:cNvSpPr/>
          <p:nvPr/>
        </p:nvSpPr>
        <p:spPr>
          <a:xfrm>
            <a:off x="7059168" y="1719072"/>
            <a:ext cx="1645920" cy="457200"/>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78040" y="1719072"/>
            <a:ext cx="1408176" cy="457200"/>
          </a:xfrm>
          <a:prstGeom prst="rect">
            <a:avLst/>
          </a:prstGeom>
          <a:noFill/>
        </p:spPr>
        <p:txBody>
          <a:bodyPr wrap="square" lIns="0" rIns="0" tIns="0" bIns="0" anchor="ctr">
            <a:spAutoFit/>
          </a:bodyPr>
          <a:lstStyle/>
          <a:p>
            <a:pPr algn="l">
              <a:lnSpc>
                <a:spcPct val="115000"/>
              </a:lnSpc>
            </a:pPr>
            <a:r>
              <a:rPr sz="1100" b="1">
                <a:solidFill>
                  <a:srgbClr val="FFFFFF"/>
                </a:solidFill>
                <a:latin typeface="Segoe UI"/>
              </a:rPr>
              <a:t>Latency</a:t>
            </a:r>
          </a:p>
        </p:txBody>
      </p:sp>
      <p:sp>
        <p:nvSpPr>
          <p:cNvPr id="16" name="Rectangle 15"/>
          <p:cNvSpPr/>
          <p:nvPr/>
        </p:nvSpPr>
        <p:spPr>
          <a:xfrm>
            <a:off x="8705088" y="1719072"/>
            <a:ext cx="2834640" cy="457200"/>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23960" y="1719072"/>
            <a:ext cx="2596896" cy="457200"/>
          </a:xfrm>
          <a:prstGeom prst="rect">
            <a:avLst/>
          </a:prstGeom>
          <a:noFill/>
        </p:spPr>
        <p:txBody>
          <a:bodyPr wrap="square" lIns="0" rIns="0" tIns="0" bIns="0" anchor="ctr">
            <a:spAutoFit/>
          </a:bodyPr>
          <a:lstStyle/>
          <a:p>
            <a:pPr algn="l">
              <a:lnSpc>
                <a:spcPct val="115000"/>
              </a:lnSpc>
            </a:pPr>
            <a:r>
              <a:rPr sz="1100" b="1">
                <a:solidFill>
                  <a:srgbClr val="FFFFFF"/>
                </a:solidFill>
                <a:latin typeface="Segoe UI"/>
              </a:rPr>
              <a:t>Infrastructure &amp; privacy footprint</a:t>
            </a:r>
          </a:p>
        </p:txBody>
      </p:sp>
      <p:sp>
        <p:nvSpPr>
          <p:cNvPr id="18" name="Rectangle 17"/>
          <p:cNvSpPr/>
          <p:nvPr/>
        </p:nvSpPr>
        <p:spPr>
          <a:xfrm>
            <a:off x="658368" y="2176272"/>
            <a:ext cx="3017520" cy="603504"/>
          </a:xfrm>
          <a:prstGeom prst="rect">
            <a:avLst/>
          </a:prstGeom>
          <a:solidFill>
            <a:srgbClr val="E8EFFC"/>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2176272"/>
            <a:ext cx="2779776" cy="603504"/>
          </a:xfrm>
          <a:prstGeom prst="rect">
            <a:avLst/>
          </a:prstGeom>
          <a:noFill/>
        </p:spPr>
        <p:txBody>
          <a:bodyPr wrap="square" lIns="0" rIns="0" tIns="0" bIns="0" anchor="ctr">
            <a:spAutoFit/>
          </a:bodyPr>
          <a:lstStyle/>
          <a:p>
            <a:pPr algn="l">
              <a:lnSpc>
                <a:spcPct val="108000"/>
              </a:lnSpc>
            </a:pPr>
            <a:r>
              <a:rPr sz="1150" b="1">
                <a:solidFill>
                  <a:srgbClr val="141B2B"/>
                </a:solidFill>
                <a:latin typeface="Segoe UI"/>
              </a:rPr>
              <a:t>RapidOCR + Presidio (spaCy)</a:t>
            </a:r>
          </a:p>
        </p:txBody>
      </p:sp>
      <p:sp>
        <p:nvSpPr>
          <p:cNvPr id="20" name="Rectangle 19"/>
          <p:cNvSpPr/>
          <p:nvPr/>
        </p:nvSpPr>
        <p:spPr>
          <a:xfrm>
            <a:off x="3675888" y="2176272"/>
            <a:ext cx="1828800" cy="603504"/>
          </a:xfrm>
          <a:prstGeom prst="rect">
            <a:avLst/>
          </a:prstGeom>
          <a:solidFill>
            <a:srgbClr val="E8EFFC"/>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94760" y="2176272"/>
            <a:ext cx="1591056" cy="603504"/>
          </a:xfrm>
          <a:prstGeom prst="rect">
            <a:avLst/>
          </a:prstGeom>
          <a:noFill/>
        </p:spPr>
        <p:txBody>
          <a:bodyPr wrap="square" lIns="0" rIns="0" tIns="0" bIns="0" anchor="ctr">
            <a:spAutoFit/>
          </a:bodyPr>
          <a:lstStyle/>
          <a:p>
            <a:pPr algn="l">
              <a:lnSpc>
                <a:spcPct val="108000"/>
              </a:lnSpc>
            </a:pPr>
            <a:r>
              <a:rPr sz="1150" b="1">
                <a:solidFill>
                  <a:srgbClr val="141B2B"/>
                </a:solidFill>
                <a:latin typeface="Segoe UI"/>
              </a:rPr>
              <a:t>High</a:t>
            </a:r>
          </a:p>
        </p:txBody>
      </p:sp>
      <p:sp>
        <p:nvSpPr>
          <p:cNvPr id="22" name="Rectangle 21"/>
          <p:cNvSpPr/>
          <p:nvPr/>
        </p:nvSpPr>
        <p:spPr>
          <a:xfrm>
            <a:off x="5504688" y="2176272"/>
            <a:ext cx="1554480" cy="603504"/>
          </a:xfrm>
          <a:prstGeom prst="rect">
            <a:avLst/>
          </a:prstGeom>
          <a:solidFill>
            <a:srgbClr val="E8EFFC"/>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23560" y="2176272"/>
            <a:ext cx="1316736" cy="603504"/>
          </a:xfrm>
          <a:prstGeom prst="rect">
            <a:avLst/>
          </a:prstGeom>
          <a:noFill/>
        </p:spPr>
        <p:txBody>
          <a:bodyPr wrap="square" lIns="0" rIns="0" tIns="0" bIns="0" anchor="ctr">
            <a:spAutoFit/>
          </a:bodyPr>
          <a:lstStyle/>
          <a:p>
            <a:pPr algn="l">
              <a:lnSpc>
                <a:spcPct val="108000"/>
              </a:lnSpc>
            </a:pPr>
            <a:r>
              <a:rPr sz="1150" b="1">
                <a:solidFill>
                  <a:srgbClr val="141B2B"/>
                </a:solidFill>
                <a:latin typeface="Segoe UI"/>
              </a:rPr>
              <a:t>Fast</a:t>
            </a:r>
          </a:p>
        </p:txBody>
      </p:sp>
      <p:sp>
        <p:nvSpPr>
          <p:cNvPr id="24" name="Rectangle 23"/>
          <p:cNvSpPr/>
          <p:nvPr/>
        </p:nvSpPr>
        <p:spPr>
          <a:xfrm>
            <a:off x="7059168" y="2176272"/>
            <a:ext cx="1645920" cy="603504"/>
          </a:xfrm>
          <a:prstGeom prst="rect">
            <a:avLst/>
          </a:prstGeom>
          <a:solidFill>
            <a:srgbClr val="E8EFFC"/>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78040" y="2176272"/>
            <a:ext cx="1408176" cy="603504"/>
          </a:xfrm>
          <a:prstGeom prst="rect">
            <a:avLst/>
          </a:prstGeom>
          <a:noFill/>
        </p:spPr>
        <p:txBody>
          <a:bodyPr wrap="square" lIns="0" rIns="0" tIns="0" bIns="0" anchor="ctr">
            <a:spAutoFit/>
          </a:bodyPr>
          <a:lstStyle/>
          <a:p>
            <a:pPr algn="l">
              <a:lnSpc>
                <a:spcPct val="108000"/>
              </a:lnSpc>
            </a:pPr>
            <a:r>
              <a:rPr sz="1150" b="1">
                <a:solidFill>
                  <a:srgbClr val="141B2B"/>
                </a:solidFill>
                <a:latin typeface="Segoe UI"/>
              </a:rPr>
              <a:t>Low (under 1.5s)</a:t>
            </a:r>
          </a:p>
        </p:txBody>
      </p:sp>
      <p:sp>
        <p:nvSpPr>
          <p:cNvPr id="26" name="Rectangle 25"/>
          <p:cNvSpPr/>
          <p:nvPr/>
        </p:nvSpPr>
        <p:spPr>
          <a:xfrm>
            <a:off x="8705088" y="2176272"/>
            <a:ext cx="2834640" cy="603504"/>
          </a:xfrm>
          <a:prstGeom prst="rect">
            <a:avLst/>
          </a:prstGeom>
          <a:solidFill>
            <a:srgbClr val="E8EFFC"/>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823960" y="2176272"/>
            <a:ext cx="2596896" cy="603504"/>
          </a:xfrm>
          <a:prstGeom prst="rect">
            <a:avLst/>
          </a:prstGeom>
          <a:noFill/>
        </p:spPr>
        <p:txBody>
          <a:bodyPr wrap="square" lIns="0" rIns="0" tIns="0" bIns="0" anchor="ctr">
            <a:spAutoFit/>
          </a:bodyPr>
          <a:lstStyle/>
          <a:p>
            <a:pPr algn="l">
              <a:lnSpc>
                <a:spcPct val="108000"/>
              </a:lnSpc>
            </a:pPr>
            <a:r>
              <a:rPr sz="1150" b="1">
                <a:solidFill>
                  <a:srgbClr val="141B2B"/>
                </a:solidFill>
                <a:latin typeface="Segoe UI"/>
              </a:rPr>
              <a:t>100% local / self-contained</a:t>
            </a:r>
          </a:p>
        </p:txBody>
      </p:sp>
      <p:sp>
        <p:nvSpPr>
          <p:cNvPr id="28" name="Rectangle 27"/>
          <p:cNvSpPr/>
          <p:nvPr/>
        </p:nvSpPr>
        <p:spPr>
          <a:xfrm>
            <a:off x="658368" y="2176272"/>
            <a:ext cx="50292" cy="603504"/>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58368" y="2779776"/>
            <a:ext cx="3017520" cy="60350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2779776"/>
            <a:ext cx="2779776" cy="60350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Tesseract OCR</a:t>
            </a:r>
          </a:p>
        </p:txBody>
      </p:sp>
      <p:sp>
        <p:nvSpPr>
          <p:cNvPr id="31" name="Rectangle 30"/>
          <p:cNvSpPr/>
          <p:nvPr/>
        </p:nvSpPr>
        <p:spPr>
          <a:xfrm>
            <a:off x="3675888" y="2779776"/>
            <a:ext cx="1828800" cy="60350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794760" y="2779776"/>
            <a:ext cx="1591056" cy="60350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Medium (struggles with noise)</a:t>
            </a:r>
          </a:p>
        </p:txBody>
      </p:sp>
      <p:sp>
        <p:nvSpPr>
          <p:cNvPr id="33" name="Rectangle 32"/>
          <p:cNvSpPr/>
          <p:nvPr/>
        </p:nvSpPr>
        <p:spPr>
          <a:xfrm>
            <a:off x="5504688" y="2779776"/>
            <a:ext cx="1554480" cy="60350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23560" y="2779776"/>
            <a:ext cx="1316736" cy="60350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Fast</a:t>
            </a:r>
          </a:p>
        </p:txBody>
      </p:sp>
      <p:sp>
        <p:nvSpPr>
          <p:cNvPr id="35" name="Rectangle 34"/>
          <p:cNvSpPr/>
          <p:nvPr/>
        </p:nvSpPr>
        <p:spPr>
          <a:xfrm>
            <a:off x="7059168" y="2779776"/>
            <a:ext cx="1645920" cy="60350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178040" y="2779776"/>
            <a:ext cx="1408176" cy="60350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Low</a:t>
            </a:r>
          </a:p>
        </p:txBody>
      </p:sp>
      <p:sp>
        <p:nvSpPr>
          <p:cNvPr id="37" name="Rectangle 36"/>
          <p:cNvSpPr/>
          <p:nvPr/>
        </p:nvSpPr>
        <p:spPr>
          <a:xfrm>
            <a:off x="8705088" y="2779776"/>
            <a:ext cx="2834640" cy="60350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23960" y="2779776"/>
            <a:ext cx="2596896" cy="60350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Needs an OS-level binary (fragile Docker builds)</a:t>
            </a:r>
          </a:p>
        </p:txBody>
      </p:sp>
      <p:sp>
        <p:nvSpPr>
          <p:cNvPr id="39" name="Rectangle 38"/>
          <p:cNvSpPr/>
          <p:nvPr/>
        </p:nvSpPr>
        <p:spPr>
          <a:xfrm>
            <a:off x="658368" y="3383280"/>
            <a:ext cx="3017520" cy="60350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7240" y="3383280"/>
            <a:ext cx="2779776" cy="60350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EasyOCR (PyTorch)</a:t>
            </a:r>
          </a:p>
        </p:txBody>
      </p:sp>
      <p:sp>
        <p:nvSpPr>
          <p:cNvPr id="41" name="Rectangle 40"/>
          <p:cNvSpPr/>
          <p:nvPr/>
        </p:nvSpPr>
        <p:spPr>
          <a:xfrm>
            <a:off x="3675888" y="3383280"/>
            <a:ext cx="1828800" cy="60350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794760" y="3383280"/>
            <a:ext cx="1591056" cy="60350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High</a:t>
            </a:r>
          </a:p>
        </p:txBody>
      </p:sp>
      <p:sp>
        <p:nvSpPr>
          <p:cNvPr id="43" name="Rectangle 42"/>
          <p:cNvSpPr/>
          <p:nvPr/>
        </p:nvSpPr>
        <p:spPr>
          <a:xfrm>
            <a:off x="5504688" y="3383280"/>
            <a:ext cx="1554480" cy="60350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623560" y="3383280"/>
            <a:ext cx="1316736" cy="60350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Slow on CPU</a:t>
            </a:r>
          </a:p>
        </p:txBody>
      </p:sp>
      <p:sp>
        <p:nvSpPr>
          <p:cNvPr id="45" name="Rectangle 44"/>
          <p:cNvSpPr/>
          <p:nvPr/>
        </p:nvSpPr>
        <p:spPr>
          <a:xfrm>
            <a:off x="7059168" y="3383280"/>
            <a:ext cx="1645920" cy="60350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178040" y="3383280"/>
            <a:ext cx="1408176" cy="60350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High (4-6s)</a:t>
            </a:r>
          </a:p>
        </p:txBody>
      </p:sp>
      <p:sp>
        <p:nvSpPr>
          <p:cNvPr id="47" name="Rectangle 46"/>
          <p:cNvSpPr/>
          <p:nvPr/>
        </p:nvSpPr>
        <p:spPr>
          <a:xfrm>
            <a:off x="8705088" y="3383280"/>
            <a:ext cx="2834640" cy="60350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823960" y="3383280"/>
            <a:ext cx="2596896" cy="60350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Heavy PyTorch engine dependency</a:t>
            </a:r>
          </a:p>
        </p:txBody>
      </p:sp>
      <p:sp>
        <p:nvSpPr>
          <p:cNvPr id="49" name="Rectangle 48"/>
          <p:cNvSpPr/>
          <p:nvPr/>
        </p:nvSpPr>
        <p:spPr>
          <a:xfrm>
            <a:off x="658368" y="3986784"/>
            <a:ext cx="3017520" cy="60350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77240" y="3986784"/>
            <a:ext cx="2779776" cy="60350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Cloud OCR (GCP Vision / AWS Rekognition)</a:t>
            </a:r>
          </a:p>
        </p:txBody>
      </p:sp>
      <p:sp>
        <p:nvSpPr>
          <p:cNvPr id="51" name="Rectangle 50"/>
          <p:cNvSpPr/>
          <p:nvPr/>
        </p:nvSpPr>
        <p:spPr>
          <a:xfrm>
            <a:off x="3675888" y="3986784"/>
            <a:ext cx="1828800" cy="60350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794760" y="3986784"/>
            <a:ext cx="1591056" cy="60350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Extremely High</a:t>
            </a:r>
          </a:p>
        </p:txBody>
      </p:sp>
      <p:sp>
        <p:nvSpPr>
          <p:cNvPr id="53" name="Rectangle 52"/>
          <p:cNvSpPr/>
          <p:nvPr/>
        </p:nvSpPr>
        <p:spPr>
          <a:xfrm>
            <a:off x="5504688" y="3986784"/>
            <a:ext cx="1554480" cy="60350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623560" y="3986784"/>
            <a:ext cx="1316736" cy="60350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Fast</a:t>
            </a:r>
          </a:p>
        </p:txBody>
      </p:sp>
      <p:sp>
        <p:nvSpPr>
          <p:cNvPr id="55" name="Rectangle 54"/>
          <p:cNvSpPr/>
          <p:nvPr/>
        </p:nvSpPr>
        <p:spPr>
          <a:xfrm>
            <a:off x="7059168" y="3986784"/>
            <a:ext cx="1645920" cy="60350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178040" y="3986784"/>
            <a:ext cx="1408176" cy="60350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Medium-High</a:t>
            </a:r>
          </a:p>
        </p:txBody>
      </p:sp>
      <p:sp>
        <p:nvSpPr>
          <p:cNvPr id="57" name="Rectangle 56"/>
          <p:cNvSpPr/>
          <p:nvPr/>
        </p:nvSpPr>
        <p:spPr>
          <a:xfrm>
            <a:off x="8705088" y="3986784"/>
            <a:ext cx="2834640" cy="603504"/>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823960" y="3986784"/>
            <a:ext cx="2596896" cy="603504"/>
          </a:xfrm>
          <a:prstGeom prst="rect">
            <a:avLst/>
          </a:prstGeom>
          <a:noFill/>
        </p:spPr>
        <p:txBody>
          <a:bodyPr wrap="square" lIns="0" rIns="0" tIns="0" bIns="0" anchor="ctr">
            <a:spAutoFit/>
          </a:bodyPr>
          <a:lstStyle/>
          <a:p>
            <a:pPr algn="l">
              <a:lnSpc>
                <a:spcPct val="108000"/>
              </a:lnSpc>
            </a:pPr>
            <a:r>
              <a:rPr sz="1150" b="1">
                <a:solidFill>
                  <a:srgbClr val="A82A2A"/>
                </a:solidFill>
                <a:latin typeface="Segoe UI"/>
              </a:rPr>
              <a:t>Breaks DPDP: sends raw PII off-premise</a:t>
            </a:r>
          </a:p>
        </p:txBody>
      </p:sp>
      <p:sp>
        <p:nvSpPr>
          <p:cNvPr id="59" name="Rectangle 58"/>
          <p:cNvSpPr/>
          <p:nvPr/>
        </p:nvSpPr>
        <p:spPr>
          <a:xfrm>
            <a:off x="658368" y="4590288"/>
            <a:ext cx="3017520" cy="60350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77240" y="4590288"/>
            <a:ext cx="2779776" cy="60350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LLM-based extraction (local Llama-3-8B)</a:t>
            </a:r>
          </a:p>
        </p:txBody>
      </p:sp>
      <p:sp>
        <p:nvSpPr>
          <p:cNvPr id="61" name="Rectangle 60"/>
          <p:cNvSpPr/>
          <p:nvPr/>
        </p:nvSpPr>
        <p:spPr>
          <a:xfrm>
            <a:off x="3675888" y="4590288"/>
            <a:ext cx="1828800" cy="60350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794760" y="4590288"/>
            <a:ext cx="1591056" cy="60350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Extremely High</a:t>
            </a:r>
          </a:p>
        </p:txBody>
      </p:sp>
      <p:sp>
        <p:nvSpPr>
          <p:cNvPr id="63" name="Rectangle 62"/>
          <p:cNvSpPr/>
          <p:nvPr/>
        </p:nvSpPr>
        <p:spPr>
          <a:xfrm>
            <a:off x="5504688" y="4590288"/>
            <a:ext cx="1554480" cy="60350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623560" y="4590288"/>
            <a:ext cx="1316736" cy="60350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Extremely Slow</a:t>
            </a:r>
          </a:p>
        </p:txBody>
      </p:sp>
      <p:sp>
        <p:nvSpPr>
          <p:cNvPr id="65" name="Rectangle 64"/>
          <p:cNvSpPr/>
          <p:nvPr/>
        </p:nvSpPr>
        <p:spPr>
          <a:xfrm>
            <a:off x="7059168" y="4590288"/>
            <a:ext cx="1645920" cy="60350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178040" y="4590288"/>
            <a:ext cx="1408176" cy="60350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Very High</a:t>
            </a:r>
          </a:p>
        </p:txBody>
      </p:sp>
      <p:sp>
        <p:nvSpPr>
          <p:cNvPr id="67" name="Rectangle 66"/>
          <p:cNvSpPr/>
          <p:nvPr/>
        </p:nvSpPr>
        <p:spPr>
          <a:xfrm>
            <a:off x="8705088" y="4590288"/>
            <a:ext cx="2834640" cy="603504"/>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823960" y="4590288"/>
            <a:ext cx="2596896" cy="603504"/>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Heavy VRAM needs, non-deterministic</a:t>
            </a:r>
          </a:p>
        </p:txBody>
      </p:sp>
      <p:sp>
        <p:nvSpPr>
          <p:cNvPr id="69" name="Rectangle 68"/>
          <p:cNvSpPr/>
          <p:nvPr/>
        </p:nvSpPr>
        <p:spPr>
          <a:xfrm>
            <a:off x="658368" y="5431536"/>
            <a:ext cx="10881360" cy="731520"/>
          </a:xfrm>
          <a:prstGeom prst="rect">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60120" y="5431536"/>
            <a:ext cx="10332720" cy="731520"/>
          </a:xfrm>
          <a:prstGeom prst="rect">
            <a:avLst/>
          </a:prstGeom>
          <a:noFill/>
        </p:spPr>
        <p:txBody>
          <a:bodyPr wrap="square" lIns="0" rIns="0" tIns="0" bIns="0" anchor="ctr">
            <a:spAutoFit/>
          </a:bodyPr>
          <a:lstStyle/>
          <a:p>
            <a:pPr algn="l">
              <a:lnSpc>
                <a:spcPct val="115000"/>
              </a:lnSpc>
            </a:pPr>
            <a:r>
              <a:rPr sz="1250" b="1">
                <a:solidFill>
                  <a:srgbClr val="14398C"/>
                </a:solidFill>
                <a:latin typeface="Segoe UI"/>
              </a:rPr>
              <a:t>Chosen because it is the only accurate option that never leaves the machine. Cloud OCR is more accurate and would also ship raw identity documents to a third party - the exact thing the DPDP Act exists to prevent. The text pipeline reuses the Presidio and spaCy half of this stack on its own, with no OCR, because that text arrives already typed.</a:t>
            </a:r>
          </a:p>
        </p:txBody>
      </p:sp>
      <p:sp>
        <p:nvSpPr>
          <p:cNvPr id="71" name="TextBox 70"/>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72" name="TextBox 71"/>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MODEL COMPARISON</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How the audio pipeline works, stage by stage</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316736"/>
            <a:ext cx="10881360" cy="274320"/>
          </a:xfrm>
          <a:prstGeom prst="rect">
            <a:avLst/>
          </a:prstGeom>
          <a:noFill/>
        </p:spPr>
        <p:txBody>
          <a:bodyPr wrap="square" lIns="0" rIns="0" tIns="0" bIns="0" anchor="t">
            <a:spAutoFit/>
          </a:bodyPr>
          <a:lstStyle/>
          <a:p>
            <a:pPr algn="l">
              <a:lnSpc>
                <a:spcPct val="115000"/>
              </a:lnSpc>
            </a:pPr>
            <a:r>
              <a:rPr sz="1200" b="0">
                <a:solidFill>
                  <a:srgbClr val="5B6472"/>
                </a:solidFill>
                <a:latin typeface="Segoe UI"/>
              </a:rPr>
              <a:t>Four models run in order. Each answers one question, and none of them decides anything on its own.</a:t>
            </a:r>
          </a:p>
        </p:txBody>
      </p:sp>
      <p:sp>
        <p:nvSpPr>
          <p:cNvPr id="8" name="Rectangle 7"/>
          <p:cNvSpPr/>
          <p:nvPr/>
        </p:nvSpPr>
        <p:spPr>
          <a:xfrm>
            <a:off x="658368" y="1719072"/>
            <a:ext cx="2587752" cy="3127248"/>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719072"/>
            <a:ext cx="2587752" cy="45720"/>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77824" y="1956816"/>
            <a:ext cx="310896" cy="310896"/>
          </a:xfrm>
          <a:prstGeom prst="ellipse">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7824" y="1956816"/>
            <a:ext cx="310896" cy="310896"/>
          </a:xfrm>
          <a:prstGeom prst="rect">
            <a:avLst/>
          </a:prstGeom>
          <a:noFill/>
        </p:spPr>
        <p:txBody>
          <a:bodyPr wrap="square" lIns="0" rIns="0" tIns="0" bIns="0" anchor="ctr">
            <a:spAutoFit/>
          </a:bodyPr>
          <a:lstStyle/>
          <a:p>
            <a:pPr algn="ctr">
              <a:lnSpc>
                <a:spcPct val="115000"/>
              </a:lnSpc>
            </a:pPr>
            <a:r>
              <a:rPr sz="1200" b="1">
                <a:solidFill>
                  <a:srgbClr val="1D5BD6"/>
                </a:solidFill>
                <a:latin typeface="Segoe UI"/>
              </a:rPr>
              <a:t>1</a:t>
            </a:r>
          </a:p>
        </p:txBody>
      </p:sp>
      <p:sp>
        <p:nvSpPr>
          <p:cNvPr id="12" name="TextBox 11"/>
          <p:cNvSpPr txBox="1"/>
          <p:nvPr/>
        </p:nvSpPr>
        <p:spPr>
          <a:xfrm>
            <a:off x="877824" y="2395728"/>
            <a:ext cx="2148840" cy="640080"/>
          </a:xfrm>
          <a:prstGeom prst="rect">
            <a:avLst/>
          </a:prstGeom>
          <a:noFill/>
        </p:spPr>
        <p:txBody>
          <a:bodyPr wrap="square" lIns="0" rIns="0" tIns="0" bIns="0" anchor="t">
            <a:spAutoFit/>
          </a:bodyPr>
          <a:lstStyle/>
          <a:p>
            <a:pPr algn="l">
              <a:lnSpc>
                <a:spcPct val="114000"/>
              </a:lnSpc>
            </a:pPr>
            <a:r>
              <a:rPr sz="1400" b="1">
                <a:solidFill>
                  <a:srgbClr val="141B2B"/>
                </a:solidFill>
                <a:latin typeface="Segoe UI"/>
              </a:rPr>
              <a:t>Diarisation</a:t>
            </a:r>
          </a:p>
          <a:p>
            <a:pPr algn="l">
              <a:lnSpc>
                <a:spcPct val="114000"/>
              </a:lnSpc>
              <a:spcBef>
                <a:spcPts val="300"/>
              </a:spcBef>
            </a:pPr>
            <a:r>
              <a:rPr sz="1150" b="0">
                <a:solidFill>
                  <a:srgbClr val="5B6472"/>
                </a:solidFill>
                <a:latin typeface="Segoe UI"/>
              </a:rPr>
              <a:t>Who spoke when?</a:t>
            </a:r>
          </a:p>
        </p:txBody>
      </p:sp>
      <p:sp>
        <p:nvSpPr>
          <p:cNvPr id="13" name="Rectangle 12"/>
          <p:cNvSpPr/>
          <p:nvPr/>
        </p:nvSpPr>
        <p:spPr>
          <a:xfrm>
            <a:off x="877824" y="3017520"/>
            <a:ext cx="21488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 y="3145536"/>
            <a:ext cx="2148840" cy="548640"/>
          </a:xfrm>
          <a:prstGeom prst="rect">
            <a:avLst/>
          </a:prstGeom>
          <a:noFill/>
        </p:spPr>
        <p:txBody>
          <a:bodyPr wrap="square" lIns="0" rIns="0" tIns="0" bIns="0" anchor="t">
            <a:spAutoFit/>
          </a:bodyPr>
          <a:lstStyle/>
          <a:p>
            <a:pPr algn="l">
              <a:lnSpc>
                <a:spcPct val="114000"/>
              </a:lnSpc>
            </a:pPr>
            <a:r>
              <a:rPr sz="1250" b="1">
                <a:solidFill>
                  <a:srgbClr val="1D5BD6"/>
                </a:solidFill>
                <a:latin typeface="Segoe UI"/>
              </a:rPr>
              <a:t>pyannote.audio 3.1</a:t>
            </a:r>
          </a:p>
        </p:txBody>
      </p:sp>
      <p:sp>
        <p:nvSpPr>
          <p:cNvPr id="15" name="TextBox 14"/>
          <p:cNvSpPr txBox="1"/>
          <p:nvPr/>
        </p:nvSpPr>
        <p:spPr>
          <a:xfrm>
            <a:off x="877824" y="3712464"/>
            <a:ext cx="2148840" cy="1005840"/>
          </a:xfrm>
          <a:prstGeom prst="rect">
            <a:avLst/>
          </a:prstGeom>
          <a:noFill/>
        </p:spPr>
        <p:txBody>
          <a:bodyPr wrap="square" lIns="0" rIns="0" tIns="0" bIns="0" anchor="t">
            <a:spAutoFit/>
          </a:bodyPr>
          <a:lstStyle/>
          <a:p>
            <a:pPr algn="l">
              <a:lnSpc>
                <a:spcPct val="116000"/>
              </a:lnSpc>
            </a:pPr>
            <a:r>
              <a:rPr sz="1050" b="0">
                <a:solidFill>
                  <a:srgbClr val="5B6472"/>
                </a:solidFill>
                <a:latin typeface="Segoe UI"/>
              </a:rPr>
              <a:t>Splits the recording into speaker turns and labels them SPEAKER_00, SPEAKER_01 and so on. It does not know who those people are - only that they are different.</a:t>
            </a:r>
          </a:p>
        </p:txBody>
      </p:sp>
      <p:sp>
        <p:nvSpPr>
          <p:cNvPr id="16" name="Chevron 15"/>
          <p:cNvSpPr/>
          <p:nvPr/>
        </p:nvSpPr>
        <p:spPr>
          <a:xfrm>
            <a:off x="3232404" y="3145536"/>
            <a:ext cx="201168" cy="274320"/>
          </a:xfrm>
          <a:prstGeom prst="chevron">
            <a:avLst/>
          </a:prstGeom>
          <a:solidFill>
            <a:srgbClr val="B9CB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19856" y="1719072"/>
            <a:ext cx="2587752" cy="3127248"/>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419856" y="1719072"/>
            <a:ext cx="2587752" cy="45720"/>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639312" y="1956816"/>
            <a:ext cx="310896" cy="310896"/>
          </a:xfrm>
          <a:prstGeom prst="ellipse">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39312" y="1956816"/>
            <a:ext cx="310896" cy="310896"/>
          </a:xfrm>
          <a:prstGeom prst="rect">
            <a:avLst/>
          </a:prstGeom>
          <a:noFill/>
        </p:spPr>
        <p:txBody>
          <a:bodyPr wrap="square" lIns="0" rIns="0" tIns="0" bIns="0" anchor="ctr">
            <a:spAutoFit/>
          </a:bodyPr>
          <a:lstStyle/>
          <a:p>
            <a:pPr algn="ctr">
              <a:lnSpc>
                <a:spcPct val="115000"/>
              </a:lnSpc>
            </a:pPr>
            <a:r>
              <a:rPr sz="1200" b="1">
                <a:solidFill>
                  <a:srgbClr val="1D5BD6"/>
                </a:solidFill>
                <a:latin typeface="Segoe UI"/>
              </a:rPr>
              <a:t>2</a:t>
            </a:r>
          </a:p>
        </p:txBody>
      </p:sp>
      <p:sp>
        <p:nvSpPr>
          <p:cNvPr id="21" name="TextBox 20"/>
          <p:cNvSpPr txBox="1"/>
          <p:nvPr/>
        </p:nvSpPr>
        <p:spPr>
          <a:xfrm>
            <a:off x="3639312" y="2395728"/>
            <a:ext cx="2148840" cy="640080"/>
          </a:xfrm>
          <a:prstGeom prst="rect">
            <a:avLst/>
          </a:prstGeom>
          <a:noFill/>
        </p:spPr>
        <p:txBody>
          <a:bodyPr wrap="square" lIns="0" rIns="0" tIns="0" bIns="0" anchor="t">
            <a:spAutoFit/>
          </a:bodyPr>
          <a:lstStyle/>
          <a:p>
            <a:pPr algn="l">
              <a:lnSpc>
                <a:spcPct val="114000"/>
              </a:lnSpc>
            </a:pPr>
            <a:r>
              <a:rPr sz="1400" b="1">
                <a:solidFill>
                  <a:srgbClr val="141B2B"/>
                </a:solidFill>
                <a:latin typeface="Segoe UI"/>
              </a:rPr>
              <a:t>Speech to text</a:t>
            </a:r>
          </a:p>
          <a:p>
            <a:pPr algn="l">
              <a:lnSpc>
                <a:spcPct val="114000"/>
              </a:lnSpc>
              <a:spcBef>
                <a:spcPts val="300"/>
              </a:spcBef>
            </a:pPr>
            <a:r>
              <a:rPr sz="1150" b="0">
                <a:solidFill>
                  <a:srgbClr val="5B6472"/>
                </a:solidFill>
                <a:latin typeface="Segoe UI"/>
              </a:rPr>
              <a:t>What was said?</a:t>
            </a:r>
          </a:p>
        </p:txBody>
      </p:sp>
      <p:sp>
        <p:nvSpPr>
          <p:cNvPr id="22" name="Rectangle 21"/>
          <p:cNvSpPr/>
          <p:nvPr/>
        </p:nvSpPr>
        <p:spPr>
          <a:xfrm>
            <a:off x="3639312" y="3017520"/>
            <a:ext cx="21488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39312" y="3145536"/>
            <a:ext cx="2148840" cy="548640"/>
          </a:xfrm>
          <a:prstGeom prst="rect">
            <a:avLst/>
          </a:prstGeom>
          <a:noFill/>
        </p:spPr>
        <p:txBody>
          <a:bodyPr wrap="square" lIns="0" rIns="0" tIns="0" bIns="0" anchor="t">
            <a:spAutoFit/>
          </a:bodyPr>
          <a:lstStyle/>
          <a:p>
            <a:pPr algn="l">
              <a:lnSpc>
                <a:spcPct val="114000"/>
              </a:lnSpc>
            </a:pPr>
            <a:r>
              <a:rPr sz="1250" b="1">
                <a:solidFill>
                  <a:srgbClr val="1D5BD6"/>
                </a:solidFill>
                <a:latin typeface="Segoe UI"/>
              </a:rPr>
              <a:t>faster-whisper</a:t>
            </a:r>
          </a:p>
        </p:txBody>
      </p:sp>
      <p:sp>
        <p:nvSpPr>
          <p:cNvPr id="24" name="TextBox 23"/>
          <p:cNvSpPr txBox="1"/>
          <p:nvPr/>
        </p:nvSpPr>
        <p:spPr>
          <a:xfrm>
            <a:off x="3639312" y="3712464"/>
            <a:ext cx="2148840" cy="1005840"/>
          </a:xfrm>
          <a:prstGeom prst="rect">
            <a:avLst/>
          </a:prstGeom>
          <a:noFill/>
        </p:spPr>
        <p:txBody>
          <a:bodyPr wrap="square" lIns="0" rIns="0" tIns="0" bIns="0" anchor="t">
            <a:spAutoFit/>
          </a:bodyPr>
          <a:lstStyle/>
          <a:p>
            <a:pPr algn="l">
              <a:lnSpc>
                <a:spcPct val="116000"/>
              </a:lnSpc>
            </a:pPr>
            <a:r>
              <a:rPr sz="1050" b="0">
                <a:solidFill>
                  <a:srgbClr val="5B6472"/>
                </a:solidFill>
                <a:latin typeface="Segoe UI"/>
              </a:rPr>
              <a:t>Transcribes the audio with word-level timestamps. Silence filtering is deliberately switched off, so short or quiet bystander speech is not skipped before it can be checked.</a:t>
            </a:r>
          </a:p>
        </p:txBody>
      </p:sp>
      <p:sp>
        <p:nvSpPr>
          <p:cNvPr id="25" name="Chevron 24"/>
          <p:cNvSpPr/>
          <p:nvPr/>
        </p:nvSpPr>
        <p:spPr>
          <a:xfrm>
            <a:off x="5993892" y="3145536"/>
            <a:ext cx="201168" cy="274320"/>
          </a:xfrm>
          <a:prstGeom prst="chevron">
            <a:avLst/>
          </a:prstGeom>
          <a:solidFill>
            <a:srgbClr val="B9CB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81344" y="1719072"/>
            <a:ext cx="2587752" cy="3127248"/>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81344" y="1719072"/>
            <a:ext cx="2587752" cy="45720"/>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400800" y="1956816"/>
            <a:ext cx="310896" cy="310896"/>
          </a:xfrm>
          <a:prstGeom prst="ellipse">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0" y="1956816"/>
            <a:ext cx="310896" cy="310896"/>
          </a:xfrm>
          <a:prstGeom prst="rect">
            <a:avLst/>
          </a:prstGeom>
          <a:noFill/>
        </p:spPr>
        <p:txBody>
          <a:bodyPr wrap="square" lIns="0" rIns="0" tIns="0" bIns="0" anchor="ctr">
            <a:spAutoFit/>
          </a:bodyPr>
          <a:lstStyle/>
          <a:p>
            <a:pPr algn="ctr">
              <a:lnSpc>
                <a:spcPct val="115000"/>
              </a:lnSpc>
            </a:pPr>
            <a:r>
              <a:rPr sz="1200" b="1">
                <a:solidFill>
                  <a:srgbClr val="1D5BD6"/>
                </a:solidFill>
                <a:latin typeface="Segoe UI"/>
              </a:rPr>
              <a:t>3</a:t>
            </a:r>
          </a:p>
        </p:txBody>
      </p:sp>
      <p:sp>
        <p:nvSpPr>
          <p:cNvPr id="30" name="TextBox 29"/>
          <p:cNvSpPr txBox="1"/>
          <p:nvPr/>
        </p:nvSpPr>
        <p:spPr>
          <a:xfrm>
            <a:off x="6400800" y="2395728"/>
            <a:ext cx="2148840" cy="640080"/>
          </a:xfrm>
          <a:prstGeom prst="rect">
            <a:avLst/>
          </a:prstGeom>
          <a:noFill/>
        </p:spPr>
        <p:txBody>
          <a:bodyPr wrap="square" lIns="0" rIns="0" tIns="0" bIns="0" anchor="t">
            <a:spAutoFit/>
          </a:bodyPr>
          <a:lstStyle/>
          <a:p>
            <a:pPr algn="l">
              <a:lnSpc>
                <a:spcPct val="114000"/>
              </a:lnSpc>
            </a:pPr>
            <a:r>
              <a:rPr sz="1400" b="1">
                <a:solidFill>
                  <a:srgbClr val="141B2B"/>
                </a:solidFill>
                <a:latin typeface="Segoe UI"/>
              </a:rPr>
              <a:t>Speaker ID</a:t>
            </a:r>
          </a:p>
          <a:p>
            <a:pPr algn="l">
              <a:lnSpc>
                <a:spcPct val="114000"/>
              </a:lnSpc>
              <a:spcBef>
                <a:spcPts val="300"/>
              </a:spcBef>
            </a:pPr>
            <a:r>
              <a:rPr sz="1150" b="0">
                <a:solidFill>
                  <a:srgbClr val="5B6472"/>
                </a:solidFill>
                <a:latin typeface="Segoe UI"/>
              </a:rPr>
              <a:t>Whose voice is this?</a:t>
            </a:r>
          </a:p>
        </p:txBody>
      </p:sp>
      <p:sp>
        <p:nvSpPr>
          <p:cNvPr id="31" name="Rectangle 30"/>
          <p:cNvSpPr/>
          <p:nvPr/>
        </p:nvSpPr>
        <p:spPr>
          <a:xfrm>
            <a:off x="6400800" y="3017520"/>
            <a:ext cx="21488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0" y="3145536"/>
            <a:ext cx="2148840" cy="548640"/>
          </a:xfrm>
          <a:prstGeom prst="rect">
            <a:avLst/>
          </a:prstGeom>
          <a:noFill/>
        </p:spPr>
        <p:txBody>
          <a:bodyPr wrap="square" lIns="0" rIns="0" tIns="0" bIns="0" anchor="t">
            <a:spAutoFit/>
          </a:bodyPr>
          <a:lstStyle/>
          <a:p>
            <a:pPr algn="l">
              <a:lnSpc>
                <a:spcPct val="114000"/>
              </a:lnSpc>
            </a:pPr>
            <a:r>
              <a:rPr sz="1250" b="1">
                <a:solidFill>
                  <a:srgbClr val="1D5BD6"/>
                </a:solidFill>
                <a:latin typeface="Segoe UI"/>
              </a:rPr>
              <a:t>SpeechBrain ECAPA-TDNN</a:t>
            </a:r>
          </a:p>
        </p:txBody>
      </p:sp>
      <p:sp>
        <p:nvSpPr>
          <p:cNvPr id="33" name="TextBox 32"/>
          <p:cNvSpPr txBox="1"/>
          <p:nvPr/>
        </p:nvSpPr>
        <p:spPr>
          <a:xfrm>
            <a:off x="6400800" y="3712464"/>
            <a:ext cx="2148840" cy="1005840"/>
          </a:xfrm>
          <a:prstGeom prst="rect">
            <a:avLst/>
          </a:prstGeom>
          <a:noFill/>
        </p:spPr>
        <p:txBody>
          <a:bodyPr wrap="square" lIns="0" rIns="0" tIns="0" bIns="0" anchor="t">
            <a:spAutoFit/>
          </a:bodyPr>
          <a:lstStyle/>
          <a:p>
            <a:pPr algn="l">
              <a:lnSpc>
                <a:spcPct val="116000"/>
              </a:lnSpc>
            </a:pPr>
            <a:r>
              <a:rPr sz="1050" b="0">
                <a:solidFill>
                  <a:srgbClr val="5B6472"/>
                </a:solidFill>
                <a:latin typeface="Segoe UI"/>
              </a:rPr>
              <a:t>Turns each speaker's audio into a fingerprint of 192 numbers. It produces the number only - it does not compare it to anybody.</a:t>
            </a:r>
          </a:p>
        </p:txBody>
      </p:sp>
      <p:sp>
        <p:nvSpPr>
          <p:cNvPr id="34" name="Chevron 33"/>
          <p:cNvSpPr/>
          <p:nvPr/>
        </p:nvSpPr>
        <p:spPr>
          <a:xfrm>
            <a:off x="8755380" y="3145536"/>
            <a:ext cx="201168" cy="274320"/>
          </a:xfrm>
          <a:prstGeom prst="chevron">
            <a:avLst/>
          </a:prstGeom>
          <a:solidFill>
            <a:srgbClr val="B9CB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942832" y="1719072"/>
            <a:ext cx="2587752" cy="3127248"/>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942832" y="1719072"/>
            <a:ext cx="2587752" cy="45720"/>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9162288" y="1956816"/>
            <a:ext cx="310896" cy="310896"/>
          </a:xfrm>
          <a:prstGeom prst="ellipse">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62288" y="1956816"/>
            <a:ext cx="310896" cy="310896"/>
          </a:xfrm>
          <a:prstGeom prst="rect">
            <a:avLst/>
          </a:prstGeom>
          <a:noFill/>
        </p:spPr>
        <p:txBody>
          <a:bodyPr wrap="square" lIns="0" rIns="0" tIns="0" bIns="0" anchor="ctr">
            <a:spAutoFit/>
          </a:bodyPr>
          <a:lstStyle/>
          <a:p>
            <a:pPr algn="ctr">
              <a:lnSpc>
                <a:spcPct val="115000"/>
              </a:lnSpc>
            </a:pPr>
            <a:r>
              <a:rPr sz="1200" b="1">
                <a:solidFill>
                  <a:srgbClr val="1D5BD6"/>
                </a:solidFill>
                <a:latin typeface="Segoe UI"/>
              </a:rPr>
              <a:t>4</a:t>
            </a:r>
          </a:p>
        </p:txBody>
      </p:sp>
      <p:sp>
        <p:nvSpPr>
          <p:cNvPr id="39" name="TextBox 38"/>
          <p:cNvSpPr txBox="1"/>
          <p:nvPr/>
        </p:nvSpPr>
        <p:spPr>
          <a:xfrm>
            <a:off x="9162288" y="2395728"/>
            <a:ext cx="2148840" cy="640080"/>
          </a:xfrm>
          <a:prstGeom prst="rect">
            <a:avLst/>
          </a:prstGeom>
          <a:noFill/>
        </p:spPr>
        <p:txBody>
          <a:bodyPr wrap="square" lIns="0" rIns="0" tIns="0" bIns="0" anchor="t">
            <a:spAutoFit/>
          </a:bodyPr>
          <a:lstStyle/>
          <a:p>
            <a:pPr algn="l">
              <a:lnSpc>
                <a:spcPct val="114000"/>
              </a:lnSpc>
            </a:pPr>
            <a:r>
              <a:rPr sz="1400" b="1">
                <a:solidFill>
                  <a:srgbClr val="141B2B"/>
                </a:solidFill>
                <a:latin typeface="Segoe UI"/>
              </a:rPr>
              <a:t>Text PII</a:t>
            </a:r>
          </a:p>
          <a:p>
            <a:pPr algn="l">
              <a:lnSpc>
                <a:spcPct val="114000"/>
              </a:lnSpc>
              <a:spcBef>
                <a:spcPts val="300"/>
              </a:spcBef>
            </a:pPr>
            <a:r>
              <a:rPr sz="1150" b="0">
                <a:solidFill>
                  <a:srgbClr val="5B6472"/>
                </a:solidFill>
                <a:latin typeface="Segoe UI"/>
              </a:rPr>
              <a:t>Which words are personal?</a:t>
            </a:r>
          </a:p>
        </p:txBody>
      </p:sp>
      <p:sp>
        <p:nvSpPr>
          <p:cNvPr id="40" name="Rectangle 39"/>
          <p:cNvSpPr/>
          <p:nvPr/>
        </p:nvSpPr>
        <p:spPr>
          <a:xfrm>
            <a:off x="9162288" y="3017520"/>
            <a:ext cx="21488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62288" y="3145536"/>
            <a:ext cx="2148840" cy="548640"/>
          </a:xfrm>
          <a:prstGeom prst="rect">
            <a:avLst/>
          </a:prstGeom>
          <a:noFill/>
        </p:spPr>
        <p:txBody>
          <a:bodyPr wrap="square" lIns="0" rIns="0" tIns="0" bIns="0" anchor="t">
            <a:spAutoFit/>
          </a:bodyPr>
          <a:lstStyle/>
          <a:p>
            <a:pPr algn="l">
              <a:lnSpc>
                <a:spcPct val="114000"/>
              </a:lnSpc>
            </a:pPr>
            <a:r>
              <a:rPr sz="1250" b="1">
                <a:solidFill>
                  <a:srgbClr val="1D5BD6"/>
                </a:solidFill>
                <a:latin typeface="Segoe UI"/>
              </a:rPr>
              <a:t>Presidio + spaCy</a:t>
            </a:r>
          </a:p>
        </p:txBody>
      </p:sp>
      <p:sp>
        <p:nvSpPr>
          <p:cNvPr id="42" name="TextBox 41"/>
          <p:cNvSpPr txBox="1"/>
          <p:nvPr/>
        </p:nvSpPr>
        <p:spPr>
          <a:xfrm>
            <a:off x="9162288" y="3712464"/>
            <a:ext cx="2148840" cy="1005840"/>
          </a:xfrm>
          <a:prstGeom prst="rect">
            <a:avLst/>
          </a:prstGeom>
          <a:noFill/>
        </p:spPr>
        <p:txBody>
          <a:bodyPr wrap="square" lIns="0" rIns="0" tIns="0" bIns="0" anchor="t">
            <a:spAutoFit/>
          </a:bodyPr>
          <a:lstStyle/>
          <a:p>
            <a:pPr algn="l">
              <a:lnSpc>
                <a:spcPct val="116000"/>
              </a:lnSpc>
            </a:pPr>
            <a:r>
              <a:rPr sz="1050" b="0">
                <a:solidFill>
                  <a:srgbClr val="5B6472"/>
                </a:solidFill>
                <a:latin typeface="Segoe UI"/>
              </a:rPr>
              <a:t>Finds names, phone numbers, emails, card numbers, dates and addresses in the transcript, then maps them back onto the audio timeline as intervals to mute.</a:t>
            </a:r>
          </a:p>
        </p:txBody>
      </p:sp>
      <p:sp>
        <p:nvSpPr>
          <p:cNvPr id="43" name="Rectangle 42"/>
          <p:cNvSpPr/>
          <p:nvPr/>
        </p:nvSpPr>
        <p:spPr>
          <a:xfrm>
            <a:off x="658368" y="5138928"/>
            <a:ext cx="10881360" cy="731520"/>
          </a:xfrm>
          <a:prstGeom prst="rect">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60120" y="5138928"/>
            <a:ext cx="10332720" cy="731520"/>
          </a:xfrm>
          <a:prstGeom prst="rect">
            <a:avLst/>
          </a:prstGeom>
          <a:noFill/>
        </p:spPr>
        <p:txBody>
          <a:bodyPr wrap="square" lIns="0" rIns="0" tIns="0" bIns="0" anchor="ctr">
            <a:spAutoFit/>
          </a:bodyPr>
          <a:lstStyle/>
          <a:p>
            <a:pPr algn="l">
              <a:lnSpc>
                <a:spcPct val="115000"/>
              </a:lnSpc>
            </a:pPr>
            <a:r>
              <a:rPr sz="1250" b="1">
                <a:solidFill>
                  <a:srgbClr val="14398C"/>
                </a:solidFill>
                <a:latin typeface="Segoe UI"/>
              </a:rPr>
              <a:t>The worker never decides who anyone is. It hands back turns, text and fingerprints; the backend matches the fingerprints against enrolled voices and joins that to the consent record - so identity is decided in exactly one place.</a:t>
            </a:r>
          </a:p>
        </p:txBody>
      </p:sp>
      <p:sp>
        <p:nvSpPr>
          <p:cNvPr id="45" name="TextBox 44"/>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46" name="TextBox 45"/>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MODEL COMPARISON</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Model choice - separating speakers and reading speech</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316736"/>
            <a:ext cx="10881360" cy="274320"/>
          </a:xfrm>
          <a:prstGeom prst="rect">
            <a:avLst/>
          </a:prstGeom>
          <a:noFill/>
        </p:spPr>
        <p:txBody>
          <a:bodyPr wrap="square" lIns="0" rIns="0" tIns="0" bIns="0" anchor="t">
            <a:spAutoFit/>
          </a:bodyPr>
          <a:lstStyle/>
          <a:p>
            <a:pPr algn="l">
              <a:lnSpc>
                <a:spcPct val="115000"/>
              </a:lnSpc>
            </a:pPr>
            <a:r>
              <a:rPr sz="1200" b="0">
                <a:solidFill>
                  <a:srgbClr val="5B6472"/>
                </a:solidFill>
                <a:latin typeface="Segoe UI"/>
              </a:rPr>
              <a:t>Used to split a recording by speaker, identify who is speaking, and find personal details said out loud.</a:t>
            </a:r>
          </a:p>
        </p:txBody>
      </p:sp>
      <p:sp>
        <p:nvSpPr>
          <p:cNvPr id="8" name="Rectangle 7"/>
          <p:cNvSpPr/>
          <p:nvPr/>
        </p:nvSpPr>
        <p:spPr>
          <a:xfrm>
            <a:off x="658368" y="1719072"/>
            <a:ext cx="3840480" cy="457200"/>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719072"/>
            <a:ext cx="3602736" cy="457200"/>
          </a:xfrm>
          <a:prstGeom prst="rect">
            <a:avLst/>
          </a:prstGeom>
          <a:noFill/>
        </p:spPr>
        <p:txBody>
          <a:bodyPr wrap="square" lIns="0" rIns="0" tIns="0" bIns="0" anchor="ctr">
            <a:spAutoFit/>
          </a:bodyPr>
          <a:lstStyle/>
          <a:p>
            <a:pPr algn="l">
              <a:lnSpc>
                <a:spcPct val="115000"/>
              </a:lnSpc>
            </a:pPr>
            <a:r>
              <a:rPr sz="1150" b="1">
                <a:solidFill>
                  <a:srgbClr val="FFFFFF"/>
                </a:solidFill>
                <a:latin typeface="Segoe UI"/>
              </a:rPr>
              <a:t>Model / tool</a:t>
            </a:r>
          </a:p>
        </p:txBody>
      </p:sp>
      <p:sp>
        <p:nvSpPr>
          <p:cNvPr id="10" name="Rectangle 9"/>
          <p:cNvSpPr/>
          <p:nvPr/>
        </p:nvSpPr>
        <p:spPr>
          <a:xfrm>
            <a:off x="4498848" y="1719072"/>
            <a:ext cx="2194560" cy="457200"/>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719072"/>
            <a:ext cx="1956816" cy="457200"/>
          </a:xfrm>
          <a:prstGeom prst="rect">
            <a:avLst/>
          </a:prstGeom>
          <a:noFill/>
        </p:spPr>
        <p:txBody>
          <a:bodyPr wrap="square" lIns="0" rIns="0" tIns="0" bIns="0" anchor="ctr">
            <a:spAutoFit/>
          </a:bodyPr>
          <a:lstStyle/>
          <a:p>
            <a:pPr algn="l">
              <a:lnSpc>
                <a:spcPct val="115000"/>
              </a:lnSpc>
            </a:pPr>
            <a:r>
              <a:rPr sz="1150" b="1">
                <a:solidFill>
                  <a:srgbClr val="FFFFFF"/>
                </a:solidFill>
                <a:latin typeface="Segoe UI"/>
              </a:rPr>
              <a:t>Audio accuracy</a:t>
            </a:r>
          </a:p>
        </p:txBody>
      </p:sp>
      <p:sp>
        <p:nvSpPr>
          <p:cNvPr id="12" name="Rectangle 11"/>
          <p:cNvSpPr/>
          <p:nvPr/>
        </p:nvSpPr>
        <p:spPr>
          <a:xfrm>
            <a:off x="6693408" y="1719072"/>
            <a:ext cx="2103120" cy="457200"/>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12280" y="1719072"/>
            <a:ext cx="1865376" cy="457200"/>
          </a:xfrm>
          <a:prstGeom prst="rect">
            <a:avLst/>
          </a:prstGeom>
          <a:noFill/>
        </p:spPr>
        <p:txBody>
          <a:bodyPr wrap="square" lIns="0" rIns="0" tIns="0" bIns="0" anchor="ctr">
            <a:spAutoFit/>
          </a:bodyPr>
          <a:lstStyle/>
          <a:p>
            <a:pPr algn="l">
              <a:lnSpc>
                <a:spcPct val="115000"/>
              </a:lnSpc>
            </a:pPr>
            <a:r>
              <a:rPr sz="1150" b="1">
                <a:solidFill>
                  <a:srgbClr val="FFFFFF"/>
                </a:solidFill>
                <a:latin typeface="Segoe UI"/>
              </a:rPr>
              <a:t>CPU speed</a:t>
            </a:r>
          </a:p>
        </p:txBody>
      </p:sp>
      <p:sp>
        <p:nvSpPr>
          <p:cNvPr id="14" name="Rectangle 13"/>
          <p:cNvSpPr/>
          <p:nvPr/>
        </p:nvSpPr>
        <p:spPr>
          <a:xfrm>
            <a:off x="8796528" y="1719072"/>
            <a:ext cx="2743200" cy="457200"/>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15400" y="1719072"/>
            <a:ext cx="2505456" cy="457200"/>
          </a:xfrm>
          <a:prstGeom prst="rect">
            <a:avLst/>
          </a:prstGeom>
          <a:noFill/>
        </p:spPr>
        <p:txBody>
          <a:bodyPr wrap="square" lIns="0" rIns="0" tIns="0" bIns="0" anchor="ctr">
            <a:spAutoFit/>
          </a:bodyPr>
          <a:lstStyle/>
          <a:p>
            <a:pPr algn="l">
              <a:lnSpc>
                <a:spcPct val="115000"/>
              </a:lnSpc>
            </a:pPr>
            <a:r>
              <a:rPr sz="1150" b="1">
                <a:solidFill>
                  <a:srgbClr val="FFFFFF"/>
                </a:solidFill>
                <a:latin typeface="Segoe UI"/>
              </a:rPr>
              <a:t>Resource footprint</a:t>
            </a:r>
          </a:p>
        </p:txBody>
      </p:sp>
      <p:sp>
        <p:nvSpPr>
          <p:cNvPr id="16" name="Rectangle 15"/>
          <p:cNvSpPr/>
          <p:nvPr/>
        </p:nvSpPr>
        <p:spPr>
          <a:xfrm>
            <a:off x="658368" y="2176272"/>
            <a:ext cx="3840480" cy="640080"/>
          </a:xfrm>
          <a:prstGeom prst="rect">
            <a:avLst/>
          </a:prstGeom>
          <a:solidFill>
            <a:srgbClr val="E8EFFC"/>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176272"/>
            <a:ext cx="3602736" cy="640080"/>
          </a:xfrm>
          <a:prstGeom prst="rect">
            <a:avLst/>
          </a:prstGeom>
          <a:noFill/>
        </p:spPr>
        <p:txBody>
          <a:bodyPr wrap="square" lIns="0" rIns="0" tIns="0" bIns="0" anchor="ctr">
            <a:spAutoFit/>
          </a:bodyPr>
          <a:lstStyle/>
          <a:p>
            <a:pPr algn="l">
              <a:lnSpc>
                <a:spcPct val="108000"/>
              </a:lnSpc>
            </a:pPr>
            <a:r>
              <a:rPr sz="1200" b="1">
                <a:solidFill>
                  <a:srgbClr val="141B2B"/>
                </a:solidFill>
                <a:latin typeface="Segoe UI"/>
              </a:rPr>
              <a:t>PyAnnote 3.1 + Faster-Whisper + SpeechBrain</a:t>
            </a:r>
          </a:p>
        </p:txBody>
      </p:sp>
      <p:sp>
        <p:nvSpPr>
          <p:cNvPr id="18" name="Rectangle 17"/>
          <p:cNvSpPr/>
          <p:nvPr/>
        </p:nvSpPr>
        <p:spPr>
          <a:xfrm>
            <a:off x="4498848" y="2176272"/>
            <a:ext cx="2194560" cy="640080"/>
          </a:xfrm>
          <a:prstGeom prst="rect">
            <a:avLst/>
          </a:prstGeom>
          <a:solidFill>
            <a:srgbClr val="E8EFFC"/>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17720" y="2176272"/>
            <a:ext cx="1956816" cy="640080"/>
          </a:xfrm>
          <a:prstGeom prst="rect">
            <a:avLst/>
          </a:prstGeom>
          <a:noFill/>
        </p:spPr>
        <p:txBody>
          <a:bodyPr wrap="square" lIns="0" rIns="0" tIns="0" bIns="0" anchor="ctr">
            <a:spAutoFit/>
          </a:bodyPr>
          <a:lstStyle/>
          <a:p>
            <a:pPr algn="l">
              <a:lnSpc>
                <a:spcPct val="108000"/>
              </a:lnSpc>
            </a:pPr>
            <a:r>
              <a:rPr sz="1200" b="1">
                <a:solidFill>
                  <a:srgbClr val="141B2B"/>
                </a:solidFill>
                <a:latin typeface="Segoe UI"/>
              </a:rPr>
              <a:t>High</a:t>
            </a:r>
          </a:p>
        </p:txBody>
      </p:sp>
      <p:sp>
        <p:nvSpPr>
          <p:cNvPr id="20" name="Rectangle 19"/>
          <p:cNvSpPr/>
          <p:nvPr/>
        </p:nvSpPr>
        <p:spPr>
          <a:xfrm>
            <a:off x="6693408" y="2176272"/>
            <a:ext cx="2103120" cy="640080"/>
          </a:xfrm>
          <a:prstGeom prst="rect">
            <a:avLst/>
          </a:prstGeom>
          <a:solidFill>
            <a:srgbClr val="E8EFFC"/>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12280" y="2176272"/>
            <a:ext cx="1865376" cy="640080"/>
          </a:xfrm>
          <a:prstGeom prst="rect">
            <a:avLst/>
          </a:prstGeom>
          <a:noFill/>
        </p:spPr>
        <p:txBody>
          <a:bodyPr wrap="square" lIns="0" rIns="0" tIns="0" bIns="0" anchor="ctr">
            <a:spAutoFit/>
          </a:bodyPr>
          <a:lstStyle/>
          <a:p>
            <a:pPr algn="l">
              <a:lnSpc>
                <a:spcPct val="108000"/>
              </a:lnSpc>
            </a:pPr>
            <a:r>
              <a:rPr sz="1200" b="1">
                <a:solidFill>
                  <a:srgbClr val="141B2B"/>
                </a:solidFill>
                <a:latin typeface="Segoe UI"/>
              </a:rPr>
              <a:t>Fast</a:t>
            </a:r>
          </a:p>
        </p:txBody>
      </p:sp>
      <p:sp>
        <p:nvSpPr>
          <p:cNvPr id="22" name="Rectangle 21"/>
          <p:cNvSpPr/>
          <p:nvPr/>
        </p:nvSpPr>
        <p:spPr>
          <a:xfrm>
            <a:off x="8796528" y="2176272"/>
            <a:ext cx="2743200" cy="640080"/>
          </a:xfrm>
          <a:prstGeom prst="rect">
            <a:avLst/>
          </a:prstGeom>
          <a:solidFill>
            <a:srgbClr val="E8EFFC"/>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15400" y="2176272"/>
            <a:ext cx="2505456" cy="640080"/>
          </a:xfrm>
          <a:prstGeom prst="rect">
            <a:avLst/>
          </a:prstGeom>
          <a:noFill/>
        </p:spPr>
        <p:txBody>
          <a:bodyPr wrap="square" lIns="0" rIns="0" tIns="0" bIns="0" anchor="ctr">
            <a:spAutoFit/>
          </a:bodyPr>
          <a:lstStyle/>
          <a:p>
            <a:pPr algn="l">
              <a:lnSpc>
                <a:spcPct val="108000"/>
              </a:lnSpc>
            </a:pPr>
            <a:r>
              <a:rPr sz="1200" b="1">
                <a:solidFill>
                  <a:srgbClr val="141B2B"/>
                </a:solidFill>
                <a:latin typeface="Segoe UI"/>
              </a:rPr>
              <a:t>Moderate (CTranslate2 optimised)</a:t>
            </a:r>
          </a:p>
        </p:txBody>
      </p:sp>
      <p:sp>
        <p:nvSpPr>
          <p:cNvPr id="24" name="Rectangle 23"/>
          <p:cNvSpPr/>
          <p:nvPr/>
        </p:nvSpPr>
        <p:spPr>
          <a:xfrm>
            <a:off x="658368" y="2176272"/>
            <a:ext cx="50292" cy="640080"/>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368" y="2816352"/>
            <a:ext cx="3840480" cy="640080"/>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2816352"/>
            <a:ext cx="3602736" cy="640080"/>
          </a:xfrm>
          <a:prstGeom prst="rect">
            <a:avLst/>
          </a:prstGeom>
          <a:noFill/>
        </p:spPr>
        <p:txBody>
          <a:bodyPr wrap="square" lIns="0" rIns="0" tIns="0" bIns="0" anchor="ctr">
            <a:spAutoFit/>
          </a:bodyPr>
          <a:lstStyle/>
          <a:p>
            <a:pPr algn="l">
              <a:lnSpc>
                <a:spcPct val="108000"/>
              </a:lnSpc>
            </a:pPr>
            <a:r>
              <a:rPr sz="1200" b="0">
                <a:solidFill>
                  <a:srgbClr val="141B2B"/>
                </a:solidFill>
                <a:latin typeface="Segoe UI"/>
              </a:rPr>
              <a:t>OpenAI Whisper (original PyTorch)</a:t>
            </a:r>
          </a:p>
        </p:txBody>
      </p:sp>
      <p:sp>
        <p:nvSpPr>
          <p:cNvPr id="27" name="Rectangle 26"/>
          <p:cNvSpPr/>
          <p:nvPr/>
        </p:nvSpPr>
        <p:spPr>
          <a:xfrm>
            <a:off x="4498848" y="2816352"/>
            <a:ext cx="2194560" cy="640080"/>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17720" y="2816352"/>
            <a:ext cx="1956816" cy="640080"/>
          </a:xfrm>
          <a:prstGeom prst="rect">
            <a:avLst/>
          </a:prstGeom>
          <a:noFill/>
        </p:spPr>
        <p:txBody>
          <a:bodyPr wrap="square" lIns="0" rIns="0" tIns="0" bIns="0" anchor="ctr">
            <a:spAutoFit/>
          </a:bodyPr>
          <a:lstStyle/>
          <a:p>
            <a:pPr algn="l">
              <a:lnSpc>
                <a:spcPct val="108000"/>
              </a:lnSpc>
            </a:pPr>
            <a:r>
              <a:rPr sz="1200" b="0">
                <a:solidFill>
                  <a:srgbClr val="141B2B"/>
                </a:solidFill>
                <a:latin typeface="Segoe UI"/>
              </a:rPr>
              <a:t>High</a:t>
            </a:r>
          </a:p>
        </p:txBody>
      </p:sp>
      <p:sp>
        <p:nvSpPr>
          <p:cNvPr id="29" name="Rectangle 28"/>
          <p:cNvSpPr/>
          <p:nvPr/>
        </p:nvSpPr>
        <p:spPr>
          <a:xfrm>
            <a:off x="6693408" y="2816352"/>
            <a:ext cx="2103120" cy="640080"/>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12280" y="2816352"/>
            <a:ext cx="1865376" cy="640080"/>
          </a:xfrm>
          <a:prstGeom prst="rect">
            <a:avLst/>
          </a:prstGeom>
          <a:noFill/>
        </p:spPr>
        <p:txBody>
          <a:bodyPr wrap="square" lIns="0" rIns="0" tIns="0" bIns="0" anchor="ctr">
            <a:spAutoFit/>
          </a:bodyPr>
          <a:lstStyle/>
          <a:p>
            <a:pPr algn="l">
              <a:lnSpc>
                <a:spcPct val="108000"/>
              </a:lnSpc>
            </a:pPr>
            <a:r>
              <a:rPr sz="1200" b="0">
                <a:solidFill>
                  <a:srgbClr val="141B2B"/>
                </a:solidFill>
                <a:latin typeface="Segoe UI"/>
              </a:rPr>
              <a:t>Slow on CPU</a:t>
            </a:r>
          </a:p>
        </p:txBody>
      </p:sp>
      <p:sp>
        <p:nvSpPr>
          <p:cNvPr id="31" name="Rectangle 30"/>
          <p:cNvSpPr/>
          <p:nvPr/>
        </p:nvSpPr>
        <p:spPr>
          <a:xfrm>
            <a:off x="8796528" y="2816352"/>
            <a:ext cx="2743200" cy="640080"/>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15400" y="2816352"/>
            <a:ext cx="2505456" cy="640080"/>
          </a:xfrm>
          <a:prstGeom prst="rect">
            <a:avLst/>
          </a:prstGeom>
          <a:noFill/>
        </p:spPr>
        <p:txBody>
          <a:bodyPr wrap="square" lIns="0" rIns="0" tIns="0" bIns="0" anchor="ctr">
            <a:spAutoFit/>
          </a:bodyPr>
          <a:lstStyle/>
          <a:p>
            <a:pPr algn="l">
              <a:lnSpc>
                <a:spcPct val="108000"/>
              </a:lnSpc>
            </a:pPr>
            <a:r>
              <a:rPr sz="1200" b="0">
                <a:solidFill>
                  <a:srgbClr val="141B2B"/>
                </a:solidFill>
                <a:latin typeface="Segoe UI"/>
              </a:rPr>
              <a:t>Heavy</a:t>
            </a:r>
          </a:p>
        </p:txBody>
      </p:sp>
      <p:sp>
        <p:nvSpPr>
          <p:cNvPr id="33" name="Rectangle 32"/>
          <p:cNvSpPr/>
          <p:nvPr/>
        </p:nvSpPr>
        <p:spPr>
          <a:xfrm>
            <a:off x="658368" y="3456432"/>
            <a:ext cx="3840480" cy="640080"/>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3456432"/>
            <a:ext cx="3602736" cy="640080"/>
          </a:xfrm>
          <a:prstGeom prst="rect">
            <a:avLst/>
          </a:prstGeom>
          <a:noFill/>
        </p:spPr>
        <p:txBody>
          <a:bodyPr wrap="square" lIns="0" rIns="0" tIns="0" bIns="0" anchor="ctr">
            <a:spAutoFit/>
          </a:bodyPr>
          <a:lstStyle/>
          <a:p>
            <a:pPr algn="l">
              <a:lnSpc>
                <a:spcPct val="108000"/>
              </a:lnSpc>
            </a:pPr>
            <a:r>
              <a:rPr sz="1200" b="0">
                <a:solidFill>
                  <a:srgbClr val="141B2B"/>
                </a:solidFill>
                <a:latin typeface="Segoe UI"/>
              </a:rPr>
              <a:t>PocketSphinx / Kaldi</a:t>
            </a:r>
          </a:p>
        </p:txBody>
      </p:sp>
      <p:sp>
        <p:nvSpPr>
          <p:cNvPr id="35" name="Rectangle 34"/>
          <p:cNvSpPr/>
          <p:nvPr/>
        </p:nvSpPr>
        <p:spPr>
          <a:xfrm>
            <a:off x="4498848" y="3456432"/>
            <a:ext cx="2194560" cy="640080"/>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617720" y="3456432"/>
            <a:ext cx="1956816" cy="640080"/>
          </a:xfrm>
          <a:prstGeom prst="rect">
            <a:avLst/>
          </a:prstGeom>
          <a:noFill/>
        </p:spPr>
        <p:txBody>
          <a:bodyPr wrap="square" lIns="0" rIns="0" tIns="0" bIns="0" anchor="ctr">
            <a:spAutoFit/>
          </a:bodyPr>
          <a:lstStyle/>
          <a:p>
            <a:pPr algn="l">
              <a:lnSpc>
                <a:spcPct val="108000"/>
              </a:lnSpc>
            </a:pPr>
            <a:r>
              <a:rPr sz="1200" b="0">
                <a:solidFill>
                  <a:srgbClr val="141B2B"/>
                </a:solidFill>
                <a:latin typeface="Segoe UI"/>
              </a:rPr>
              <a:t>Low</a:t>
            </a:r>
          </a:p>
        </p:txBody>
      </p:sp>
      <p:sp>
        <p:nvSpPr>
          <p:cNvPr id="37" name="Rectangle 36"/>
          <p:cNvSpPr/>
          <p:nvPr/>
        </p:nvSpPr>
        <p:spPr>
          <a:xfrm>
            <a:off x="6693408" y="3456432"/>
            <a:ext cx="2103120" cy="640080"/>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12280" y="3456432"/>
            <a:ext cx="1865376" cy="640080"/>
          </a:xfrm>
          <a:prstGeom prst="rect">
            <a:avLst/>
          </a:prstGeom>
          <a:noFill/>
        </p:spPr>
        <p:txBody>
          <a:bodyPr wrap="square" lIns="0" rIns="0" tIns="0" bIns="0" anchor="ctr">
            <a:spAutoFit/>
          </a:bodyPr>
          <a:lstStyle/>
          <a:p>
            <a:pPr algn="l">
              <a:lnSpc>
                <a:spcPct val="108000"/>
              </a:lnSpc>
            </a:pPr>
            <a:r>
              <a:rPr sz="1200" b="0">
                <a:solidFill>
                  <a:srgbClr val="141B2B"/>
                </a:solidFill>
                <a:latin typeface="Segoe UI"/>
              </a:rPr>
              <a:t>Extremely Fast</a:t>
            </a:r>
          </a:p>
        </p:txBody>
      </p:sp>
      <p:sp>
        <p:nvSpPr>
          <p:cNvPr id="39" name="Rectangle 38"/>
          <p:cNvSpPr/>
          <p:nvPr/>
        </p:nvSpPr>
        <p:spPr>
          <a:xfrm>
            <a:off x="8796528" y="3456432"/>
            <a:ext cx="2743200" cy="640080"/>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15400" y="3456432"/>
            <a:ext cx="2505456" cy="640080"/>
          </a:xfrm>
          <a:prstGeom prst="rect">
            <a:avLst/>
          </a:prstGeom>
          <a:noFill/>
        </p:spPr>
        <p:txBody>
          <a:bodyPr wrap="square" lIns="0" rIns="0" tIns="0" bIns="0" anchor="ctr">
            <a:spAutoFit/>
          </a:bodyPr>
          <a:lstStyle/>
          <a:p>
            <a:pPr algn="l">
              <a:lnSpc>
                <a:spcPct val="108000"/>
              </a:lnSpc>
            </a:pPr>
            <a:r>
              <a:rPr sz="1200" b="0">
                <a:solidFill>
                  <a:srgbClr val="141B2B"/>
                </a:solidFill>
                <a:latin typeface="Segoe UI"/>
              </a:rPr>
              <a:t>Very Low</a:t>
            </a:r>
          </a:p>
        </p:txBody>
      </p:sp>
      <p:sp>
        <p:nvSpPr>
          <p:cNvPr id="41" name="Rectangle 40"/>
          <p:cNvSpPr/>
          <p:nvPr/>
        </p:nvSpPr>
        <p:spPr>
          <a:xfrm>
            <a:off x="658368" y="4096512"/>
            <a:ext cx="3840480" cy="640080"/>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7240" y="4096512"/>
            <a:ext cx="3602736" cy="640080"/>
          </a:xfrm>
          <a:prstGeom prst="rect">
            <a:avLst/>
          </a:prstGeom>
          <a:noFill/>
        </p:spPr>
        <p:txBody>
          <a:bodyPr wrap="square" lIns="0" rIns="0" tIns="0" bIns="0" anchor="ctr">
            <a:spAutoFit/>
          </a:bodyPr>
          <a:lstStyle/>
          <a:p>
            <a:pPr algn="l">
              <a:lnSpc>
                <a:spcPct val="108000"/>
              </a:lnSpc>
            </a:pPr>
            <a:r>
              <a:rPr sz="1200" b="0">
                <a:solidFill>
                  <a:srgbClr val="141B2B"/>
                </a:solidFill>
                <a:latin typeface="Segoe UI"/>
              </a:rPr>
              <a:t>WavLM / Wav2Vec2 (speaker ID)</a:t>
            </a:r>
          </a:p>
        </p:txBody>
      </p:sp>
      <p:sp>
        <p:nvSpPr>
          <p:cNvPr id="43" name="Rectangle 42"/>
          <p:cNvSpPr/>
          <p:nvPr/>
        </p:nvSpPr>
        <p:spPr>
          <a:xfrm>
            <a:off x="4498848" y="4096512"/>
            <a:ext cx="2194560" cy="640080"/>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617720" y="4096512"/>
            <a:ext cx="1956816" cy="640080"/>
          </a:xfrm>
          <a:prstGeom prst="rect">
            <a:avLst/>
          </a:prstGeom>
          <a:noFill/>
        </p:spPr>
        <p:txBody>
          <a:bodyPr wrap="square" lIns="0" rIns="0" tIns="0" bIns="0" anchor="ctr">
            <a:spAutoFit/>
          </a:bodyPr>
          <a:lstStyle/>
          <a:p>
            <a:pPr algn="l">
              <a:lnSpc>
                <a:spcPct val="108000"/>
              </a:lnSpc>
            </a:pPr>
            <a:r>
              <a:rPr sz="1200" b="0">
                <a:solidFill>
                  <a:srgbClr val="141B2B"/>
                </a:solidFill>
                <a:latin typeface="Segoe UI"/>
              </a:rPr>
              <a:t>High</a:t>
            </a:r>
          </a:p>
        </p:txBody>
      </p:sp>
      <p:sp>
        <p:nvSpPr>
          <p:cNvPr id="45" name="Rectangle 44"/>
          <p:cNvSpPr/>
          <p:nvPr/>
        </p:nvSpPr>
        <p:spPr>
          <a:xfrm>
            <a:off x="6693408" y="4096512"/>
            <a:ext cx="2103120" cy="640080"/>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12280" y="4096512"/>
            <a:ext cx="1865376" cy="640080"/>
          </a:xfrm>
          <a:prstGeom prst="rect">
            <a:avLst/>
          </a:prstGeom>
          <a:noFill/>
        </p:spPr>
        <p:txBody>
          <a:bodyPr wrap="square" lIns="0" rIns="0" tIns="0" bIns="0" anchor="ctr">
            <a:spAutoFit/>
          </a:bodyPr>
          <a:lstStyle/>
          <a:p>
            <a:pPr algn="l">
              <a:lnSpc>
                <a:spcPct val="108000"/>
              </a:lnSpc>
            </a:pPr>
            <a:r>
              <a:rPr sz="1200" b="0">
                <a:solidFill>
                  <a:srgbClr val="141B2B"/>
                </a:solidFill>
                <a:latin typeface="Segoe UI"/>
              </a:rPr>
              <a:t>Slow on CPU</a:t>
            </a:r>
          </a:p>
        </p:txBody>
      </p:sp>
      <p:sp>
        <p:nvSpPr>
          <p:cNvPr id="47" name="Rectangle 46"/>
          <p:cNvSpPr/>
          <p:nvPr/>
        </p:nvSpPr>
        <p:spPr>
          <a:xfrm>
            <a:off x="8796528" y="4096512"/>
            <a:ext cx="2743200" cy="640080"/>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915400" y="4096512"/>
            <a:ext cx="2505456" cy="640080"/>
          </a:xfrm>
          <a:prstGeom prst="rect">
            <a:avLst/>
          </a:prstGeom>
          <a:noFill/>
        </p:spPr>
        <p:txBody>
          <a:bodyPr wrap="square" lIns="0" rIns="0" tIns="0" bIns="0" anchor="ctr">
            <a:spAutoFit/>
          </a:bodyPr>
          <a:lstStyle/>
          <a:p>
            <a:pPr algn="l">
              <a:lnSpc>
                <a:spcPct val="108000"/>
              </a:lnSpc>
            </a:pPr>
            <a:r>
              <a:rPr sz="1200" b="0">
                <a:solidFill>
                  <a:srgbClr val="141B2B"/>
                </a:solidFill>
                <a:latin typeface="Segoe UI"/>
              </a:rPr>
              <a:t>High</a:t>
            </a:r>
          </a:p>
        </p:txBody>
      </p:sp>
      <p:sp>
        <p:nvSpPr>
          <p:cNvPr id="49" name="Rectangle 48"/>
          <p:cNvSpPr/>
          <p:nvPr/>
        </p:nvSpPr>
        <p:spPr>
          <a:xfrm>
            <a:off x="658368" y="5047488"/>
            <a:ext cx="10881360" cy="731520"/>
          </a:xfrm>
          <a:prstGeom prst="rect">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60120" y="5047488"/>
            <a:ext cx="10332720" cy="731520"/>
          </a:xfrm>
          <a:prstGeom prst="rect">
            <a:avLst/>
          </a:prstGeom>
          <a:noFill/>
        </p:spPr>
        <p:txBody>
          <a:bodyPr wrap="square" lIns="0" rIns="0" tIns="0" bIns="0" anchor="ctr">
            <a:spAutoFit/>
          </a:bodyPr>
          <a:lstStyle/>
          <a:p>
            <a:pPr algn="l">
              <a:lnSpc>
                <a:spcPct val="115000"/>
              </a:lnSpc>
            </a:pPr>
            <a:r>
              <a:rPr sz="1250" b="1">
                <a:solidFill>
                  <a:srgbClr val="14398C"/>
                </a:solidFill>
                <a:latin typeface="Segoe UI"/>
              </a:rPr>
              <a:t>Chosen because CTranslate2 makes Whisper fast enough on a CPU without giving up accuracy, PyAnnote 3.1 is the strongest open diarisation model available, and SpeechBrain produces the speaker fingerprints from the same pipeline. PocketSphinx is faster but far too inaccurate to base a redaction decision on.</a:t>
            </a:r>
          </a:p>
        </p:txBody>
      </p:sp>
      <p:sp>
        <p:nvSpPr>
          <p:cNvPr id="51" name="TextBox 50"/>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52" name="TextBox 51"/>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3 - CHALLENGES</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Technical challenges, and how we solved them (1 of 3)</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554480"/>
            <a:ext cx="68580" cy="68580"/>
          </a:xfrm>
          <a:prstGeom prst="ellipse">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481328"/>
            <a:ext cx="10643616" cy="365760"/>
          </a:xfrm>
          <a:prstGeom prst="rect">
            <a:avLst/>
          </a:prstGeom>
          <a:noFill/>
        </p:spPr>
        <p:txBody>
          <a:bodyPr wrap="square" lIns="0" rIns="0" tIns="0" bIns="0" anchor="t">
            <a:spAutoFit/>
          </a:bodyPr>
          <a:lstStyle/>
          <a:p>
            <a:pPr algn="l">
              <a:lnSpc>
                <a:spcPct val="118000"/>
              </a:lnSpc>
            </a:pPr>
            <a:r>
              <a:rPr sz="1700" b="1">
                <a:solidFill>
                  <a:srgbClr val="141B2B"/>
                </a:solidFill>
                <a:latin typeface="Segoe UI"/>
              </a:rPr>
              <a:t>The app cannot create its own tables - and that failed silently</a:t>
            </a:r>
          </a:p>
          <a:p>
            <a:pPr algn="l">
              <a:lnSpc>
                <a:spcPct val="118000"/>
              </a:lnSpc>
              <a:spcBef>
                <a:spcPts val="300"/>
              </a:spcBef>
            </a:pPr>
            <a:r>
              <a:rPr sz="1550" b="0">
                <a:solidFill>
                  <a:srgbClr val="5B6472"/>
                </a:solidFill>
                <a:latin typeface="Segoe UI"/>
              </a:rPr>
              <a:t>Problem: the application connects as a restricted database user that is not allowed to change the schema. An earlier hardening change also removed default rights on new tables, so a feature would deploy cleanly and then fail with "permission denied" the first time a real user touched it - at run time, not at deploy time.
Solution: every migration now ships its own grant block for the application user, and migrations are run under a separate administrative connection for the duration of that one command. This is written into the handoff as a standing rule for every future table.</a:t>
            </a:r>
          </a:p>
        </p:txBody>
      </p:sp>
      <p:sp>
        <p:nvSpPr>
          <p:cNvPr id="9" name="Oval 8"/>
          <p:cNvSpPr/>
          <p:nvPr/>
        </p:nvSpPr>
        <p:spPr>
          <a:xfrm>
            <a:off x="658368" y="3651504"/>
            <a:ext cx="68580" cy="68580"/>
          </a:xfrm>
          <a:prstGeom prst="ellipse">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3578352"/>
            <a:ext cx="10643616" cy="365760"/>
          </a:xfrm>
          <a:prstGeom prst="rect">
            <a:avLst/>
          </a:prstGeom>
          <a:noFill/>
        </p:spPr>
        <p:txBody>
          <a:bodyPr wrap="square" lIns="0" rIns="0" tIns="0" bIns="0" anchor="t">
            <a:spAutoFit/>
          </a:bodyPr>
          <a:lstStyle/>
          <a:p>
            <a:pPr algn="l">
              <a:lnSpc>
                <a:spcPct val="118000"/>
              </a:lnSpc>
            </a:pPr>
            <a:r>
              <a:rPr sz="1700" b="1">
                <a:solidFill>
                  <a:srgbClr val="141B2B"/>
                </a:solidFill>
                <a:latin typeface="Segoe UI"/>
              </a:rPr>
              <a:t>A worker being down looked exactly like "nothing found"</a:t>
            </a:r>
          </a:p>
          <a:p>
            <a:pPr algn="l">
              <a:lnSpc>
                <a:spcPct val="118000"/>
              </a:lnSpc>
              <a:spcBef>
                <a:spcPts val="300"/>
              </a:spcBef>
            </a:pPr>
            <a:r>
              <a:rPr sz="1550" b="0">
                <a:solidFill>
                  <a:srgbClr val="5B6472"/>
                </a:solidFill>
                <a:latin typeface="Segoe UI"/>
              </a:rPr>
              <a:t>Problem: if the identity-masking or audio service was unreachable, an empty result came back - and an empty result means "no sensitive content here". A photograph of an identity card could have been marked clean simply because a container had stopped.
Solution: an unreachable worker now raises its own distinct error, which parks the item as DEFERRED and requeues it. It is never treated as clean. The test suite exercises that branch directly.</a:t>
            </a:r>
          </a:p>
        </p:txBody>
      </p:sp>
      <p:sp>
        <p:nvSpPr>
          <p:cNvPr id="11" name="TextBox 10"/>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12" name="TextBox 11"/>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3 - CHALLENGES</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Technical challenges, and how we solved them (2 of 3)</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554480"/>
            <a:ext cx="68580" cy="68580"/>
          </a:xfrm>
          <a:prstGeom prst="ellipse">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481328"/>
            <a:ext cx="10643616" cy="365760"/>
          </a:xfrm>
          <a:prstGeom prst="rect">
            <a:avLst/>
          </a:prstGeom>
          <a:noFill/>
        </p:spPr>
        <p:txBody>
          <a:bodyPr wrap="square" lIns="0" rIns="0" tIns="0" bIns="0" anchor="t">
            <a:spAutoFit/>
          </a:bodyPr>
          <a:lstStyle/>
          <a:p>
            <a:pPr algn="l">
              <a:lnSpc>
                <a:spcPct val="118000"/>
              </a:lnSpc>
            </a:pPr>
            <a:r>
              <a:rPr sz="1700" b="1">
                <a:solidFill>
                  <a:srgbClr val="141B2B"/>
                </a:solidFill>
                <a:latin typeface="Segoe UI"/>
              </a:rPr>
              <a:t>Erasing one person from a file that contains several people</a:t>
            </a:r>
          </a:p>
          <a:p>
            <a:pPr algn="l">
              <a:lnSpc>
                <a:spcPct val="118000"/>
              </a:lnSpc>
              <a:spcBef>
                <a:spcPts val="300"/>
              </a:spcBef>
            </a:pPr>
            <a:r>
              <a:rPr sz="1550" b="0">
                <a:solidFill>
                  <a:srgbClr val="5B6472"/>
                </a:solidFill>
                <a:latin typeface="Segoe UI"/>
              </a:rPr>
              <a:t>Problem: a group photo, or a recording with three speakers, belongs to more than one person. Honouring one erasure by deleting the file would destroy everybody else's data - and their consent record with it.
Solution: when an item is shared, the server quietly downgrades DELETE to RE-REDACT and never lets the client decide otherwise. Recordings also stay sealed under the session key rather than a per-person key, so one person's erasure is carried out by removing specific locations instead of throwing the whole file away.</a:t>
            </a:r>
          </a:p>
        </p:txBody>
      </p:sp>
      <p:sp>
        <p:nvSpPr>
          <p:cNvPr id="9" name="Oval 8"/>
          <p:cNvSpPr/>
          <p:nvPr/>
        </p:nvSpPr>
        <p:spPr>
          <a:xfrm>
            <a:off x="658368" y="3436620"/>
            <a:ext cx="68580" cy="68580"/>
          </a:xfrm>
          <a:prstGeom prst="ellipse">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3363468"/>
            <a:ext cx="10643616" cy="365760"/>
          </a:xfrm>
          <a:prstGeom prst="rect">
            <a:avLst/>
          </a:prstGeom>
          <a:noFill/>
        </p:spPr>
        <p:txBody>
          <a:bodyPr wrap="square" lIns="0" rIns="0" tIns="0" bIns="0" anchor="t">
            <a:spAutoFit/>
          </a:bodyPr>
          <a:lstStyle/>
          <a:p>
            <a:pPr algn="l">
              <a:lnSpc>
                <a:spcPct val="118000"/>
              </a:lnSpc>
            </a:pPr>
            <a:r>
              <a:rPr sz="1700" b="1">
                <a:solidFill>
                  <a:srgbClr val="141B2B"/>
                </a:solidFill>
                <a:latin typeface="Segoe UI"/>
              </a:rPr>
              <a:t>Voice is not face - copying the face design broke it twice</a:t>
            </a:r>
          </a:p>
          <a:p>
            <a:pPr algn="l">
              <a:lnSpc>
                <a:spcPct val="118000"/>
              </a:lnSpc>
              <a:spcBef>
                <a:spcPts val="300"/>
              </a:spcBef>
            </a:pPr>
            <a:r>
              <a:rPr sz="1550" b="0">
                <a:solidFill>
                  <a:srgbClr val="5B6472"/>
                </a:solidFill>
                <a:latin typeface="Segoe UI"/>
              </a:rPr>
              <a:t>Problem: the face model produces a 512-number fingerprint; the speech model produces 192. The face gallery is also built once per session, but several recordings in one session are analysed at the same time, so a shared gallery meant one job tearing down what another was still reading.
Solution: a separate voice gallery with the correct 192 numbers, keyed per recording rather than per session. As a side effect it can no longer go stale - a voice enrolled halfway through a session is in the next recording's gallery automatically.</a:t>
            </a:r>
          </a:p>
        </p:txBody>
      </p:sp>
      <p:sp>
        <p:nvSpPr>
          <p:cNvPr id="11" name="TextBox 10"/>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12" name="TextBox 11"/>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3 - CHALLENGES</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Technical challenges, and how we solved them (3 of 3)</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481328"/>
            <a:ext cx="68580" cy="68580"/>
          </a:xfrm>
          <a:prstGeom prst="ellipse">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408176"/>
            <a:ext cx="10643616" cy="365760"/>
          </a:xfrm>
          <a:prstGeom prst="rect">
            <a:avLst/>
          </a:prstGeom>
          <a:noFill/>
        </p:spPr>
        <p:txBody>
          <a:bodyPr wrap="square" lIns="0" rIns="0" tIns="0" bIns="0" anchor="t">
            <a:spAutoFit/>
          </a:bodyPr>
          <a:lstStyle/>
          <a:p>
            <a:pPr algn="l">
              <a:lnSpc>
                <a:spcPct val="118000"/>
              </a:lnSpc>
            </a:pPr>
            <a:r>
              <a:rPr sz="1500" b="1">
                <a:solidFill>
                  <a:srgbClr val="141B2B"/>
                </a:solidFill>
                <a:latin typeface="Segoe UI"/>
              </a:rPr>
              <a:t>Video is not "a lot of photos"</a:t>
            </a:r>
          </a:p>
          <a:p>
            <a:pPr algn="l">
              <a:lnSpc>
                <a:spcPct val="118000"/>
              </a:lnSpc>
              <a:spcBef>
                <a:spcPts val="300"/>
              </a:spcBef>
            </a:pPr>
            <a:r>
              <a:rPr sz="1350" b="0">
                <a:solidFill>
                  <a:srgbClr val="5B6472"/>
                </a:solidFill>
                <a:latin typeface="Segoe UI"/>
              </a:rPr>
              <a:t>Problem: a two-minute clip at 30 frames per second is 3,600 frames. Storing them as photographs would have told a person we hold 3,600 photographs of them - and running face detection on every frame costs minutes of GPU time per clip.
Solution: video became its own kind of data with its own table. The worker detects faces on every Nth frame, links them with a tracker, and averages five good views into one fingerprint per person. It is far faster, and the averaged fingerprint matches better than any single frame.</a:t>
            </a:r>
          </a:p>
        </p:txBody>
      </p:sp>
      <p:sp>
        <p:nvSpPr>
          <p:cNvPr id="9" name="Oval 8"/>
          <p:cNvSpPr/>
          <p:nvPr/>
        </p:nvSpPr>
        <p:spPr>
          <a:xfrm>
            <a:off x="658368" y="3160268"/>
            <a:ext cx="68580" cy="68580"/>
          </a:xfrm>
          <a:prstGeom prst="ellipse">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3087116"/>
            <a:ext cx="10643616" cy="365760"/>
          </a:xfrm>
          <a:prstGeom prst="rect">
            <a:avLst/>
          </a:prstGeom>
          <a:noFill/>
        </p:spPr>
        <p:txBody>
          <a:bodyPr wrap="square" lIns="0" rIns="0" tIns="0" bIns="0" anchor="t">
            <a:spAutoFit/>
          </a:bodyPr>
          <a:lstStyle/>
          <a:p>
            <a:pPr algn="l">
              <a:lnSpc>
                <a:spcPct val="118000"/>
              </a:lnSpc>
            </a:pPr>
            <a:r>
              <a:rPr sz="1500" b="1">
                <a:solidFill>
                  <a:srgbClr val="141B2B"/>
                </a:solidFill>
                <a:latin typeface="Segoe UI"/>
              </a:rPr>
              <a:t>Redacting text is a different problem from redacting a face</a:t>
            </a:r>
          </a:p>
          <a:p>
            <a:pPr algn="l">
              <a:lnSpc>
                <a:spcPct val="118000"/>
              </a:lnSpc>
              <a:spcBef>
                <a:spcPts val="300"/>
              </a:spcBef>
            </a:pPr>
            <a:r>
              <a:rPr sz="1350" b="0">
                <a:solidFill>
                  <a:srgbClr val="5B6472"/>
                </a:solidFill>
                <a:latin typeface="Segoe UI"/>
              </a:rPr>
              <a:t>Problem: with a face, anything the model misses is still a face and can be blurred by a human. With text, the safe default is inverted - an untagged sentence might belong to anyone, so leaving it visible is the risky choice.
Solution: the text pipeline redacts by default. Any prose not tagged to a person who consented is masked in full, so forgetting to tag somebody hides them rather than exposing them.</a:t>
            </a:r>
          </a:p>
        </p:txBody>
      </p:sp>
      <p:sp>
        <p:nvSpPr>
          <p:cNvPr id="11" name="Oval 10"/>
          <p:cNvSpPr/>
          <p:nvPr/>
        </p:nvSpPr>
        <p:spPr>
          <a:xfrm>
            <a:off x="658368" y="4624324"/>
            <a:ext cx="68580" cy="68580"/>
          </a:xfrm>
          <a:prstGeom prst="ellipse">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4551172"/>
            <a:ext cx="10643616" cy="365760"/>
          </a:xfrm>
          <a:prstGeom prst="rect">
            <a:avLst/>
          </a:prstGeom>
          <a:noFill/>
        </p:spPr>
        <p:txBody>
          <a:bodyPr wrap="square" lIns="0" rIns="0" tIns="0" bIns="0" anchor="t">
            <a:spAutoFit/>
          </a:bodyPr>
          <a:lstStyle/>
          <a:p>
            <a:pPr algn="l">
              <a:lnSpc>
                <a:spcPct val="118000"/>
              </a:lnSpc>
            </a:pPr>
            <a:r>
              <a:rPr sz="1500" b="1">
                <a:solidFill>
                  <a:srgbClr val="141B2B"/>
                </a:solidFill>
                <a:latin typeface="Segoe UI"/>
              </a:rPr>
              <a:t>Browser audio does not match what the model needs</a:t>
            </a:r>
          </a:p>
          <a:p>
            <a:pPr algn="l">
              <a:lnSpc>
                <a:spcPct val="118000"/>
              </a:lnSpc>
              <a:spcBef>
                <a:spcPts val="300"/>
              </a:spcBef>
            </a:pPr>
            <a:r>
              <a:rPr sz="1350" b="0">
                <a:solidFill>
                  <a:srgbClr val="5B6472"/>
                </a:solidFill>
                <a:latin typeface="Segoe UI"/>
              </a:rPr>
              <a:t>Problem: Chrome records one format, Safari records another, and the speech model wants 16 kHz mono WAV.
Solution: convert in the browser before upload. A five-second clip now arrives under 200 KB and loads on any backend.</a:t>
            </a:r>
          </a:p>
        </p:txBody>
      </p:sp>
      <p:sp>
        <p:nvSpPr>
          <p:cNvPr id="13" name="TextBox 12"/>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14" name="TextBox 13"/>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4 - RESULTS</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Results till now</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389888"/>
            <a:ext cx="2615184" cy="1481328"/>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389888"/>
            <a:ext cx="2615184" cy="45720"/>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609344"/>
            <a:ext cx="2212848" cy="548640"/>
          </a:xfrm>
          <a:prstGeom prst="rect">
            <a:avLst/>
          </a:prstGeom>
          <a:noFill/>
        </p:spPr>
        <p:txBody>
          <a:bodyPr wrap="square" lIns="0" rIns="0" tIns="0" bIns="0" anchor="t">
            <a:spAutoFit/>
          </a:bodyPr>
          <a:lstStyle/>
          <a:p>
            <a:pPr algn="l">
              <a:lnSpc>
                <a:spcPct val="115000"/>
              </a:lnSpc>
            </a:pPr>
            <a:r>
              <a:rPr sz="2700" b="1">
                <a:solidFill>
                  <a:srgbClr val="1D5BD6"/>
                </a:solidFill>
                <a:latin typeface="Segoe UI"/>
              </a:rPr>
              <a:t>123/123</a:t>
            </a:r>
          </a:p>
        </p:txBody>
      </p:sp>
      <p:sp>
        <p:nvSpPr>
          <p:cNvPr id="10" name="TextBox 9"/>
          <p:cNvSpPr txBox="1"/>
          <p:nvPr/>
        </p:nvSpPr>
        <p:spPr>
          <a:xfrm>
            <a:off x="859536" y="2194560"/>
            <a:ext cx="2212848" cy="603504"/>
          </a:xfrm>
          <a:prstGeom prst="rect">
            <a:avLst/>
          </a:prstGeom>
          <a:noFill/>
        </p:spPr>
        <p:txBody>
          <a:bodyPr wrap="square" lIns="0" rIns="0" tIns="0" bIns="0" anchor="t">
            <a:spAutoFit/>
          </a:bodyPr>
          <a:lstStyle/>
          <a:p>
            <a:pPr algn="l">
              <a:lnSpc>
                <a:spcPct val="110000"/>
              </a:lnSpc>
            </a:pPr>
            <a:r>
              <a:rPr sz="1200" b="1">
                <a:solidFill>
                  <a:srgbClr val="141B2B"/>
                </a:solidFill>
                <a:latin typeface="Segoe UI"/>
              </a:rPr>
              <a:t>Automated tests passing</a:t>
            </a:r>
          </a:p>
          <a:p>
            <a:pPr algn="l">
              <a:lnSpc>
                <a:spcPct val="110000"/>
              </a:lnSpc>
              <a:spcBef>
                <a:spcPts val="200"/>
              </a:spcBef>
            </a:pPr>
            <a:r>
              <a:rPr sz="1000" b="0">
                <a:solidFill>
                  <a:srgbClr val="5B6472"/>
                </a:solidFill>
                <a:latin typeface="Segoe UI"/>
              </a:rPr>
              <a:t>0 failures, held across three phases</a:t>
            </a:r>
          </a:p>
        </p:txBody>
      </p:sp>
      <p:sp>
        <p:nvSpPr>
          <p:cNvPr id="11" name="Rectangle 10"/>
          <p:cNvSpPr/>
          <p:nvPr/>
        </p:nvSpPr>
        <p:spPr>
          <a:xfrm>
            <a:off x="3419856" y="1389888"/>
            <a:ext cx="2615184" cy="1481328"/>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19856" y="1389888"/>
            <a:ext cx="2615184" cy="45720"/>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21024" y="1609344"/>
            <a:ext cx="2212848" cy="548640"/>
          </a:xfrm>
          <a:prstGeom prst="rect">
            <a:avLst/>
          </a:prstGeom>
          <a:noFill/>
        </p:spPr>
        <p:txBody>
          <a:bodyPr wrap="square" lIns="0" rIns="0" tIns="0" bIns="0" anchor="t">
            <a:spAutoFit/>
          </a:bodyPr>
          <a:lstStyle/>
          <a:p>
            <a:pPr algn="l">
              <a:lnSpc>
                <a:spcPct val="115000"/>
              </a:lnSpc>
            </a:pPr>
            <a:r>
              <a:rPr sz="2700" b="1">
                <a:solidFill>
                  <a:srgbClr val="1D5BD6"/>
                </a:solidFill>
                <a:latin typeface="Segoe UI"/>
              </a:rPr>
              <a:t>3</a:t>
            </a:r>
          </a:p>
        </p:txBody>
      </p:sp>
      <p:sp>
        <p:nvSpPr>
          <p:cNvPr id="14" name="TextBox 13"/>
          <p:cNvSpPr txBox="1"/>
          <p:nvPr/>
        </p:nvSpPr>
        <p:spPr>
          <a:xfrm>
            <a:off x="3621024" y="2194560"/>
            <a:ext cx="2212848" cy="603504"/>
          </a:xfrm>
          <a:prstGeom prst="rect">
            <a:avLst/>
          </a:prstGeom>
          <a:noFill/>
        </p:spPr>
        <p:txBody>
          <a:bodyPr wrap="square" lIns="0" rIns="0" tIns="0" bIns="0" anchor="t">
            <a:spAutoFit/>
          </a:bodyPr>
          <a:lstStyle/>
          <a:p>
            <a:pPr algn="l">
              <a:lnSpc>
                <a:spcPct val="110000"/>
              </a:lnSpc>
            </a:pPr>
            <a:r>
              <a:rPr sz="1200" b="1">
                <a:solidFill>
                  <a:srgbClr val="141B2B"/>
                </a:solidFill>
                <a:latin typeface="Segoe UI"/>
              </a:rPr>
              <a:t>Capture types working</a:t>
            </a:r>
          </a:p>
          <a:p>
            <a:pPr algn="l">
              <a:lnSpc>
                <a:spcPct val="110000"/>
              </a:lnSpc>
              <a:spcBef>
                <a:spcPts val="200"/>
              </a:spcBef>
            </a:pPr>
            <a:r>
              <a:rPr sz="1000" b="0">
                <a:solidFill>
                  <a:srgbClr val="5B6472"/>
                </a:solidFill>
                <a:latin typeface="Segoe UI"/>
              </a:rPr>
              <a:t>Image, audio and written text</a:t>
            </a:r>
          </a:p>
        </p:txBody>
      </p:sp>
      <p:sp>
        <p:nvSpPr>
          <p:cNvPr id="15" name="Rectangle 14"/>
          <p:cNvSpPr/>
          <p:nvPr/>
        </p:nvSpPr>
        <p:spPr>
          <a:xfrm>
            <a:off x="6181344" y="1389888"/>
            <a:ext cx="2615184" cy="1481328"/>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81344" y="1389888"/>
            <a:ext cx="2615184" cy="45720"/>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2512" y="1609344"/>
            <a:ext cx="2212848" cy="548640"/>
          </a:xfrm>
          <a:prstGeom prst="rect">
            <a:avLst/>
          </a:prstGeom>
          <a:noFill/>
        </p:spPr>
        <p:txBody>
          <a:bodyPr wrap="square" lIns="0" rIns="0" tIns="0" bIns="0" anchor="t">
            <a:spAutoFit/>
          </a:bodyPr>
          <a:lstStyle/>
          <a:p>
            <a:pPr algn="l">
              <a:lnSpc>
                <a:spcPct val="115000"/>
              </a:lnSpc>
            </a:pPr>
            <a:r>
              <a:rPr sz="2700" b="1">
                <a:solidFill>
                  <a:srgbClr val="1D5BD6"/>
                </a:solidFill>
                <a:latin typeface="Segoe UI"/>
              </a:rPr>
              <a:t>2,525</a:t>
            </a:r>
          </a:p>
        </p:txBody>
      </p:sp>
      <p:sp>
        <p:nvSpPr>
          <p:cNvPr id="18" name="TextBox 17"/>
          <p:cNvSpPr txBox="1"/>
          <p:nvPr/>
        </p:nvSpPr>
        <p:spPr>
          <a:xfrm>
            <a:off x="6382512" y="2194560"/>
            <a:ext cx="2212848" cy="603504"/>
          </a:xfrm>
          <a:prstGeom prst="rect">
            <a:avLst/>
          </a:prstGeom>
          <a:noFill/>
        </p:spPr>
        <p:txBody>
          <a:bodyPr wrap="square" lIns="0" rIns="0" tIns="0" bIns="0" anchor="t">
            <a:spAutoFit/>
          </a:bodyPr>
          <a:lstStyle/>
          <a:p>
            <a:pPr algn="l">
              <a:lnSpc>
                <a:spcPct val="110000"/>
              </a:lnSpc>
            </a:pPr>
            <a:r>
              <a:rPr sz="1200" b="1">
                <a:solidFill>
                  <a:srgbClr val="141B2B"/>
                </a:solidFill>
                <a:latin typeface="Segoe UI"/>
              </a:rPr>
              <a:t>Access events recorded</a:t>
            </a:r>
          </a:p>
          <a:p>
            <a:pPr algn="l">
              <a:lnSpc>
                <a:spcPct val="110000"/>
              </a:lnSpc>
              <a:spcBef>
                <a:spcPts val="200"/>
              </a:spcBef>
            </a:pPr>
            <a:r>
              <a:rPr sz="1000" b="0">
                <a:solidFill>
                  <a:srgbClr val="5B6472"/>
                </a:solidFill>
                <a:latin typeface="Segoe UI"/>
              </a:rPr>
              <a:t>0 break-glass reads (0%)</a:t>
            </a:r>
          </a:p>
        </p:txBody>
      </p:sp>
      <p:sp>
        <p:nvSpPr>
          <p:cNvPr id="19" name="Rectangle 18"/>
          <p:cNvSpPr/>
          <p:nvPr/>
        </p:nvSpPr>
        <p:spPr>
          <a:xfrm>
            <a:off x="8942832" y="1389888"/>
            <a:ext cx="2615184" cy="1481328"/>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42832" y="1389888"/>
            <a:ext cx="2615184" cy="45720"/>
          </a:xfrm>
          <a:prstGeom prst="rect">
            <a:avLst/>
          </a:prstGeom>
          <a:solidFill>
            <a:srgbClr val="0E7C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0" y="1609344"/>
            <a:ext cx="2212848" cy="548640"/>
          </a:xfrm>
          <a:prstGeom prst="rect">
            <a:avLst/>
          </a:prstGeom>
          <a:noFill/>
        </p:spPr>
        <p:txBody>
          <a:bodyPr wrap="square" lIns="0" rIns="0" tIns="0" bIns="0" anchor="t">
            <a:spAutoFit/>
          </a:bodyPr>
          <a:lstStyle/>
          <a:p>
            <a:pPr algn="l">
              <a:lnSpc>
                <a:spcPct val="115000"/>
              </a:lnSpc>
            </a:pPr>
            <a:r>
              <a:rPr sz="2700" b="1">
                <a:solidFill>
                  <a:srgbClr val="0E7C54"/>
                </a:solidFill>
                <a:latin typeface="Segoe UI"/>
              </a:rPr>
              <a:t>0</a:t>
            </a:r>
          </a:p>
        </p:txBody>
      </p:sp>
      <p:sp>
        <p:nvSpPr>
          <p:cNvPr id="22" name="TextBox 21"/>
          <p:cNvSpPr txBox="1"/>
          <p:nvPr/>
        </p:nvSpPr>
        <p:spPr>
          <a:xfrm>
            <a:off x="9144000" y="2194560"/>
            <a:ext cx="2212848" cy="603504"/>
          </a:xfrm>
          <a:prstGeom prst="rect">
            <a:avLst/>
          </a:prstGeom>
          <a:noFill/>
        </p:spPr>
        <p:txBody>
          <a:bodyPr wrap="square" lIns="0" rIns="0" tIns="0" bIns="0" anchor="t">
            <a:spAutoFit/>
          </a:bodyPr>
          <a:lstStyle/>
          <a:p>
            <a:pPr algn="l">
              <a:lnSpc>
                <a:spcPct val="110000"/>
              </a:lnSpc>
            </a:pPr>
            <a:r>
              <a:rPr sz="1200" b="1">
                <a:solidFill>
                  <a:srgbClr val="141B2B"/>
                </a:solidFill>
                <a:latin typeface="Segoe UI"/>
              </a:rPr>
              <a:t>Data released unredacted</a:t>
            </a:r>
          </a:p>
          <a:p>
            <a:pPr algn="l">
              <a:lnSpc>
                <a:spcPct val="110000"/>
              </a:lnSpc>
              <a:spcBef>
                <a:spcPts val="200"/>
              </a:spcBef>
            </a:pPr>
            <a:r>
              <a:rPr sz="1000" b="0">
                <a:solidFill>
                  <a:srgbClr val="5B6472"/>
                </a:solidFill>
                <a:latin typeface="Segoe UI"/>
              </a:rPr>
              <a:t>The fail-closed rule held throughout</a:t>
            </a:r>
          </a:p>
        </p:txBody>
      </p:sp>
      <p:sp>
        <p:nvSpPr>
          <p:cNvPr id="23" name="Rectangle 22"/>
          <p:cNvSpPr/>
          <p:nvPr/>
        </p:nvSpPr>
        <p:spPr>
          <a:xfrm>
            <a:off x="658368" y="3182112"/>
            <a:ext cx="2103120" cy="384048"/>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3182112"/>
            <a:ext cx="1865376" cy="384048"/>
          </a:xfrm>
          <a:prstGeom prst="rect">
            <a:avLst/>
          </a:prstGeom>
          <a:noFill/>
        </p:spPr>
        <p:txBody>
          <a:bodyPr wrap="square" lIns="0" rIns="0" tIns="0" bIns="0" anchor="ctr">
            <a:spAutoFit/>
          </a:bodyPr>
          <a:lstStyle/>
          <a:p>
            <a:pPr algn="l">
              <a:lnSpc>
                <a:spcPct val="115000"/>
              </a:lnSpc>
            </a:pPr>
            <a:r>
              <a:rPr sz="1100" b="1">
                <a:solidFill>
                  <a:srgbClr val="FFFFFF"/>
                </a:solidFill>
                <a:latin typeface="Segoe UI"/>
              </a:rPr>
              <a:t>Area</a:t>
            </a:r>
          </a:p>
        </p:txBody>
      </p:sp>
      <p:sp>
        <p:nvSpPr>
          <p:cNvPr id="25" name="Rectangle 24"/>
          <p:cNvSpPr/>
          <p:nvPr/>
        </p:nvSpPr>
        <p:spPr>
          <a:xfrm>
            <a:off x="2761488" y="3182112"/>
            <a:ext cx="8778240" cy="384048"/>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80360" y="3182112"/>
            <a:ext cx="8540496" cy="384048"/>
          </a:xfrm>
          <a:prstGeom prst="rect">
            <a:avLst/>
          </a:prstGeom>
          <a:noFill/>
        </p:spPr>
        <p:txBody>
          <a:bodyPr wrap="square" lIns="0" rIns="0" tIns="0" bIns="0" anchor="ctr">
            <a:spAutoFit/>
          </a:bodyPr>
          <a:lstStyle/>
          <a:p>
            <a:pPr algn="l">
              <a:lnSpc>
                <a:spcPct val="115000"/>
              </a:lnSpc>
            </a:pPr>
            <a:r>
              <a:rPr sz="1100" b="1">
                <a:solidFill>
                  <a:srgbClr val="FFFFFF"/>
                </a:solidFill>
                <a:latin typeface="Segoe UI"/>
              </a:rPr>
              <a:t>Where it stands on 19 August 2026</a:t>
            </a:r>
          </a:p>
        </p:txBody>
      </p:sp>
      <p:sp>
        <p:nvSpPr>
          <p:cNvPr id="27" name="Rectangle 26"/>
          <p:cNvSpPr/>
          <p:nvPr/>
        </p:nvSpPr>
        <p:spPr>
          <a:xfrm>
            <a:off x="658368" y="3566160"/>
            <a:ext cx="2103120" cy="438912"/>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3566160"/>
            <a:ext cx="1865376" cy="43891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End-to-end flow</a:t>
            </a:r>
          </a:p>
        </p:txBody>
      </p:sp>
      <p:sp>
        <p:nvSpPr>
          <p:cNvPr id="29" name="Rectangle 28"/>
          <p:cNvSpPr/>
          <p:nvPr/>
        </p:nvSpPr>
        <p:spPr>
          <a:xfrm>
            <a:off x="2761488" y="3566160"/>
            <a:ext cx="8778240" cy="438912"/>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80360" y="3566160"/>
            <a:ext cx="8540496" cy="43891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Approve, consent, collect, protect, hand off, request, erase - working today for images, audio and written text</a:t>
            </a:r>
          </a:p>
        </p:txBody>
      </p:sp>
      <p:sp>
        <p:nvSpPr>
          <p:cNvPr id="31" name="Rectangle 30"/>
          <p:cNvSpPr/>
          <p:nvPr/>
        </p:nvSpPr>
        <p:spPr>
          <a:xfrm>
            <a:off x="658368" y="4005072"/>
            <a:ext cx="2103120" cy="438912"/>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4005072"/>
            <a:ext cx="1865376" cy="43891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Audio, proved</a:t>
            </a:r>
          </a:p>
        </p:txBody>
      </p:sp>
      <p:sp>
        <p:nvSpPr>
          <p:cNvPr id="33" name="Rectangle 32"/>
          <p:cNvSpPr/>
          <p:nvPr/>
        </p:nvSpPr>
        <p:spPr>
          <a:xfrm>
            <a:off x="2761488" y="4005072"/>
            <a:ext cx="8778240" cy="438912"/>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880360" y="4005072"/>
            <a:ext cx="8540496" cy="43891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A 1:49 recording: 2 speakers separated, 4 turns kept, 1 unconsented speaker muted, 10 spoken-PII spans muted, redacted copy saved</a:t>
            </a:r>
          </a:p>
        </p:txBody>
      </p:sp>
      <p:sp>
        <p:nvSpPr>
          <p:cNvPr id="35" name="Rectangle 34"/>
          <p:cNvSpPr/>
          <p:nvPr/>
        </p:nvSpPr>
        <p:spPr>
          <a:xfrm>
            <a:off x="658368" y="4443984"/>
            <a:ext cx="2103120" cy="438912"/>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7240" y="4443984"/>
            <a:ext cx="1865376" cy="43891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Text, proved</a:t>
            </a:r>
          </a:p>
        </p:txBody>
      </p:sp>
      <p:sp>
        <p:nvSpPr>
          <p:cNvPr id="37" name="Rectangle 36"/>
          <p:cNvSpPr/>
          <p:nvPr/>
        </p:nvSpPr>
        <p:spPr>
          <a:xfrm>
            <a:off x="2761488" y="4443984"/>
            <a:ext cx="8778240" cy="438912"/>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880360" y="4443984"/>
            <a:ext cx="8540496" cy="43891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A pasted transcript: 3 identity entities found and masked, original and redacted copy held side by side</a:t>
            </a:r>
          </a:p>
        </p:txBody>
      </p:sp>
      <p:sp>
        <p:nvSpPr>
          <p:cNvPr id="39" name="Rectangle 38"/>
          <p:cNvSpPr/>
          <p:nvPr/>
        </p:nvSpPr>
        <p:spPr>
          <a:xfrm>
            <a:off x="658368" y="4882896"/>
            <a:ext cx="2103120" cy="438912"/>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7240" y="4882896"/>
            <a:ext cx="1865376" cy="43891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Governance</a:t>
            </a:r>
          </a:p>
        </p:txBody>
      </p:sp>
      <p:sp>
        <p:nvSpPr>
          <p:cNvPr id="41" name="Rectangle 40"/>
          <p:cNvSpPr/>
          <p:nvPr/>
        </p:nvSpPr>
        <p:spPr>
          <a:xfrm>
            <a:off x="2761488" y="4882896"/>
            <a:ext cx="8778240" cy="438912"/>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880360" y="4882896"/>
            <a:ext cx="8540496" cy="43891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2 projects approved and 1 in draft - 6 consent notices published - 4 consents granted, 0 withdrawn</a:t>
            </a:r>
          </a:p>
        </p:txBody>
      </p:sp>
      <p:sp>
        <p:nvSpPr>
          <p:cNvPr id="43" name="Rectangle 42"/>
          <p:cNvSpPr/>
          <p:nvPr/>
        </p:nvSpPr>
        <p:spPr>
          <a:xfrm>
            <a:off x="658368" y="5321808"/>
            <a:ext cx="2103120" cy="438912"/>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77240" y="5321808"/>
            <a:ext cx="1865376" cy="43891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Collection</a:t>
            </a:r>
          </a:p>
        </p:txBody>
      </p:sp>
      <p:sp>
        <p:nvSpPr>
          <p:cNvPr id="45" name="Rectangle 44"/>
          <p:cNvSpPr/>
          <p:nvPr/>
        </p:nvSpPr>
        <p:spPr>
          <a:xfrm>
            <a:off x="2761488" y="5321808"/>
            <a:ext cx="8778240" cy="438912"/>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880360" y="5321808"/>
            <a:ext cx="8540496" cy="43891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8 sessions handed off, 1 ingested into the golden store - 83 frames cleared, 25 still pending redaction</a:t>
            </a:r>
          </a:p>
        </p:txBody>
      </p:sp>
      <p:sp>
        <p:nvSpPr>
          <p:cNvPr id="47" name="Rectangle 46"/>
          <p:cNvSpPr/>
          <p:nvPr/>
        </p:nvSpPr>
        <p:spPr>
          <a:xfrm>
            <a:off x="658368" y="5760720"/>
            <a:ext cx="2103120" cy="438912"/>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77240" y="5760720"/>
            <a:ext cx="1865376" cy="43891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Requests</a:t>
            </a:r>
          </a:p>
        </p:txBody>
      </p:sp>
      <p:sp>
        <p:nvSpPr>
          <p:cNvPr id="49" name="Rectangle 48"/>
          <p:cNvSpPr/>
          <p:nvPr/>
        </p:nvSpPr>
        <p:spPr>
          <a:xfrm>
            <a:off x="2761488" y="5760720"/>
            <a:ext cx="8778240" cy="438912"/>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880360" y="5760720"/>
            <a:ext cx="8540496" cy="438912"/>
          </a:xfrm>
          <a:prstGeom prst="rect">
            <a:avLst/>
          </a:prstGeom>
          <a:noFill/>
        </p:spPr>
        <p:txBody>
          <a:bodyPr wrap="square" lIns="0" rIns="0" tIns="0" bIns="0" anchor="ctr">
            <a:spAutoFit/>
          </a:bodyPr>
          <a:lstStyle/>
          <a:p>
            <a:pPr algn="l">
              <a:lnSpc>
                <a:spcPct val="108000"/>
              </a:lnSpc>
            </a:pPr>
            <a:r>
              <a:rPr sz="1150" b="0">
                <a:solidFill>
                  <a:srgbClr val="141B2B"/>
                </a:solidFill>
                <a:latin typeface="Segoe UI"/>
              </a:rPr>
              <a:t>3 requests open and inside their deadline - 4 export packages produced with evidence - 0 breaches</a:t>
            </a:r>
          </a:p>
        </p:txBody>
      </p:sp>
      <p:sp>
        <p:nvSpPr>
          <p:cNvPr id="51" name="TextBox 50"/>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52" name="TextBox 51"/>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5 - OBSERVATIONS</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Observations based on these results</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554480"/>
            <a:ext cx="68580" cy="68580"/>
          </a:xfrm>
          <a:prstGeom prst="ellipse">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481328"/>
            <a:ext cx="5202936" cy="365760"/>
          </a:xfrm>
          <a:prstGeom prst="rect">
            <a:avLst/>
          </a:prstGeom>
          <a:noFill/>
        </p:spPr>
        <p:txBody>
          <a:bodyPr wrap="square" lIns="0" rIns="0" tIns="0" bIns="0" anchor="t">
            <a:spAutoFit/>
          </a:bodyPr>
          <a:lstStyle/>
          <a:p>
            <a:pPr algn="l">
              <a:lnSpc>
                <a:spcPct val="118000"/>
              </a:lnSpc>
            </a:pPr>
            <a:r>
              <a:rPr sz="1350" b="1">
                <a:solidFill>
                  <a:srgbClr val="141B2B"/>
                </a:solidFill>
                <a:latin typeface="Segoe UI"/>
              </a:rPr>
              <a:t>Failing closed is correct, but it looks broken</a:t>
            </a:r>
          </a:p>
          <a:p>
            <a:pPr algn="l">
              <a:lnSpc>
                <a:spcPct val="118000"/>
              </a:lnSpc>
              <a:spcBef>
                <a:spcPts val="300"/>
              </a:spcBef>
            </a:pPr>
            <a:r>
              <a:rPr sz="1200" b="0">
                <a:solidFill>
                  <a:srgbClr val="5B6472"/>
                </a:solidFill>
                <a:latin typeface="Segoe UI"/>
              </a:rPr>
              <a:t>An environment where a worker was simply never provisioned showed red errors and a spinner that never resolved. We now say "not offered in this deployment" and keep real errors for real faults.</a:t>
            </a:r>
          </a:p>
        </p:txBody>
      </p:sp>
      <p:sp>
        <p:nvSpPr>
          <p:cNvPr id="9" name="Oval 8"/>
          <p:cNvSpPr/>
          <p:nvPr/>
        </p:nvSpPr>
        <p:spPr>
          <a:xfrm>
            <a:off x="658368" y="2676652"/>
            <a:ext cx="68580" cy="68580"/>
          </a:xfrm>
          <a:prstGeom prst="ellipse">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603500"/>
            <a:ext cx="5202936" cy="365760"/>
          </a:xfrm>
          <a:prstGeom prst="rect">
            <a:avLst/>
          </a:prstGeom>
          <a:noFill/>
        </p:spPr>
        <p:txBody>
          <a:bodyPr wrap="square" lIns="0" rIns="0" tIns="0" bIns="0" anchor="t">
            <a:spAutoFit/>
          </a:bodyPr>
          <a:lstStyle/>
          <a:p>
            <a:pPr algn="l">
              <a:lnSpc>
                <a:spcPct val="118000"/>
              </a:lnSpc>
            </a:pPr>
            <a:r>
              <a:rPr sz="1350" b="1">
                <a:solidFill>
                  <a:srgbClr val="141B2B"/>
                </a:solidFill>
                <a:latin typeface="Segoe UI"/>
              </a:rPr>
              <a:t>Almost every bug was at a boundary</a:t>
            </a:r>
          </a:p>
          <a:p>
            <a:pPr algn="l">
              <a:lnSpc>
                <a:spcPct val="118000"/>
              </a:lnSpc>
              <a:spcBef>
                <a:spcPts val="300"/>
              </a:spcBef>
            </a:pPr>
            <a:r>
              <a:rPr sz="1200" b="0">
                <a:solidFill>
                  <a:srgbClr val="5B6472"/>
                </a:solidFill>
                <a:latin typeface="Segoe UI"/>
              </a:rPr>
              <a:t>Database grants, route ordering, audio formats, fingerprint sizes. The business logic held; the joins between systems did not. Environment drift counts too - with the containers stopped, 33 of the 123 tests fail at once and it reads exactly like a code regression.</a:t>
            </a:r>
          </a:p>
        </p:txBody>
      </p:sp>
      <p:sp>
        <p:nvSpPr>
          <p:cNvPr id="11" name="Oval 10"/>
          <p:cNvSpPr/>
          <p:nvPr/>
        </p:nvSpPr>
        <p:spPr>
          <a:xfrm>
            <a:off x="658368" y="4013708"/>
            <a:ext cx="68580" cy="68580"/>
          </a:xfrm>
          <a:prstGeom prst="ellipse">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3940556"/>
            <a:ext cx="5202936" cy="365760"/>
          </a:xfrm>
          <a:prstGeom prst="rect">
            <a:avLst/>
          </a:prstGeom>
          <a:noFill/>
        </p:spPr>
        <p:txBody>
          <a:bodyPr wrap="square" lIns="0" rIns="0" tIns="0" bIns="0" anchor="t">
            <a:spAutoFit/>
          </a:bodyPr>
          <a:lstStyle/>
          <a:p>
            <a:pPr algn="l">
              <a:lnSpc>
                <a:spcPct val="118000"/>
              </a:lnSpc>
            </a:pPr>
            <a:r>
              <a:rPr sz="1350" b="1">
                <a:solidFill>
                  <a:srgbClr val="141B2B"/>
                </a:solidFill>
                <a:latin typeface="Segoe UI"/>
              </a:rPr>
              <a:t>A green test suite is not proof the AI works</a:t>
            </a:r>
          </a:p>
          <a:p>
            <a:pPr algn="l">
              <a:lnSpc>
                <a:spcPct val="118000"/>
              </a:lnSpc>
              <a:spcBef>
                <a:spcPts val="300"/>
              </a:spcBef>
            </a:pPr>
            <a:r>
              <a:rPr sz="1200" b="0">
                <a:solidFill>
                  <a:srgbClr val="5B6472"/>
                </a:solidFill>
                <a:latin typeface="Segoe UI"/>
              </a:rPr>
              <a:t>The suite passes partly because it tests the fail-closed branch. With the model containers switched off it still reports 123 of 123 - by design, and it must not be read as "the pipeline works".</a:t>
            </a:r>
          </a:p>
        </p:txBody>
      </p:sp>
      <p:sp>
        <p:nvSpPr>
          <p:cNvPr id="13" name="Oval 12"/>
          <p:cNvSpPr/>
          <p:nvPr/>
        </p:nvSpPr>
        <p:spPr>
          <a:xfrm>
            <a:off x="6355080" y="1554480"/>
            <a:ext cx="68580" cy="68580"/>
          </a:xfrm>
          <a:prstGeom prst="ellipse">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92824" y="1481328"/>
            <a:ext cx="5020056" cy="365760"/>
          </a:xfrm>
          <a:prstGeom prst="rect">
            <a:avLst/>
          </a:prstGeom>
          <a:noFill/>
        </p:spPr>
        <p:txBody>
          <a:bodyPr wrap="square" lIns="0" rIns="0" tIns="0" bIns="0" anchor="t">
            <a:spAutoFit/>
          </a:bodyPr>
          <a:lstStyle/>
          <a:p>
            <a:pPr algn="l">
              <a:lnSpc>
                <a:spcPct val="118000"/>
              </a:lnSpc>
            </a:pPr>
            <a:r>
              <a:rPr sz="1350" b="1">
                <a:solidFill>
                  <a:srgbClr val="141B2B"/>
                </a:solidFill>
                <a:latin typeface="Segoe UI"/>
              </a:rPr>
              <a:t>Three pipelines, three machines, nothing merged yet</a:t>
            </a:r>
          </a:p>
          <a:p>
            <a:pPr algn="l">
              <a:lnSpc>
                <a:spcPct val="118000"/>
              </a:lnSpc>
              <a:spcBef>
                <a:spcPts val="300"/>
              </a:spcBef>
            </a:pPr>
            <a:r>
              <a:rPr sz="1200" b="0">
                <a:solidFill>
                  <a:srgbClr val="5B6472"/>
                </a:solidFill>
                <a:latin typeface="Segoe UI"/>
              </a:rPr>
              <a:t>The image, audio and text pipelines were each built separately, and the text work and the updated audio screens are not yet on the main branch. The features exist; the integrated system does not. This is now the biggest risk to the 31 August deadline, and it is the first item in the plan.</a:t>
            </a:r>
          </a:p>
        </p:txBody>
      </p:sp>
      <p:sp>
        <p:nvSpPr>
          <p:cNvPr id="15" name="Oval 14"/>
          <p:cNvSpPr/>
          <p:nvPr/>
        </p:nvSpPr>
        <p:spPr>
          <a:xfrm>
            <a:off x="6355080" y="3106420"/>
            <a:ext cx="68580" cy="68580"/>
          </a:xfrm>
          <a:prstGeom prst="ellipse">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92824" y="3033268"/>
            <a:ext cx="5020056" cy="365760"/>
          </a:xfrm>
          <a:prstGeom prst="rect">
            <a:avLst/>
          </a:prstGeom>
          <a:noFill/>
        </p:spPr>
        <p:txBody>
          <a:bodyPr wrap="square" lIns="0" rIns="0" tIns="0" bIns="0" anchor="t">
            <a:spAutoFit/>
          </a:bodyPr>
          <a:lstStyle/>
          <a:p>
            <a:pPr algn="l">
              <a:lnSpc>
                <a:spcPct val="118000"/>
              </a:lnSpc>
            </a:pPr>
            <a:r>
              <a:rPr sz="1350" b="1">
                <a:solidFill>
                  <a:srgbClr val="141B2B"/>
                </a:solidFill>
                <a:latin typeface="Segoe UI"/>
              </a:rPr>
              <a:t>Speaker matching works - on one recording</a:t>
            </a:r>
          </a:p>
          <a:p>
            <a:pPr algn="l">
              <a:lnSpc>
                <a:spcPct val="118000"/>
              </a:lnSpc>
              <a:spcBef>
                <a:spcPts val="300"/>
              </a:spcBef>
            </a:pPr>
            <a:r>
              <a:rPr sz="1200" b="0">
                <a:solidFill>
                  <a:srgbClr val="5B6472"/>
                </a:solidFill>
                <a:latin typeface="Segoe UI"/>
              </a:rPr>
              <a:t>The demo correctly kept the consented speaker and muted the unknown one. That is one recording with two speakers. The acceptance threshold has not been measured across a wider sample, and until it is, a stranger being accepted stays possible.</a:t>
            </a:r>
          </a:p>
        </p:txBody>
      </p:sp>
      <p:sp>
        <p:nvSpPr>
          <p:cNvPr id="17" name="Oval 16"/>
          <p:cNvSpPr/>
          <p:nvPr/>
        </p:nvSpPr>
        <p:spPr>
          <a:xfrm>
            <a:off x="6355080" y="4443476"/>
            <a:ext cx="68580" cy="68580"/>
          </a:xfrm>
          <a:prstGeom prst="ellipse">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92824" y="4370324"/>
            <a:ext cx="5020056" cy="365760"/>
          </a:xfrm>
          <a:prstGeom prst="rect">
            <a:avLst/>
          </a:prstGeom>
          <a:noFill/>
        </p:spPr>
        <p:txBody>
          <a:bodyPr wrap="square" lIns="0" rIns="0" tIns="0" bIns="0" anchor="t">
            <a:spAutoFit/>
          </a:bodyPr>
          <a:lstStyle/>
          <a:p>
            <a:pPr algn="l">
              <a:lnSpc>
                <a:spcPct val="118000"/>
              </a:lnSpc>
            </a:pPr>
            <a:r>
              <a:rPr sz="1350" b="1">
                <a:solidFill>
                  <a:srgbClr val="141B2B"/>
                </a:solidFill>
                <a:latin typeface="Segoe UI"/>
              </a:rPr>
              <a:t>An honest gap beats a tidy record</a:t>
            </a:r>
          </a:p>
          <a:p>
            <a:pPr algn="l">
              <a:lnSpc>
                <a:spcPct val="118000"/>
              </a:lnSpc>
              <a:spcBef>
                <a:spcPts val="300"/>
              </a:spcBef>
            </a:pPr>
            <a:r>
              <a:rPr sz="1200" b="0">
                <a:solidFill>
                  <a:srgbClr val="5B6472"/>
                </a:solidFill>
                <a:latin typeface="Segoe UI"/>
              </a:rPr>
              <a:t>Imported data with no consent is labelled "lawful basis unverified" rather than given a manufactured consent row, so the gap shows up in every request response instead of disappearing.</a:t>
            </a:r>
          </a:p>
        </p:txBody>
      </p:sp>
      <p:sp>
        <p:nvSpPr>
          <p:cNvPr id="19" name="TextBox 18"/>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20" name="TextBox 19"/>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6 - PLAN TO THE DEADLINE</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The next two weeks, day by day</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280160"/>
            <a:ext cx="10881360" cy="274320"/>
          </a:xfrm>
          <a:prstGeom prst="rect">
            <a:avLst/>
          </a:prstGeom>
          <a:noFill/>
        </p:spPr>
        <p:txBody>
          <a:bodyPr wrap="square" lIns="0" rIns="0" tIns="0" bIns="0" anchor="t">
            <a:spAutoFit/>
          </a:bodyPr>
          <a:lstStyle/>
          <a:p>
            <a:pPr algn="l">
              <a:lnSpc>
                <a:spcPct val="115000"/>
              </a:lnSpc>
            </a:pPr>
            <a:r>
              <a:rPr sz="1200" b="0">
                <a:solidFill>
                  <a:srgbClr val="5B6472"/>
                </a:solidFill>
                <a:latin typeface="Segoe UI"/>
              </a:rPr>
              <a:t>13 days from today to the 31 August deadline. Integration comes first, because nothing the team built separately is merged yet.</a:t>
            </a:r>
          </a:p>
        </p:txBody>
      </p:sp>
      <p:sp>
        <p:nvSpPr>
          <p:cNvPr id="8" name="Rectangle 7"/>
          <p:cNvSpPr/>
          <p:nvPr/>
        </p:nvSpPr>
        <p:spPr>
          <a:xfrm>
            <a:off x="658368" y="1664208"/>
            <a:ext cx="1417320" cy="365760"/>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664208"/>
            <a:ext cx="1179576" cy="365760"/>
          </a:xfrm>
          <a:prstGeom prst="rect">
            <a:avLst/>
          </a:prstGeom>
          <a:noFill/>
        </p:spPr>
        <p:txBody>
          <a:bodyPr wrap="square" lIns="0" rIns="0" tIns="0" bIns="0" anchor="ctr">
            <a:spAutoFit/>
          </a:bodyPr>
          <a:lstStyle/>
          <a:p>
            <a:pPr algn="l">
              <a:lnSpc>
                <a:spcPct val="115000"/>
              </a:lnSpc>
            </a:pPr>
            <a:r>
              <a:rPr sz="1050" b="1">
                <a:solidFill>
                  <a:srgbClr val="FFFFFF"/>
                </a:solidFill>
                <a:latin typeface="Segoe UI"/>
              </a:rPr>
              <a:t>Day</a:t>
            </a:r>
          </a:p>
        </p:txBody>
      </p:sp>
      <p:sp>
        <p:nvSpPr>
          <p:cNvPr id="10" name="Rectangle 9"/>
          <p:cNvSpPr/>
          <p:nvPr/>
        </p:nvSpPr>
        <p:spPr>
          <a:xfrm>
            <a:off x="2075688" y="1664208"/>
            <a:ext cx="1554480" cy="365760"/>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94560" y="1664208"/>
            <a:ext cx="1316736" cy="365760"/>
          </a:xfrm>
          <a:prstGeom prst="rect">
            <a:avLst/>
          </a:prstGeom>
          <a:noFill/>
        </p:spPr>
        <p:txBody>
          <a:bodyPr wrap="square" lIns="0" rIns="0" tIns="0" bIns="0" anchor="ctr">
            <a:spAutoFit/>
          </a:bodyPr>
          <a:lstStyle/>
          <a:p>
            <a:pPr algn="l">
              <a:lnSpc>
                <a:spcPct val="115000"/>
              </a:lnSpc>
            </a:pPr>
            <a:r>
              <a:rPr sz="1050" b="1">
                <a:solidFill>
                  <a:srgbClr val="FFFFFF"/>
                </a:solidFill>
                <a:latin typeface="Segoe UI"/>
              </a:rPr>
              <a:t>Workstream</a:t>
            </a:r>
          </a:p>
        </p:txBody>
      </p:sp>
      <p:sp>
        <p:nvSpPr>
          <p:cNvPr id="12" name="Rectangle 11"/>
          <p:cNvSpPr/>
          <p:nvPr/>
        </p:nvSpPr>
        <p:spPr>
          <a:xfrm>
            <a:off x="3630168" y="1664208"/>
            <a:ext cx="7909560" cy="365760"/>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49040" y="1664208"/>
            <a:ext cx="7671816" cy="365760"/>
          </a:xfrm>
          <a:prstGeom prst="rect">
            <a:avLst/>
          </a:prstGeom>
          <a:noFill/>
        </p:spPr>
        <p:txBody>
          <a:bodyPr wrap="square" lIns="0" rIns="0" tIns="0" bIns="0" anchor="ctr">
            <a:spAutoFit/>
          </a:bodyPr>
          <a:lstStyle/>
          <a:p>
            <a:pPr algn="l">
              <a:lnSpc>
                <a:spcPct val="115000"/>
              </a:lnSpc>
            </a:pPr>
            <a:r>
              <a:rPr sz="1050" b="1">
                <a:solidFill>
                  <a:srgbClr val="FFFFFF"/>
                </a:solidFill>
                <a:latin typeface="Segoe UI"/>
              </a:rPr>
              <a:t>What gets done</a:t>
            </a:r>
          </a:p>
        </p:txBody>
      </p:sp>
      <p:sp>
        <p:nvSpPr>
          <p:cNvPr id="14" name="Rectangle 13"/>
          <p:cNvSpPr/>
          <p:nvPr/>
        </p:nvSpPr>
        <p:spPr>
          <a:xfrm>
            <a:off x="658368" y="2029968"/>
            <a:ext cx="1417320" cy="333756"/>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2029968"/>
            <a:ext cx="117957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Wed 19 Aug</a:t>
            </a:r>
          </a:p>
        </p:txBody>
      </p:sp>
      <p:sp>
        <p:nvSpPr>
          <p:cNvPr id="16" name="Rectangle 15"/>
          <p:cNvSpPr/>
          <p:nvPr/>
        </p:nvSpPr>
        <p:spPr>
          <a:xfrm>
            <a:off x="2075688" y="2029968"/>
            <a:ext cx="1554480" cy="333756"/>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94560" y="2029968"/>
            <a:ext cx="131673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Integration</a:t>
            </a:r>
          </a:p>
        </p:txBody>
      </p:sp>
      <p:sp>
        <p:nvSpPr>
          <p:cNvPr id="18" name="Rectangle 17"/>
          <p:cNvSpPr/>
          <p:nvPr/>
        </p:nvSpPr>
        <p:spPr>
          <a:xfrm>
            <a:off x="3630168" y="2029968"/>
            <a:ext cx="7909560" cy="333756"/>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749040" y="2029968"/>
            <a:ext cx="767181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Merge the text pipeline and the updated audio screens into main; apply the pending voice-enrollment migration</a:t>
            </a:r>
          </a:p>
        </p:txBody>
      </p:sp>
      <p:sp>
        <p:nvSpPr>
          <p:cNvPr id="20" name="Rectangle 19"/>
          <p:cNvSpPr/>
          <p:nvPr/>
        </p:nvSpPr>
        <p:spPr>
          <a:xfrm>
            <a:off x="658368" y="2363724"/>
            <a:ext cx="1417320" cy="333756"/>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2363724"/>
            <a:ext cx="117957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Thu 20 Aug</a:t>
            </a:r>
          </a:p>
        </p:txBody>
      </p:sp>
      <p:sp>
        <p:nvSpPr>
          <p:cNvPr id="22" name="Rectangle 21"/>
          <p:cNvSpPr/>
          <p:nvPr/>
        </p:nvSpPr>
        <p:spPr>
          <a:xfrm>
            <a:off x="2075688" y="2363724"/>
            <a:ext cx="1554480" cy="333756"/>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194560" y="2363724"/>
            <a:ext cx="131673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Integration</a:t>
            </a:r>
          </a:p>
        </p:txBody>
      </p:sp>
      <p:sp>
        <p:nvSpPr>
          <p:cNvPr id="24" name="Rectangle 23"/>
          <p:cNvSpPr/>
          <p:nvPr/>
        </p:nvSpPr>
        <p:spPr>
          <a:xfrm>
            <a:off x="3630168" y="2363724"/>
            <a:ext cx="7909560" cy="333756"/>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749040" y="2363724"/>
            <a:ext cx="767181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Resolve the schema conflicts from the merge; get the full test suite green on merged main</a:t>
            </a:r>
          </a:p>
        </p:txBody>
      </p:sp>
      <p:sp>
        <p:nvSpPr>
          <p:cNvPr id="26" name="Rectangle 25"/>
          <p:cNvSpPr/>
          <p:nvPr/>
        </p:nvSpPr>
        <p:spPr>
          <a:xfrm>
            <a:off x="658368" y="2697480"/>
            <a:ext cx="1417320" cy="333756"/>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2697480"/>
            <a:ext cx="117957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Fri 21 Aug</a:t>
            </a:r>
          </a:p>
        </p:txBody>
      </p:sp>
      <p:sp>
        <p:nvSpPr>
          <p:cNvPr id="28" name="Rectangle 27"/>
          <p:cNvSpPr/>
          <p:nvPr/>
        </p:nvSpPr>
        <p:spPr>
          <a:xfrm>
            <a:off x="2075688" y="2697480"/>
            <a:ext cx="1554480" cy="333756"/>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194560" y="2697480"/>
            <a:ext cx="131673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Audio</a:t>
            </a:r>
          </a:p>
        </p:txBody>
      </p:sp>
      <p:sp>
        <p:nvSpPr>
          <p:cNvPr id="30" name="Rectangle 29"/>
          <p:cNvSpPr/>
          <p:nvPr/>
        </p:nvSpPr>
        <p:spPr>
          <a:xfrm>
            <a:off x="3630168" y="2697480"/>
            <a:ext cx="7909560" cy="333756"/>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749040" y="2697480"/>
            <a:ext cx="767181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Calibrate the speaker-match threshold on a wider set of recordings and lock the value</a:t>
            </a:r>
          </a:p>
        </p:txBody>
      </p:sp>
      <p:sp>
        <p:nvSpPr>
          <p:cNvPr id="32" name="Rectangle 31"/>
          <p:cNvSpPr/>
          <p:nvPr/>
        </p:nvSpPr>
        <p:spPr>
          <a:xfrm>
            <a:off x="658368" y="3031236"/>
            <a:ext cx="1417320" cy="333756"/>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3031236"/>
            <a:ext cx="117957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Sat 22 Aug</a:t>
            </a:r>
          </a:p>
        </p:txBody>
      </p:sp>
      <p:sp>
        <p:nvSpPr>
          <p:cNvPr id="34" name="Rectangle 33"/>
          <p:cNvSpPr/>
          <p:nvPr/>
        </p:nvSpPr>
        <p:spPr>
          <a:xfrm>
            <a:off x="2075688" y="3031236"/>
            <a:ext cx="1554480" cy="333756"/>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194560" y="3031236"/>
            <a:ext cx="131673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Video</a:t>
            </a:r>
          </a:p>
        </p:txBody>
      </p:sp>
      <p:sp>
        <p:nvSpPr>
          <p:cNvPr id="36" name="Rectangle 35"/>
          <p:cNvSpPr/>
          <p:nvPr/>
        </p:nvSpPr>
        <p:spPr>
          <a:xfrm>
            <a:off x="3630168" y="3031236"/>
            <a:ext cx="7909560" cy="333756"/>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749040" y="3031236"/>
            <a:ext cx="767181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Video capture, face tracking and blurring working end to end</a:t>
            </a:r>
          </a:p>
        </p:txBody>
      </p:sp>
      <p:sp>
        <p:nvSpPr>
          <p:cNvPr id="38" name="Rectangle 37"/>
          <p:cNvSpPr/>
          <p:nvPr/>
        </p:nvSpPr>
        <p:spPr>
          <a:xfrm>
            <a:off x="658368" y="3364992"/>
            <a:ext cx="1417320" cy="333756"/>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7240" y="3364992"/>
            <a:ext cx="117957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Sun 23 Aug</a:t>
            </a:r>
          </a:p>
        </p:txBody>
      </p:sp>
      <p:sp>
        <p:nvSpPr>
          <p:cNvPr id="40" name="Rectangle 39"/>
          <p:cNvSpPr/>
          <p:nvPr/>
        </p:nvSpPr>
        <p:spPr>
          <a:xfrm>
            <a:off x="2075688" y="3364992"/>
            <a:ext cx="1554480" cy="333756"/>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194560" y="3364992"/>
            <a:ext cx="131673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Buffer</a:t>
            </a:r>
          </a:p>
        </p:txBody>
      </p:sp>
      <p:sp>
        <p:nvSpPr>
          <p:cNvPr id="42" name="Rectangle 41"/>
          <p:cNvSpPr/>
          <p:nvPr/>
        </p:nvSpPr>
        <p:spPr>
          <a:xfrm>
            <a:off x="3630168" y="3364992"/>
            <a:ext cx="7909560" cy="333756"/>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749040" y="3364992"/>
            <a:ext cx="767181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Catch up on anything that slipped; no new work planned</a:t>
            </a:r>
          </a:p>
        </p:txBody>
      </p:sp>
      <p:sp>
        <p:nvSpPr>
          <p:cNvPr id="44" name="Rectangle 43"/>
          <p:cNvSpPr/>
          <p:nvPr/>
        </p:nvSpPr>
        <p:spPr>
          <a:xfrm>
            <a:off x="658368" y="3698748"/>
            <a:ext cx="1417320" cy="333756"/>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7240" y="3698748"/>
            <a:ext cx="117957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Mon 24 Aug</a:t>
            </a:r>
          </a:p>
        </p:txBody>
      </p:sp>
      <p:sp>
        <p:nvSpPr>
          <p:cNvPr id="46" name="Rectangle 45"/>
          <p:cNvSpPr/>
          <p:nvPr/>
        </p:nvSpPr>
        <p:spPr>
          <a:xfrm>
            <a:off x="2075688" y="3698748"/>
            <a:ext cx="1554480" cy="333756"/>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194560" y="3698748"/>
            <a:ext cx="131673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Video</a:t>
            </a:r>
          </a:p>
        </p:txBody>
      </p:sp>
      <p:sp>
        <p:nvSpPr>
          <p:cNvPr id="48" name="Rectangle 47"/>
          <p:cNvSpPr/>
          <p:nvPr/>
        </p:nvSpPr>
        <p:spPr>
          <a:xfrm>
            <a:off x="3630168" y="3698748"/>
            <a:ext cx="7909560" cy="333756"/>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749040" y="3698748"/>
            <a:ext cx="767181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Video wired into the request grid, so it can be found and deleted exactly like a photo</a:t>
            </a:r>
          </a:p>
        </p:txBody>
      </p:sp>
      <p:sp>
        <p:nvSpPr>
          <p:cNvPr id="50" name="Rectangle 49"/>
          <p:cNvSpPr/>
          <p:nvPr/>
        </p:nvSpPr>
        <p:spPr>
          <a:xfrm>
            <a:off x="658368" y="4032504"/>
            <a:ext cx="1417320" cy="333756"/>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77240" y="4032504"/>
            <a:ext cx="117957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Tue 25 Aug</a:t>
            </a:r>
          </a:p>
        </p:txBody>
      </p:sp>
      <p:sp>
        <p:nvSpPr>
          <p:cNvPr id="52" name="Rectangle 51"/>
          <p:cNvSpPr/>
          <p:nvPr/>
        </p:nvSpPr>
        <p:spPr>
          <a:xfrm>
            <a:off x="2075688" y="4032504"/>
            <a:ext cx="1554480" cy="333756"/>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194560" y="4032504"/>
            <a:ext cx="131673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Cleanup</a:t>
            </a:r>
          </a:p>
        </p:txBody>
      </p:sp>
      <p:sp>
        <p:nvSpPr>
          <p:cNvPr id="54" name="Rectangle 53"/>
          <p:cNvSpPr/>
          <p:nvPr/>
        </p:nvSpPr>
        <p:spPr>
          <a:xfrm>
            <a:off x="3630168" y="4032504"/>
            <a:ext cx="7909560" cy="333756"/>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749040" y="4032504"/>
            <a:ext cx="767181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Phase 3 - remove the three unused AI directories and the comments pointing at them</a:t>
            </a:r>
          </a:p>
        </p:txBody>
      </p:sp>
      <p:sp>
        <p:nvSpPr>
          <p:cNvPr id="56" name="Rectangle 55"/>
          <p:cNvSpPr/>
          <p:nvPr/>
        </p:nvSpPr>
        <p:spPr>
          <a:xfrm>
            <a:off x="658368" y="4366260"/>
            <a:ext cx="1417320" cy="333756"/>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77240" y="4366260"/>
            <a:ext cx="117957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Wed 26 Aug</a:t>
            </a:r>
          </a:p>
        </p:txBody>
      </p:sp>
      <p:sp>
        <p:nvSpPr>
          <p:cNvPr id="58" name="Rectangle 57"/>
          <p:cNvSpPr/>
          <p:nvPr/>
        </p:nvSpPr>
        <p:spPr>
          <a:xfrm>
            <a:off x="2075688" y="4366260"/>
            <a:ext cx="1554480" cy="333756"/>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194560" y="4366260"/>
            <a:ext cx="131673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Interface</a:t>
            </a:r>
          </a:p>
        </p:txBody>
      </p:sp>
      <p:sp>
        <p:nvSpPr>
          <p:cNvPr id="60" name="Rectangle 59"/>
          <p:cNvSpPr/>
          <p:nvPr/>
        </p:nvSpPr>
        <p:spPr>
          <a:xfrm>
            <a:off x="3630168" y="4366260"/>
            <a:ext cx="7909560" cy="333756"/>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749040" y="4366260"/>
            <a:ext cx="767181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Phase 4 - design tokens, and consistent loading, empty and error states</a:t>
            </a:r>
          </a:p>
        </p:txBody>
      </p:sp>
      <p:sp>
        <p:nvSpPr>
          <p:cNvPr id="62" name="Rectangle 61"/>
          <p:cNvSpPr/>
          <p:nvPr/>
        </p:nvSpPr>
        <p:spPr>
          <a:xfrm>
            <a:off x="658368" y="4700016"/>
            <a:ext cx="1417320" cy="333756"/>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77240" y="4700016"/>
            <a:ext cx="117957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Thu 27 Aug</a:t>
            </a:r>
          </a:p>
        </p:txBody>
      </p:sp>
      <p:sp>
        <p:nvSpPr>
          <p:cNvPr id="64" name="Rectangle 63"/>
          <p:cNvSpPr/>
          <p:nvPr/>
        </p:nvSpPr>
        <p:spPr>
          <a:xfrm>
            <a:off x="2075688" y="4700016"/>
            <a:ext cx="1554480" cy="333756"/>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194560" y="4700016"/>
            <a:ext cx="131673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Interface</a:t>
            </a:r>
          </a:p>
        </p:txBody>
      </p:sp>
      <p:sp>
        <p:nvSpPr>
          <p:cNvPr id="66" name="Rectangle 65"/>
          <p:cNvSpPr/>
          <p:nvPr/>
        </p:nvSpPr>
        <p:spPr>
          <a:xfrm>
            <a:off x="3630168" y="4700016"/>
            <a:ext cx="7909560" cy="333756"/>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749040" y="4700016"/>
            <a:ext cx="767181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Phase 4 - mobile person-facing portal and the accessibility pass</a:t>
            </a:r>
          </a:p>
        </p:txBody>
      </p:sp>
      <p:sp>
        <p:nvSpPr>
          <p:cNvPr id="68" name="Rectangle 67"/>
          <p:cNvSpPr/>
          <p:nvPr/>
        </p:nvSpPr>
        <p:spPr>
          <a:xfrm>
            <a:off x="658368" y="5033772"/>
            <a:ext cx="1417320" cy="333756"/>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77240" y="5033772"/>
            <a:ext cx="117957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Fri 28 Aug</a:t>
            </a:r>
          </a:p>
        </p:txBody>
      </p:sp>
      <p:sp>
        <p:nvSpPr>
          <p:cNvPr id="70" name="Rectangle 69"/>
          <p:cNvSpPr/>
          <p:nvPr/>
        </p:nvSpPr>
        <p:spPr>
          <a:xfrm>
            <a:off x="2075688" y="5033772"/>
            <a:ext cx="1554480" cy="333756"/>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194560" y="5033772"/>
            <a:ext cx="131673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Release</a:t>
            </a:r>
          </a:p>
        </p:txBody>
      </p:sp>
      <p:sp>
        <p:nvSpPr>
          <p:cNvPr id="72" name="Rectangle 71"/>
          <p:cNvSpPr/>
          <p:nvPr/>
        </p:nvSpPr>
        <p:spPr>
          <a:xfrm>
            <a:off x="3630168" y="5033772"/>
            <a:ext cx="7909560" cy="333756"/>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749040" y="5033772"/>
            <a:ext cx="767181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Phase 5 - CI pipeline and the front-end test harness</a:t>
            </a:r>
          </a:p>
        </p:txBody>
      </p:sp>
      <p:sp>
        <p:nvSpPr>
          <p:cNvPr id="74" name="Rectangle 73"/>
          <p:cNvSpPr/>
          <p:nvPr/>
        </p:nvSpPr>
        <p:spPr>
          <a:xfrm>
            <a:off x="658368" y="5367528"/>
            <a:ext cx="1417320" cy="333756"/>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77240" y="5367528"/>
            <a:ext cx="117957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Sat 29 Aug</a:t>
            </a:r>
          </a:p>
        </p:txBody>
      </p:sp>
      <p:sp>
        <p:nvSpPr>
          <p:cNvPr id="76" name="Rectangle 75"/>
          <p:cNvSpPr/>
          <p:nvPr/>
        </p:nvSpPr>
        <p:spPr>
          <a:xfrm>
            <a:off x="2075688" y="5367528"/>
            <a:ext cx="1554480" cy="333756"/>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2194560" y="5367528"/>
            <a:ext cx="131673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Release</a:t>
            </a:r>
          </a:p>
        </p:txBody>
      </p:sp>
      <p:sp>
        <p:nvSpPr>
          <p:cNvPr id="78" name="Rectangle 77"/>
          <p:cNvSpPr/>
          <p:nvPr/>
        </p:nvSpPr>
        <p:spPr>
          <a:xfrm>
            <a:off x="3630168" y="5367528"/>
            <a:ext cx="7909560" cy="333756"/>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749040" y="5367528"/>
            <a:ext cx="767181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Load test at 5,000 items; close the two open privacy-impact risks</a:t>
            </a:r>
          </a:p>
        </p:txBody>
      </p:sp>
      <p:sp>
        <p:nvSpPr>
          <p:cNvPr id="80" name="Rectangle 79"/>
          <p:cNvSpPr/>
          <p:nvPr/>
        </p:nvSpPr>
        <p:spPr>
          <a:xfrm>
            <a:off x="658368" y="5701284"/>
            <a:ext cx="1417320" cy="333756"/>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77240" y="5701284"/>
            <a:ext cx="117957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Sun 30 Aug</a:t>
            </a:r>
          </a:p>
        </p:txBody>
      </p:sp>
      <p:sp>
        <p:nvSpPr>
          <p:cNvPr id="82" name="Rectangle 81"/>
          <p:cNvSpPr/>
          <p:nvPr/>
        </p:nvSpPr>
        <p:spPr>
          <a:xfrm>
            <a:off x="2075688" y="5701284"/>
            <a:ext cx="1554480" cy="333756"/>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2194560" y="5701284"/>
            <a:ext cx="131673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Freeze</a:t>
            </a:r>
          </a:p>
        </p:txBody>
      </p:sp>
      <p:sp>
        <p:nvSpPr>
          <p:cNvPr id="84" name="Rectangle 83"/>
          <p:cNvSpPr/>
          <p:nvPr/>
        </p:nvSpPr>
        <p:spPr>
          <a:xfrm>
            <a:off x="3630168" y="5701284"/>
            <a:ext cx="7909560" cy="333756"/>
          </a:xfrm>
          <a:prstGeom prst="rect">
            <a:avLst/>
          </a:prstGeom>
          <a:solidFill>
            <a:srgbClr val="ECF0F7"/>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3749040" y="5701284"/>
            <a:ext cx="7671816" cy="333756"/>
          </a:xfrm>
          <a:prstGeom prst="rect">
            <a:avLst/>
          </a:prstGeom>
          <a:noFill/>
        </p:spPr>
        <p:txBody>
          <a:bodyPr wrap="square" lIns="0" rIns="0" tIns="0" bIns="0" anchor="ctr">
            <a:spAutoFit/>
          </a:bodyPr>
          <a:lstStyle/>
          <a:p>
            <a:pPr algn="l">
              <a:lnSpc>
                <a:spcPct val="108000"/>
              </a:lnSpc>
            </a:pPr>
            <a:r>
              <a:rPr sz="1100" b="0">
                <a:solidFill>
                  <a:srgbClr val="141B2B"/>
                </a:solidFill>
                <a:latin typeface="Segoe UI"/>
              </a:rPr>
              <a:t>Full regression run, code freeze, demo dry run</a:t>
            </a:r>
          </a:p>
        </p:txBody>
      </p:sp>
      <p:sp>
        <p:nvSpPr>
          <p:cNvPr id="86" name="Rectangle 85"/>
          <p:cNvSpPr/>
          <p:nvPr/>
        </p:nvSpPr>
        <p:spPr>
          <a:xfrm>
            <a:off x="658368" y="6035040"/>
            <a:ext cx="1417320" cy="333756"/>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777240" y="6035040"/>
            <a:ext cx="1179576" cy="333756"/>
          </a:xfrm>
          <a:prstGeom prst="rect">
            <a:avLst/>
          </a:prstGeom>
          <a:noFill/>
        </p:spPr>
        <p:txBody>
          <a:bodyPr wrap="square" lIns="0" rIns="0" tIns="0" bIns="0" anchor="ctr">
            <a:spAutoFit/>
          </a:bodyPr>
          <a:lstStyle/>
          <a:p>
            <a:pPr algn="l">
              <a:lnSpc>
                <a:spcPct val="108000"/>
              </a:lnSpc>
            </a:pPr>
            <a:r>
              <a:rPr sz="1100" b="1">
                <a:solidFill>
                  <a:srgbClr val="A82A2A"/>
                </a:solidFill>
                <a:latin typeface="Segoe UI"/>
              </a:rPr>
              <a:t>Mon 31 Aug</a:t>
            </a:r>
          </a:p>
        </p:txBody>
      </p:sp>
      <p:sp>
        <p:nvSpPr>
          <p:cNvPr id="88" name="Rectangle 87"/>
          <p:cNvSpPr/>
          <p:nvPr/>
        </p:nvSpPr>
        <p:spPr>
          <a:xfrm>
            <a:off x="2075688" y="6035040"/>
            <a:ext cx="1554480" cy="333756"/>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2194560" y="6035040"/>
            <a:ext cx="1316736" cy="333756"/>
          </a:xfrm>
          <a:prstGeom prst="rect">
            <a:avLst/>
          </a:prstGeom>
          <a:noFill/>
        </p:spPr>
        <p:txBody>
          <a:bodyPr wrap="square" lIns="0" rIns="0" tIns="0" bIns="0" anchor="ctr">
            <a:spAutoFit/>
          </a:bodyPr>
          <a:lstStyle/>
          <a:p>
            <a:pPr algn="l">
              <a:lnSpc>
                <a:spcPct val="108000"/>
              </a:lnSpc>
            </a:pPr>
            <a:r>
              <a:rPr sz="1100" b="1">
                <a:solidFill>
                  <a:srgbClr val="A82A2A"/>
                </a:solidFill>
                <a:latin typeface="Segoe UI"/>
              </a:rPr>
              <a:t>Deadline</a:t>
            </a:r>
          </a:p>
        </p:txBody>
      </p:sp>
      <p:sp>
        <p:nvSpPr>
          <p:cNvPr id="90" name="Rectangle 89"/>
          <p:cNvSpPr/>
          <p:nvPr/>
        </p:nvSpPr>
        <p:spPr>
          <a:xfrm>
            <a:off x="3630168" y="6035040"/>
            <a:ext cx="7909560" cy="333756"/>
          </a:xfrm>
          <a:prstGeom prst="rect">
            <a:avLst/>
          </a:prstGeom>
          <a:solidFill>
            <a:srgbClr val="FFFFFF"/>
          </a:solidFill>
          <a:ln w="6350">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3749040" y="6035040"/>
            <a:ext cx="7671816" cy="333756"/>
          </a:xfrm>
          <a:prstGeom prst="rect">
            <a:avLst/>
          </a:prstGeom>
          <a:noFill/>
        </p:spPr>
        <p:txBody>
          <a:bodyPr wrap="square" lIns="0" rIns="0" tIns="0" bIns="0" anchor="ctr">
            <a:spAutoFit/>
          </a:bodyPr>
          <a:lstStyle/>
          <a:p>
            <a:pPr algn="l">
              <a:lnSpc>
                <a:spcPct val="108000"/>
              </a:lnSpc>
            </a:pPr>
            <a:r>
              <a:rPr sz="1100" b="1">
                <a:solidFill>
                  <a:srgbClr val="A82A2A"/>
                </a:solidFill>
                <a:latin typeface="Segoe UI"/>
              </a:rPr>
              <a:t>Final demo and submission</a:t>
            </a:r>
          </a:p>
        </p:txBody>
      </p:sp>
      <p:sp>
        <p:nvSpPr>
          <p:cNvPr id="92" name="TextBox 91"/>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93" name="TextBox 92"/>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NOVELTY AND PATENTABILITY</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What is new here, and what we can protect</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280160"/>
            <a:ext cx="10881360" cy="274320"/>
          </a:xfrm>
          <a:prstGeom prst="rect">
            <a:avLst/>
          </a:prstGeom>
          <a:noFill/>
        </p:spPr>
        <p:txBody>
          <a:bodyPr wrap="square" lIns="0" rIns="0" tIns="0" bIns="0" anchor="t">
            <a:spAutoFit/>
          </a:bodyPr>
          <a:lstStyle/>
          <a:p>
            <a:pPr algn="l">
              <a:lnSpc>
                <a:spcPct val="115000"/>
              </a:lnSpc>
            </a:pPr>
            <a:r>
              <a:rPr sz="1200" b="0">
                <a:solidFill>
                  <a:srgbClr val="5B6472"/>
                </a:solidFill>
                <a:latin typeface="Segoe UI"/>
              </a:rPr>
              <a:t>Three things in this system do not exist in off-the-shelf consent tools. Two of them are worth filing on.</a:t>
            </a:r>
          </a:p>
        </p:txBody>
      </p:sp>
      <p:sp>
        <p:nvSpPr>
          <p:cNvPr id="8" name="Rectangle 7"/>
          <p:cNvSpPr/>
          <p:nvPr/>
        </p:nvSpPr>
        <p:spPr>
          <a:xfrm>
            <a:off x="658368" y="1627632"/>
            <a:ext cx="3493008" cy="2340864"/>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627632"/>
            <a:ext cx="3493008" cy="45720"/>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865376"/>
            <a:ext cx="2980944" cy="237744"/>
          </a:xfrm>
          <a:prstGeom prst="rect">
            <a:avLst/>
          </a:prstGeom>
          <a:noFill/>
        </p:spPr>
        <p:txBody>
          <a:bodyPr wrap="square" lIns="0" rIns="0" tIns="0" bIns="0" anchor="t">
            <a:spAutoFit/>
          </a:bodyPr>
          <a:lstStyle/>
          <a:p>
            <a:pPr algn="l">
              <a:lnSpc>
                <a:spcPct val="115000"/>
              </a:lnSpc>
            </a:pPr>
            <a:r>
              <a:rPr sz="1000" b="1">
                <a:solidFill>
                  <a:srgbClr val="1D5BD6"/>
                </a:solidFill>
                <a:latin typeface="Segoe UI"/>
              </a:rPr>
              <a:t>NOVELTY 1</a:t>
            </a:r>
          </a:p>
        </p:txBody>
      </p:sp>
      <p:sp>
        <p:nvSpPr>
          <p:cNvPr id="11" name="TextBox 10"/>
          <p:cNvSpPr txBox="1"/>
          <p:nvPr/>
        </p:nvSpPr>
        <p:spPr>
          <a:xfrm>
            <a:off x="914400" y="2157984"/>
            <a:ext cx="2980944" cy="310896"/>
          </a:xfrm>
          <a:prstGeom prst="rect">
            <a:avLst/>
          </a:prstGeom>
          <a:noFill/>
        </p:spPr>
        <p:txBody>
          <a:bodyPr wrap="square" lIns="0" rIns="0" tIns="0" bIns="0" anchor="t">
            <a:spAutoFit/>
          </a:bodyPr>
          <a:lstStyle/>
          <a:p>
            <a:pPr algn="l">
              <a:lnSpc>
                <a:spcPct val="115000"/>
              </a:lnSpc>
            </a:pPr>
            <a:r>
              <a:rPr sz="1350" b="1">
                <a:solidFill>
                  <a:srgbClr val="141B2B"/>
                </a:solidFill>
                <a:latin typeface="Segoe UI"/>
              </a:rPr>
              <a:t>Multi-subject media downgrade</a:t>
            </a:r>
          </a:p>
        </p:txBody>
      </p:sp>
      <p:sp>
        <p:nvSpPr>
          <p:cNvPr id="12" name="TextBox 11"/>
          <p:cNvSpPr txBox="1"/>
          <p:nvPr/>
        </p:nvSpPr>
        <p:spPr>
          <a:xfrm>
            <a:off x="914400" y="2596896"/>
            <a:ext cx="2980944" cy="1188720"/>
          </a:xfrm>
          <a:prstGeom prst="rect">
            <a:avLst/>
          </a:prstGeom>
          <a:noFill/>
        </p:spPr>
        <p:txBody>
          <a:bodyPr wrap="square" lIns="0" rIns="0" tIns="0" bIns="0" anchor="t">
            <a:spAutoFit/>
          </a:bodyPr>
          <a:lstStyle/>
          <a:p>
            <a:pPr algn="l">
              <a:lnSpc>
                <a:spcPct val="118000"/>
              </a:lnSpc>
            </a:pPr>
            <a:r>
              <a:rPr sz="1050" b="0">
                <a:solidFill>
                  <a:srgbClr val="5B6472"/>
                </a:solidFill>
                <a:latin typeface="Segoe UI"/>
              </a:rPr>
              <a:t>A normal delete destroys the whole file, and with it everyone else's data. When an erasure request lands on a photo or recording with more than one person in it, the system downgrades DELETE to REDACT on its own - masking only the requester's face or voice, and leaving the file usable for the rest.</a:t>
            </a:r>
          </a:p>
        </p:txBody>
      </p:sp>
      <p:sp>
        <p:nvSpPr>
          <p:cNvPr id="13" name="Rectangle 12"/>
          <p:cNvSpPr/>
          <p:nvPr/>
        </p:nvSpPr>
        <p:spPr>
          <a:xfrm>
            <a:off x="4352544" y="1627632"/>
            <a:ext cx="3493008" cy="2340864"/>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52544" y="1627632"/>
            <a:ext cx="3493008" cy="45720"/>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08576" y="1865376"/>
            <a:ext cx="2980944" cy="237744"/>
          </a:xfrm>
          <a:prstGeom prst="rect">
            <a:avLst/>
          </a:prstGeom>
          <a:noFill/>
        </p:spPr>
        <p:txBody>
          <a:bodyPr wrap="square" lIns="0" rIns="0" tIns="0" bIns="0" anchor="t">
            <a:spAutoFit/>
          </a:bodyPr>
          <a:lstStyle/>
          <a:p>
            <a:pPr algn="l">
              <a:lnSpc>
                <a:spcPct val="115000"/>
              </a:lnSpc>
            </a:pPr>
            <a:r>
              <a:rPr sz="1000" b="1">
                <a:solidFill>
                  <a:srgbClr val="1D5BD6"/>
                </a:solidFill>
                <a:latin typeface="Segoe UI"/>
              </a:rPr>
              <a:t>NOVELTY 2</a:t>
            </a:r>
          </a:p>
        </p:txBody>
      </p:sp>
      <p:sp>
        <p:nvSpPr>
          <p:cNvPr id="16" name="TextBox 15"/>
          <p:cNvSpPr txBox="1"/>
          <p:nvPr/>
        </p:nvSpPr>
        <p:spPr>
          <a:xfrm>
            <a:off x="4608576" y="2157984"/>
            <a:ext cx="2980944" cy="310896"/>
          </a:xfrm>
          <a:prstGeom prst="rect">
            <a:avLst/>
          </a:prstGeom>
          <a:noFill/>
        </p:spPr>
        <p:txBody>
          <a:bodyPr wrap="square" lIns="0" rIns="0" tIns="0" bIns="0" anchor="t">
            <a:spAutoFit/>
          </a:bodyPr>
          <a:lstStyle/>
          <a:p>
            <a:pPr algn="l">
              <a:lnSpc>
                <a:spcPct val="115000"/>
              </a:lnSpc>
            </a:pPr>
            <a:r>
              <a:rPr sz="1350" b="1">
                <a:solidFill>
                  <a:srgbClr val="141B2B"/>
                </a:solidFill>
                <a:latin typeface="Segoe UI"/>
              </a:rPr>
              <a:t>Stateless, biometric-bound consent</a:t>
            </a:r>
          </a:p>
        </p:txBody>
      </p:sp>
      <p:sp>
        <p:nvSpPr>
          <p:cNvPr id="17" name="TextBox 16"/>
          <p:cNvSpPr txBox="1"/>
          <p:nvPr/>
        </p:nvSpPr>
        <p:spPr>
          <a:xfrm>
            <a:off x="4608576" y="2596896"/>
            <a:ext cx="2980944" cy="1188720"/>
          </a:xfrm>
          <a:prstGeom prst="rect">
            <a:avLst/>
          </a:prstGeom>
          <a:noFill/>
        </p:spPr>
        <p:txBody>
          <a:bodyPr wrap="square" lIns="0" rIns="0" tIns="0" bIns="0" anchor="t">
            <a:spAutoFit/>
          </a:bodyPr>
          <a:lstStyle/>
          <a:p>
            <a:pPr algn="l">
              <a:lnSpc>
                <a:spcPct val="118000"/>
              </a:lnSpc>
            </a:pPr>
            <a:r>
              <a:rPr sz="1050" b="0">
                <a:solidFill>
                  <a:srgbClr val="5B6472"/>
                </a:solidFill>
                <a:latin typeface="Segoe UI"/>
              </a:rPr>
              <a:t>Face and voice embeddings (ArcFace, ECAPA-TDNN) are used only as pointers into a consent table, never as a surveillance profile. The ML workers are fully stateless and hold no database access, so breaching an AI container yields zero identity data.</a:t>
            </a:r>
          </a:p>
        </p:txBody>
      </p:sp>
      <p:sp>
        <p:nvSpPr>
          <p:cNvPr id="18" name="Rectangle 17"/>
          <p:cNvSpPr/>
          <p:nvPr/>
        </p:nvSpPr>
        <p:spPr>
          <a:xfrm>
            <a:off x="8046720" y="1627632"/>
            <a:ext cx="3493008" cy="2340864"/>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1627632"/>
            <a:ext cx="3493008" cy="45720"/>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2752" y="1865376"/>
            <a:ext cx="2980944" cy="237744"/>
          </a:xfrm>
          <a:prstGeom prst="rect">
            <a:avLst/>
          </a:prstGeom>
          <a:noFill/>
        </p:spPr>
        <p:txBody>
          <a:bodyPr wrap="square" lIns="0" rIns="0" tIns="0" bIns="0" anchor="t">
            <a:spAutoFit/>
          </a:bodyPr>
          <a:lstStyle/>
          <a:p>
            <a:pPr algn="l">
              <a:lnSpc>
                <a:spcPct val="115000"/>
              </a:lnSpc>
            </a:pPr>
            <a:r>
              <a:rPr sz="1000" b="1">
                <a:solidFill>
                  <a:srgbClr val="1D5BD6"/>
                </a:solidFill>
                <a:latin typeface="Segoe UI"/>
              </a:rPr>
              <a:t>NOVELTY 3</a:t>
            </a:r>
          </a:p>
        </p:txBody>
      </p:sp>
      <p:sp>
        <p:nvSpPr>
          <p:cNvPr id="21" name="TextBox 20"/>
          <p:cNvSpPr txBox="1"/>
          <p:nvPr/>
        </p:nvSpPr>
        <p:spPr>
          <a:xfrm>
            <a:off x="8302752" y="2157984"/>
            <a:ext cx="2980944" cy="310896"/>
          </a:xfrm>
          <a:prstGeom prst="rect">
            <a:avLst/>
          </a:prstGeom>
          <a:noFill/>
        </p:spPr>
        <p:txBody>
          <a:bodyPr wrap="square" lIns="0" rIns="0" tIns="0" bIns="0" anchor="t">
            <a:spAutoFit/>
          </a:bodyPr>
          <a:lstStyle/>
          <a:p>
            <a:pPr algn="l">
              <a:lnSpc>
                <a:spcPct val="115000"/>
              </a:lnSpc>
            </a:pPr>
            <a:r>
              <a:rPr sz="1350" b="1">
                <a:solidFill>
                  <a:srgbClr val="141B2B"/>
                </a:solidFill>
                <a:latin typeface="Segoe UI"/>
              </a:rPr>
              <a:t>Cryptographic proof of erasure</a:t>
            </a:r>
          </a:p>
        </p:txBody>
      </p:sp>
      <p:sp>
        <p:nvSpPr>
          <p:cNvPr id="22" name="TextBox 21"/>
          <p:cNvSpPr txBox="1"/>
          <p:nvPr/>
        </p:nvSpPr>
        <p:spPr>
          <a:xfrm>
            <a:off x="8302752" y="2596896"/>
            <a:ext cx="2980944" cy="1188720"/>
          </a:xfrm>
          <a:prstGeom prst="rect">
            <a:avLst/>
          </a:prstGeom>
          <a:noFill/>
        </p:spPr>
        <p:txBody>
          <a:bodyPr wrap="square" lIns="0" rIns="0" tIns="0" bIns="0" anchor="t">
            <a:spAutoFit/>
          </a:bodyPr>
          <a:lstStyle/>
          <a:p>
            <a:pPr algn="l">
              <a:lnSpc>
                <a:spcPct val="118000"/>
              </a:lnSpc>
            </a:pPr>
            <a:r>
              <a:rPr sz="1050" b="0">
                <a:solidFill>
                  <a:srgbClr val="5B6472"/>
                </a:solidFill>
                <a:latin typeface="Segoe UI"/>
              </a:rPr>
              <a:t>Each subject has their own data encryption key. Erasure destroys that key, so their embeddings become mathematically unrecoverable at once, with no scrubbing pass. An Ed25519-signed certificate is then issued as legal proof the redaction happened.</a:t>
            </a:r>
          </a:p>
        </p:txBody>
      </p:sp>
      <p:sp>
        <p:nvSpPr>
          <p:cNvPr id="23" name="Rectangle 22"/>
          <p:cNvSpPr/>
          <p:nvPr/>
        </p:nvSpPr>
        <p:spPr>
          <a:xfrm>
            <a:off x="658368" y="4169663"/>
            <a:ext cx="5340096" cy="1847088"/>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2688" y="4425695"/>
            <a:ext cx="4791456" cy="274320"/>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PATENT CLAIM</a:t>
            </a:r>
          </a:p>
        </p:txBody>
      </p:sp>
      <p:sp>
        <p:nvSpPr>
          <p:cNvPr id="25" name="TextBox 24"/>
          <p:cNvSpPr txBox="1"/>
          <p:nvPr/>
        </p:nvSpPr>
        <p:spPr>
          <a:xfrm>
            <a:off x="932688" y="4791455"/>
            <a:ext cx="4791456" cy="969264"/>
          </a:xfrm>
          <a:prstGeom prst="rect">
            <a:avLst/>
          </a:prstGeom>
          <a:noFill/>
        </p:spPr>
        <p:txBody>
          <a:bodyPr wrap="square" lIns="0" rIns="0" tIns="0" bIns="0" anchor="t">
            <a:spAutoFit/>
          </a:bodyPr>
          <a:lstStyle/>
          <a:p>
            <a:pPr algn="l">
              <a:lnSpc>
                <a:spcPct val="122000"/>
              </a:lnSpc>
            </a:pPr>
            <a:r>
              <a:rPr sz="1050" b="0">
                <a:solidFill>
                  <a:srgbClr val="5B6472"/>
                </a:solidFill>
                <a:latin typeface="Segoe UI"/>
              </a:rPr>
              <a:t>The mechanism that intercepts a media deletion request, detects several people in the file, runs the AI pipeline to mask only the target, then crypto-shreds the source.</a:t>
            </a:r>
          </a:p>
          <a:p>
            <a:pPr algn="l">
              <a:lnSpc>
                <a:spcPct val="122000"/>
              </a:lnSpc>
              <a:spcBef>
                <a:spcPts val="800"/>
              </a:spcBef>
            </a:pPr>
            <a:r>
              <a:rPr sz="1150" b="1">
                <a:solidFill>
                  <a:srgbClr val="1D5BD6"/>
                </a:solidFill>
                <a:latin typeface="Segoe UI"/>
              </a:rPr>
              <a:t>“System and Method for Automated Resolution of Multi-Tenant Media Erasure Conflicts via Cryptographic Shredding and Targeted AI Redaction”</a:t>
            </a:r>
          </a:p>
        </p:txBody>
      </p:sp>
      <p:sp>
        <p:nvSpPr>
          <p:cNvPr id="26" name="Rectangle 25"/>
          <p:cNvSpPr/>
          <p:nvPr/>
        </p:nvSpPr>
        <p:spPr>
          <a:xfrm>
            <a:off x="6199632" y="4169663"/>
            <a:ext cx="5340096" cy="1847088"/>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73952" y="4425695"/>
            <a:ext cx="4791456" cy="274320"/>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RESEARCH PAPER</a:t>
            </a:r>
          </a:p>
        </p:txBody>
      </p:sp>
      <p:sp>
        <p:nvSpPr>
          <p:cNvPr id="28" name="TextBox 27"/>
          <p:cNvSpPr txBox="1"/>
          <p:nvPr/>
        </p:nvSpPr>
        <p:spPr>
          <a:xfrm>
            <a:off x="6473952" y="4791455"/>
            <a:ext cx="4791456" cy="969264"/>
          </a:xfrm>
          <a:prstGeom prst="rect">
            <a:avLst/>
          </a:prstGeom>
          <a:noFill/>
        </p:spPr>
        <p:txBody>
          <a:bodyPr wrap="square" lIns="0" rIns="0" tIns="0" bIns="0" anchor="t">
            <a:spAutoFit/>
          </a:bodyPr>
          <a:lstStyle/>
          <a:p>
            <a:pPr algn="l">
              <a:lnSpc>
                <a:spcPct val="122000"/>
              </a:lnSpc>
            </a:pPr>
            <a:r>
              <a:rPr sz="1050" b="0">
                <a:solidFill>
                  <a:srgbClr val="5B6472"/>
                </a:solidFill>
                <a:latin typeface="Segoe UI"/>
              </a:rPr>
              <a:t>The architecture of the AI layer - how the models were decoupled into stateless containers with no database access, and how biometric vectors map to a consent matrix.</a:t>
            </a:r>
          </a:p>
          <a:p>
            <a:pPr algn="l">
              <a:lnSpc>
                <a:spcPct val="122000"/>
              </a:lnSpc>
              <a:spcBef>
                <a:spcPts val="800"/>
              </a:spcBef>
            </a:pPr>
            <a:r>
              <a:rPr sz="1150" b="1">
                <a:solidFill>
                  <a:srgbClr val="1D5BD6"/>
                </a:solidFill>
                <a:latin typeface="Segoe UI"/>
              </a:rPr>
              <a:t>“Stateless AI Architectures for Multi-Modal Biometric Consent Management in Zero-Trust Environments”</a:t>
            </a:r>
          </a:p>
        </p:txBody>
      </p:sp>
      <p:sp>
        <p:nvSpPr>
          <p:cNvPr id="29" name="TextBox 28"/>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30" name="TextBox 29"/>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789920" cy="237744"/>
          </a:xfrm>
          <a:prstGeom prst="rect">
            <a:avLst/>
          </a:prstGeom>
          <a:noFill/>
        </p:spPr>
        <p:txBody>
          <a:bodyPr wrap="square" lIns="0" rIns="0" tIns="0" bIns="0" anchor="t">
            <a:spAutoFit/>
          </a:bodyPr>
          <a:lstStyle/>
          <a:p>
            <a:pPr algn="l">
              <a:lnSpc>
                <a:spcPct val="115000"/>
              </a:lnSpc>
            </a:pPr>
            <a:r>
              <a:rPr sz="1050" b="1">
                <a:solidFill>
                  <a:srgbClr val="1D5BD6"/>
                </a:solidFill>
                <a:latin typeface="Segoe UI"/>
              </a:rPr>
              <a:t>REVIEW FEEDBACK</a:t>
            </a:r>
          </a:p>
        </p:txBody>
      </p:sp>
      <p:sp>
        <p:nvSpPr>
          <p:cNvPr id="4" name="Rectangle 3"/>
          <p:cNvSpPr/>
          <p:nvPr/>
        </p:nvSpPr>
        <p:spPr>
          <a:xfrm>
            <a:off x="566928" y="402336"/>
            <a:ext cx="50292" cy="56692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03504"/>
            <a:ext cx="10881360" cy="502920"/>
          </a:xfrm>
          <a:prstGeom prst="rect">
            <a:avLst/>
          </a:prstGeom>
          <a:noFill/>
        </p:spPr>
        <p:txBody>
          <a:bodyPr wrap="square" lIns="0" rIns="0" tIns="0" bIns="0" anchor="t">
            <a:spAutoFit/>
          </a:bodyPr>
          <a:lstStyle/>
          <a:p>
            <a:pPr algn="l">
              <a:lnSpc>
                <a:spcPct val="115000"/>
              </a:lnSpc>
            </a:pPr>
            <a:r>
              <a:rPr sz="2500" b="1">
                <a:solidFill>
                  <a:srgbClr val="141B2B"/>
                </a:solidFill>
                <a:latin typeface="Segoe UI"/>
              </a:rPr>
              <a:t>Professor's comments</a:t>
            </a:r>
          </a:p>
        </p:txBody>
      </p:sp>
      <p:sp>
        <p:nvSpPr>
          <p:cNvPr id="6" name="Rectangle 5"/>
          <p:cNvSpPr/>
          <p:nvPr/>
        </p:nvSpPr>
        <p:spPr>
          <a:xfrm>
            <a:off x="566928" y="1188720"/>
            <a:ext cx="11064240" cy="10972"/>
          </a:xfrm>
          <a:prstGeom prst="rect">
            <a:avLst/>
          </a:prstGeom>
          <a:solidFill>
            <a:srgbClr val="E2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280160"/>
            <a:ext cx="10881360" cy="274320"/>
          </a:xfrm>
          <a:prstGeom prst="rect">
            <a:avLst/>
          </a:prstGeom>
          <a:noFill/>
        </p:spPr>
        <p:txBody>
          <a:bodyPr wrap="square" lIns="0" rIns="0" tIns="0" bIns="0" anchor="t">
            <a:spAutoFit/>
          </a:bodyPr>
          <a:lstStyle/>
          <a:p>
            <a:pPr algn="l">
              <a:lnSpc>
                <a:spcPct val="115000"/>
              </a:lnSpc>
            </a:pPr>
            <a:r>
              <a:rPr sz="1200" b="0">
                <a:solidFill>
                  <a:srgbClr val="5B6472"/>
                </a:solidFill>
                <a:latin typeface="Segoe UI"/>
              </a:rPr>
              <a:t>Feedback recorded from the review, and what it asks us to do next.</a:t>
            </a:r>
          </a:p>
        </p:txBody>
      </p:sp>
      <p:sp>
        <p:nvSpPr>
          <p:cNvPr id="8" name="Rectangle 7"/>
          <p:cNvSpPr/>
          <p:nvPr/>
        </p:nvSpPr>
        <p:spPr>
          <a:xfrm>
            <a:off x="658368" y="1645920"/>
            <a:ext cx="5340096" cy="3611880"/>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645920"/>
            <a:ext cx="5340096" cy="45720"/>
          </a:xfrm>
          <a:prstGeom prst="rect">
            <a:avLst/>
          </a:prstGeom>
          <a:solidFill>
            <a:srgbClr val="0E7C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883664"/>
            <a:ext cx="4791456" cy="256032"/>
          </a:xfrm>
          <a:prstGeom prst="rect">
            <a:avLst/>
          </a:prstGeom>
          <a:noFill/>
        </p:spPr>
        <p:txBody>
          <a:bodyPr wrap="square" lIns="0" rIns="0" tIns="0" bIns="0" anchor="t">
            <a:spAutoFit/>
          </a:bodyPr>
          <a:lstStyle/>
          <a:p>
            <a:pPr algn="l">
              <a:lnSpc>
                <a:spcPct val="115000"/>
              </a:lnSpc>
            </a:pPr>
            <a:r>
              <a:rPr sz="1050" b="1">
                <a:solidFill>
                  <a:srgbClr val="0E7C54"/>
                </a:solidFill>
                <a:latin typeface="Segoe UI"/>
              </a:rPr>
              <a:t>NOTED AS GOING WELL</a:t>
            </a:r>
          </a:p>
        </p:txBody>
      </p:sp>
      <p:sp>
        <p:nvSpPr>
          <p:cNvPr id="11" name="Oval 10"/>
          <p:cNvSpPr/>
          <p:nvPr/>
        </p:nvSpPr>
        <p:spPr>
          <a:xfrm>
            <a:off x="932688" y="2354580"/>
            <a:ext cx="68580" cy="68580"/>
          </a:xfrm>
          <a:prstGeom prst="ellipse">
            <a:avLst/>
          </a:prstGeom>
          <a:solidFill>
            <a:srgbClr val="0E7C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70432" y="2286000"/>
            <a:ext cx="4553712" cy="460856"/>
          </a:xfrm>
          <a:prstGeom prst="rect">
            <a:avLst/>
          </a:prstGeom>
          <a:noFill/>
        </p:spPr>
        <p:txBody>
          <a:bodyPr wrap="square" lIns="0" rIns="0" tIns="0" bIns="0" anchor="t">
            <a:spAutoFit/>
          </a:bodyPr>
          <a:lstStyle/>
          <a:p>
            <a:pPr algn="l">
              <a:lnSpc>
                <a:spcPct val="120000"/>
              </a:lnSpc>
            </a:pPr>
            <a:r>
              <a:rPr sz="1200" b="0">
                <a:solidFill>
                  <a:srgbClr val="141B2B"/>
                </a:solidFill>
                <a:latin typeface="Segoe UI"/>
              </a:rPr>
              <a:t>Satisfactory overall progress, with good technical competence and commitment.</a:t>
            </a:r>
          </a:p>
        </p:txBody>
      </p:sp>
      <p:sp>
        <p:nvSpPr>
          <p:cNvPr id="13" name="Oval 12"/>
          <p:cNvSpPr/>
          <p:nvPr/>
        </p:nvSpPr>
        <p:spPr>
          <a:xfrm>
            <a:off x="932688" y="2961740"/>
            <a:ext cx="68580" cy="68580"/>
          </a:xfrm>
          <a:prstGeom prst="ellipse">
            <a:avLst/>
          </a:prstGeom>
          <a:solidFill>
            <a:srgbClr val="0E7C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70432" y="2893160"/>
            <a:ext cx="4553712" cy="460856"/>
          </a:xfrm>
          <a:prstGeom prst="rect">
            <a:avLst/>
          </a:prstGeom>
          <a:noFill/>
        </p:spPr>
        <p:txBody>
          <a:bodyPr wrap="square" lIns="0" rIns="0" tIns="0" bIns="0" anchor="t">
            <a:spAutoFit/>
          </a:bodyPr>
          <a:lstStyle/>
          <a:p>
            <a:pPr algn="l">
              <a:lnSpc>
                <a:spcPct val="120000"/>
              </a:lnSpc>
            </a:pPr>
            <a:r>
              <a:rPr sz="1200" b="0">
                <a:solidFill>
                  <a:srgbClr val="141B2B"/>
                </a:solidFill>
                <a:latin typeface="Segoe UI"/>
              </a:rPr>
              <a:t>Significant progress on the multimodal privacy framework - image, audio, text, and video integration under way.</a:t>
            </a:r>
          </a:p>
        </p:txBody>
      </p:sp>
      <p:sp>
        <p:nvSpPr>
          <p:cNvPr id="15" name="Oval 14"/>
          <p:cNvSpPr/>
          <p:nvPr/>
        </p:nvSpPr>
        <p:spPr>
          <a:xfrm>
            <a:off x="932688" y="3568900"/>
            <a:ext cx="68580" cy="68580"/>
          </a:xfrm>
          <a:prstGeom prst="ellipse">
            <a:avLst/>
          </a:prstGeom>
          <a:solidFill>
            <a:srgbClr val="0E7C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70432" y="3500320"/>
            <a:ext cx="4553712" cy="645564"/>
          </a:xfrm>
          <a:prstGeom prst="rect">
            <a:avLst/>
          </a:prstGeom>
          <a:noFill/>
        </p:spPr>
        <p:txBody>
          <a:bodyPr wrap="square" lIns="0" rIns="0" tIns="0" bIns="0" anchor="t">
            <a:spAutoFit/>
          </a:bodyPr>
          <a:lstStyle/>
          <a:p>
            <a:pPr algn="l">
              <a:lnSpc>
                <a:spcPct val="120000"/>
              </a:lnSpc>
            </a:pPr>
            <a:r>
              <a:rPr sz="1200" b="0">
                <a:solidFill>
                  <a:srgbClr val="141B2B"/>
                </a:solidFill>
                <a:latin typeface="Segoe UI"/>
              </a:rPr>
              <a:t>The end-to-end demonstration and the fail-closed, privacy-by-design approach are encouraging and technically relevant.</a:t>
            </a:r>
          </a:p>
        </p:txBody>
      </p:sp>
      <p:sp>
        <p:nvSpPr>
          <p:cNvPr id="17" name="Oval 16"/>
          <p:cNvSpPr/>
          <p:nvPr/>
        </p:nvSpPr>
        <p:spPr>
          <a:xfrm>
            <a:off x="932688" y="4360768"/>
            <a:ext cx="68580" cy="68580"/>
          </a:xfrm>
          <a:prstGeom prst="ellipse">
            <a:avLst/>
          </a:prstGeom>
          <a:solidFill>
            <a:srgbClr val="0E7C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70432" y="4292188"/>
            <a:ext cx="4553712" cy="645564"/>
          </a:xfrm>
          <a:prstGeom prst="rect">
            <a:avLst/>
          </a:prstGeom>
          <a:noFill/>
        </p:spPr>
        <p:txBody>
          <a:bodyPr wrap="square" lIns="0" rIns="0" tIns="0" bIns="0" anchor="t">
            <a:spAutoFit/>
          </a:bodyPr>
          <a:lstStyle/>
          <a:p>
            <a:pPr algn="l">
              <a:lnSpc>
                <a:spcPct val="120000"/>
              </a:lnSpc>
            </a:pPr>
            <a:r>
              <a:rPr sz="1200" b="0">
                <a:solidFill>
                  <a:srgbClr val="141B2B"/>
                </a:solidFill>
                <a:latin typeface="Segoe UI"/>
              </a:rPr>
              <a:t>The identified novelty is promising - especially the multi-subject media erasure mechanism, the stateless biometric-bound consent architecture, and cryptographic proof of erasure.</a:t>
            </a:r>
          </a:p>
        </p:txBody>
      </p:sp>
      <p:sp>
        <p:nvSpPr>
          <p:cNvPr id="19" name="Rectangle 18"/>
          <p:cNvSpPr/>
          <p:nvPr/>
        </p:nvSpPr>
        <p:spPr>
          <a:xfrm>
            <a:off x="6199632" y="1645920"/>
            <a:ext cx="5340096" cy="3611880"/>
          </a:xfrm>
          <a:prstGeom prst="rect">
            <a:avLst/>
          </a:prstGeom>
          <a:solidFill>
            <a:srgbClr val="FFFFFF"/>
          </a:solidFill>
          <a:ln w="9525">
            <a:solidFill>
              <a:srgbClr val="D9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99632" y="1645920"/>
            <a:ext cx="5340096" cy="4572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73952" y="1883664"/>
            <a:ext cx="4791456" cy="256032"/>
          </a:xfrm>
          <a:prstGeom prst="rect">
            <a:avLst/>
          </a:prstGeom>
          <a:noFill/>
        </p:spPr>
        <p:txBody>
          <a:bodyPr wrap="square" lIns="0" rIns="0" tIns="0" bIns="0" anchor="t">
            <a:spAutoFit/>
          </a:bodyPr>
          <a:lstStyle/>
          <a:p>
            <a:pPr algn="l">
              <a:lnSpc>
                <a:spcPct val="115000"/>
              </a:lnSpc>
            </a:pPr>
            <a:r>
              <a:rPr sz="1050" b="1">
                <a:solidFill>
                  <a:srgbClr val="B45309"/>
                </a:solidFill>
                <a:latin typeface="Segoe UI"/>
              </a:rPr>
              <a:t>ASKED TO STRENGTHEN</a:t>
            </a:r>
          </a:p>
        </p:txBody>
      </p:sp>
      <p:sp>
        <p:nvSpPr>
          <p:cNvPr id="22" name="Oval 21"/>
          <p:cNvSpPr/>
          <p:nvPr/>
        </p:nvSpPr>
        <p:spPr>
          <a:xfrm>
            <a:off x="6473952" y="2354580"/>
            <a:ext cx="68580" cy="6858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11696" y="2286000"/>
            <a:ext cx="4553712" cy="460856"/>
          </a:xfrm>
          <a:prstGeom prst="rect">
            <a:avLst/>
          </a:prstGeom>
          <a:noFill/>
        </p:spPr>
        <p:txBody>
          <a:bodyPr wrap="square" lIns="0" rIns="0" tIns="0" bIns="0" anchor="t">
            <a:spAutoFit/>
          </a:bodyPr>
          <a:lstStyle/>
          <a:p>
            <a:pPr algn="l">
              <a:lnSpc>
                <a:spcPct val="120000"/>
              </a:lnSpc>
            </a:pPr>
            <a:r>
              <a:rPr sz="1200" b="0">
                <a:solidFill>
                  <a:srgbClr val="141B2B"/>
                </a:solidFill>
                <a:latin typeface="Segoe UI"/>
              </a:rPr>
              <a:t>Validate these contributions against existing solutions, and strengthen the patentability and research novelty claims.</a:t>
            </a:r>
          </a:p>
        </p:txBody>
      </p:sp>
      <p:sp>
        <p:nvSpPr>
          <p:cNvPr id="24" name="Oval 23"/>
          <p:cNvSpPr/>
          <p:nvPr/>
        </p:nvSpPr>
        <p:spPr>
          <a:xfrm>
            <a:off x="6473952" y="2961740"/>
            <a:ext cx="68580" cy="6858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11696" y="2893160"/>
            <a:ext cx="4553712" cy="460856"/>
          </a:xfrm>
          <a:prstGeom prst="rect">
            <a:avLst/>
          </a:prstGeom>
          <a:noFill/>
        </p:spPr>
        <p:txBody>
          <a:bodyPr wrap="square" lIns="0" rIns="0" tIns="0" bIns="0" anchor="t">
            <a:spAutoFit/>
          </a:bodyPr>
          <a:lstStyle/>
          <a:p>
            <a:pPr algn="l">
              <a:lnSpc>
                <a:spcPct val="120000"/>
              </a:lnSpc>
            </a:pPr>
            <a:r>
              <a:rPr sz="1200" b="0">
                <a:solidFill>
                  <a:srgbClr val="141B2B"/>
                </a:solidFill>
                <a:latin typeface="Segoe UI"/>
              </a:rPr>
              <a:t>Prioritise integration, robustness testing, wider validation, scalability and performance benchmarking before final deployment.</a:t>
            </a:r>
          </a:p>
        </p:txBody>
      </p:sp>
      <p:sp>
        <p:nvSpPr>
          <p:cNvPr id="26" name="Oval 25"/>
          <p:cNvSpPr/>
          <p:nvPr/>
        </p:nvSpPr>
        <p:spPr>
          <a:xfrm>
            <a:off x="6473952" y="3568900"/>
            <a:ext cx="68580" cy="6858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11696" y="3500320"/>
            <a:ext cx="4553712" cy="645564"/>
          </a:xfrm>
          <a:prstGeom prst="rect">
            <a:avLst/>
          </a:prstGeom>
          <a:noFill/>
        </p:spPr>
        <p:txBody>
          <a:bodyPr wrap="square" lIns="0" rIns="0" tIns="0" bIns="0" anchor="t">
            <a:spAutoFit/>
          </a:bodyPr>
          <a:lstStyle/>
          <a:p>
            <a:pPr algn="l">
              <a:lnSpc>
                <a:spcPct val="120000"/>
              </a:lnSpc>
            </a:pPr>
            <a:r>
              <a:rPr sz="1200" b="0">
                <a:solidFill>
                  <a:srgbClr val="141B2B"/>
                </a:solidFill>
                <a:latin typeface="Segoe UI"/>
              </a:rPr>
              <a:t>Develop the patent and publication directions further, with clear differentiation from existing consent-management and privacy-preserving systems.</a:t>
            </a:r>
          </a:p>
        </p:txBody>
      </p:sp>
      <p:sp>
        <p:nvSpPr>
          <p:cNvPr id="28" name="Oval 27"/>
          <p:cNvSpPr/>
          <p:nvPr/>
        </p:nvSpPr>
        <p:spPr>
          <a:xfrm>
            <a:off x="6473952" y="4360768"/>
            <a:ext cx="68580" cy="6858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11696" y="4292188"/>
            <a:ext cx="4553712" cy="460856"/>
          </a:xfrm>
          <a:prstGeom prst="rect">
            <a:avLst/>
          </a:prstGeom>
          <a:noFill/>
        </p:spPr>
        <p:txBody>
          <a:bodyPr wrap="square" lIns="0" rIns="0" tIns="0" bIns="0" anchor="t">
            <a:spAutoFit/>
          </a:bodyPr>
          <a:lstStyle/>
          <a:p>
            <a:pPr algn="l">
              <a:lnSpc>
                <a:spcPct val="120000"/>
              </a:lnSpc>
            </a:pPr>
            <a:r>
              <a:rPr sz="1200" b="0">
                <a:solidFill>
                  <a:srgbClr val="141B2B"/>
                </a:solidFill>
                <a:latin typeface="Segoe UI"/>
              </a:rPr>
              <a:t>Complete the remaining integration and validation activities within the planned timeline.</a:t>
            </a:r>
          </a:p>
        </p:txBody>
      </p:sp>
      <p:sp>
        <p:nvSpPr>
          <p:cNvPr id="30" name="Rectangle 29"/>
          <p:cNvSpPr/>
          <p:nvPr/>
        </p:nvSpPr>
        <p:spPr>
          <a:xfrm>
            <a:off x="658368" y="5413248"/>
            <a:ext cx="10881360" cy="731520"/>
          </a:xfrm>
          <a:prstGeom prst="rect">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20" y="5413248"/>
            <a:ext cx="10332720" cy="731520"/>
          </a:xfrm>
          <a:prstGeom prst="rect">
            <a:avLst/>
          </a:prstGeom>
          <a:noFill/>
        </p:spPr>
        <p:txBody>
          <a:bodyPr wrap="square" lIns="0" rIns="0" tIns="0" bIns="0" anchor="ctr">
            <a:spAutoFit/>
          </a:bodyPr>
          <a:lstStyle/>
          <a:p>
            <a:pPr algn="l">
              <a:lnSpc>
                <a:spcPct val="115000"/>
              </a:lnSpc>
            </a:pPr>
            <a:r>
              <a:rPr sz="1250" b="1">
                <a:solidFill>
                  <a:srgbClr val="14398C"/>
                </a:solidFill>
                <a:latin typeface="Segoe UI"/>
              </a:rPr>
              <a:t>Overall verdict: progress is satisfactory. The remaining integration and validation work is exactly what the 13-day plan on the previous slide is built around.</a:t>
            </a:r>
          </a:p>
        </p:txBody>
      </p:sp>
      <p:sp>
        <p:nvSpPr>
          <p:cNvPr id="32" name="TextBox 31"/>
          <p:cNvSpPr txBox="1"/>
          <p:nvPr/>
        </p:nvSpPr>
        <p:spPr>
          <a:xfrm>
            <a:off x="566928" y="6364224"/>
            <a:ext cx="8229600" cy="274320"/>
          </a:xfrm>
          <a:prstGeom prst="rect">
            <a:avLst/>
          </a:prstGeom>
          <a:noFill/>
        </p:spPr>
        <p:txBody>
          <a:bodyPr wrap="square" lIns="0" rIns="0" tIns="0" bIns="0" anchor="t">
            <a:spAutoFit/>
          </a:bodyPr>
          <a:lstStyle/>
          <a:p>
            <a:pPr algn="l">
              <a:lnSpc>
                <a:spcPct val="115000"/>
              </a:lnSpc>
            </a:pPr>
            <a:r>
              <a:rPr sz="900" b="0">
                <a:solidFill>
                  <a:srgbClr val="5B6472"/>
                </a:solidFill>
                <a:latin typeface="Segoe UI"/>
              </a:rPr>
              <a:t>PRISM - Monthly Review - August 2026</a:t>
            </a:r>
          </a:p>
        </p:txBody>
      </p:sp>
      <p:sp>
        <p:nvSpPr>
          <p:cNvPr id="33" name="TextBox 32"/>
          <p:cNvSpPr txBox="1"/>
          <p:nvPr/>
        </p:nvSpPr>
        <p:spPr>
          <a:xfrm>
            <a:off x="10972800" y="6364224"/>
            <a:ext cx="658368" cy="274320"/>
          </a:xfrm>
          <a:prstGeom prst="rect">
            <a:avLst/>
          </a:prstGeom>
          <a:noFill/>
        </p:spPr>
        <p:txBody>
          <a:bodyPr wrap="square" lIns="0" rIns="0" tIns="0" bIns="0" anchor="t">
            <a:spAutoFit/>
          </a:bodyPr>
          <a:lstStyle/>
          <a:p>
            <a:pPr algn="r">
              <a:lnSpc>
                <a:spcPct val="115000"/>
              </a:lnSpc>
            </a:pPr>
            <a:r>
              <a:rPr sz="900" b="1">
                <a:solidFill>
                  <a:srgbClr val="5B6472"/>
                </a:solidFill>
                <a:latin typeface="Segoe U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51560" y="2139696"/>
            <a:ext cx="2011680" cy="41148"/>
          </a:xfrm>
          <a:prstGeom prst="rect">
            <a:avLst/>
          </a:prstGeom>
          <a:solidFill>
            <a:srgbClr val="1D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2377440"/>
            <a:ext cx="9692640" cy="1828800"/>
          </a:xfrm>
          <a:prstGeom prst="rect">
            <a:avLst/>
          </a:prstGeom>
          <a:noFill/>
        </p:spPr>
        <p:txBody>
          <a:bodyPr wrap="square" lIns="0" rIns="0" tIns="0" bIns="0" anchor="t">
            <a:spAutoFit/>
          </a:bodyPr>
          <a:lstStyle/>
          <a:p>
            <a:pPr algn="l">
              <a:lnSpc>
                <a:spcPct val="115000"/>
              </a:lnSpc>
            </a:pPr>
            <a:r>
              <a:rPr sz="4600" b="1">
                <a:solidFill>
                  <a:srgbClr val="FFFFFF"/>
                </a:solidFill>
                <a:latin typeface="Segoe UI"/>
              </a:rPr>
              <a:t>Thank you</a:t>
            </a:r>
          </a:p>
          <a:p>
            <a:pPr algn="l">
              <a:lnSpc>
                <a:spcPct val="115000"/>
              </a:lnSpc>
              <a:spcBef>
                <a:spcPts val="1400"/>
              </a:spcBef>
            </a:pPr>
            <a:r>
              <a:rPr sz="1700" b="0">
                <a:solidFill>
                  <a:srgbClr val="C3CDDF"/>
                </a:solidFill>
                <a:latin typeface="Segoe UI"/>
              </a:rPr>
              <a:t>Questions and feedback welcome.</a:t>
            </a:r>
          </a:p>
          <a:p>
            <a:pPr algn="l">
              <a:lnSpc>
                <a:spcPct val="115000"/>
              </a:lnSpc>
              <a:spcBef>
                <a:spcPts val="1800"/>
              </a:spcBef>
            </a:pPr>
            <a:r>
              <a:rPr sz="1250" b="0">
                <a:solidFill>
                  <a:srgbClr val="7E8BA3"/>
                </a:solidFill>
                <a:latin typeface="Segoe UI"/>
              </a:rPr>
              <a:t>PRISM - DPDP 2023 consent management and data-rights platform - monthly review, August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